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task: given the measurements of n consecutive vertebral bodies, seven per body, recover which levels they are. Because the bodies are consecutive, the whole labelling is one discrete latent variable, the field's place k, with 23 minus n values over the 22 levels from C3 to L5. Data come from a generative model fitted to nothing: Panjabi's published per-level means and spreads, with a patient-size factor, a within-column correlation and measurement noise. We score 2,000 columns, every place of every column, and ask three questions: what is the best any function can do, can it say when it is right, and what can a single body say for certain. Headline numbers to come: 47% named exactly from one body, 73% from three.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Exact inference by enumeration. For a field of n bodies there are 23 minus n places. Given the patient's size s, each measure's n values are jointly Gaussian with covariance Delta plus u u-transpose, so the likelihood needs no matrix inverse (Sherman-Morrison); measures are independent given s; log s is Gaussian with SD 0.07 and is integrated by 161-node Gauss-Hermite quadrature, whose error we measured. Under a uniform prior the posterior is the normalised likelihood, shown right for one column chosen by a stated rule: the median three-body posterior at T12 among 2,000. Because this is the generator's own posterior it is the Bayes-optimal classifier: a network can match it, never beat it, which turns 'can a network do this' into 'how far is this ceiling from one'.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Left: exact-match accuracy of the Bayes rule against the number of bodies, 47.3% at one, 73.1% at three, 96.1% at nine; the crosses are a linear classifier fitted on separate synthetic columns, 10.7 to 12.8 points below on the same columns. Dashed: the share answered under selective prediction at posterior 0.99, 17.1% at three bodies and 71.8% at nine. Right: calibration on held-out draws, error predicted against error counted, on the diagonal down to one in ten thousand. The guarantee is one line: among answers with max posterior at least 1 minus epsilon, accuracy equals the mean posterior, hence at least 1 minus epsilon, and it holds within any group chosen by the measurements, not within groups chosen by the truth. Observed: 99.78% at three bodies, 99.93% at nine.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Weaker statements inherit the guarantee: P(level at or below c) is a sum of the same posterior, so a claim made at 0.99 is right at least 99 per cent of the time, over all fields. The figure conditions on the truth, fields whose middle body lies within two levels of each border, where no guarantee applies, so these are measurements. One body: the side of C7/T1 for 56.4%, precision 99.84%; the side of T12/L1 for only 7.1%, precision 97.89%, below the nominal level because the group is chosen by the truth; the region for 60.9% of all single bodies, 21 wrong of 26,786, 2 of them far from both junctions. Nine bodies settle T12/L1 for 88.0%.</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Robustness, three bodies. Under the generator the printed-table rule is right 99.64% at 0.99. When the rule's table is itself estimated from 12 specimens, the setting Panjabi's tables come from, precision drops to 95.5%; with 3 mm of measurement error, 82.6%. The fix that needs no new data inflates each spread by the root of 1 plus 1 over 12 and assumes 2 mm of error: precision returns to 99.3% (and 96.8% at 3 mm), at the cost of coverage, 5.5% answered instead of 19.5%, and unevenly, lumbar names 96.7%. The posterior is only as good as the table, so the open problems are a table from full-spine CT counted from C2, a prior from a real series, and anomalous phenotypes as additional places.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4.png"/><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7.png"/><Relationship Id="rId3" Type="http://schemas.openxmlformats.org/officeDocument/2006/relationships/image" Target="../media/image8.png"/><Relationship Id="rId4" Type="http://schemas.openxmlformats.org/officeDocument/2006/relationships/image" Target="../media/image9.png"/><Relationship Id="rId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0.png"/><Relationship Id="rId3" Type="http://schemas.openxmlformats.org/officeDocument/2006/relationships/image" Target="../media/image11.png"/><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notesSlide" Target="../notesSlides/notesSlide5.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74320"/>
            <a:ext cx="11091672" cy="960120"/>
          </a:xfrm>
        </p:spPr>
        <p:txBody>
          <a:bodyPr wrap="square" anchor="b"/>
          <a:lstStyle/>
          <a:p>
            <a:pPr algn="l"/>
            <a:r>
              <a:rPr sz="2800" b="1">
                <a:solidFill>
                  <a:srgbClr val="111111"/>
                </a:solidFill>
                <a:latin typeface="Cambria"/>
              </a:rPr>
              <a:t>Can the bodies in view name a vertebra?</a:t>
            </a:r>
          </a:p>
        </p:txBody>
      </p:sp>
      <p:pic>
        <p:nvPicPr>
          <p:cNvPr id="3" name="Figure: exact_slide_view" descr="A field of view: three consecutive vertebral bodies seen, the rest of the column unseen, and no C2 or sacrum to count from. Bodies drawn to Panjabi's mean upper end-plate width, canal width hatched, C3 to L5, the tables' range."/>
          <p:cNvPicPr>
            <a:picLocks noChangeAspect="1"/>
          </p:cNvPicPr>
          <p:nvPr/>
        </p:nvPicPr>
        <p:blipFill>
          <a:blip r:embed="rId2"/>
          <a:stretch>
            <a:fillRect/>
          </a:stretch>
        </p:blipFill>
        <p:spPr>
          <a:xfrm>
            <a:off x="548640" y="1325880"/>
            <a:ext cx="2103120" cy="4846320"/>
          </a:xfrm>
          <a:prstGeom prst="rect">
            <a:avLst/>
          </a:prstGeom>
        </p:spPr>
      </p:pic>
      <p:pic>
        <p:nvPicPr>
          <p:cNvPr id="4" name="Figure: exact_slide_measures" descr="The seven measures each body gives, schematic and not to scale: the AP plane shows the upper and lower end-plate widths and the canal width, the lateral plane the two end-plate depths, the canal depth and the posterior body height, which both planes show."/>
          <p:cNvPicPr>
            <a:picLocks noChangeAspect="1"/>
          </p:cNvPicPr>
          <p:nvPr/>
        </p:nvPicPr>
        <p:blipFill>
          <a:blip r:embed="rId3"/>
          <a:stretch>
            <a:fillRect/>
          </a:stretch>
        </p:blipFill>
        <p:spPr>
          <a:xfrm>
            <a:off x="2743200" y="1417320"/>
            <a:ext cx="3474720" cy="4663440"/>
          </a:xfrm>
          <a:prstGeom prst="rect">
            <a:avLst/>
          </a:prstGeom>
        </p:spPr>
      </p:pic>
      <p:sp>
        <p:nvSpPr>
          <p:cNvPr id="5" name="Text: byline"/>
          <p:cNvSpPr txBox="1"/>
          <p:nvPr/>
        </p:nvSpPr>
        <p:spPr>
          <a:xfrm>
            <a:off x="6446520" y="1325880"/>
            <a:ext cx="5193792" cy="566928"/>
          </a:xfrm>
          <a:prstGeom prst="rect">
            <a:avLst/>
          </a:prstGeom>
          <a:noFill/>
        </p:spPr>
        <p:txBody>
          <a:bodyPr wrap="square" anchor="t" lIns="18288" rIns="18288" tIns="18288" bIns="18288">
            <a:spAutoFit/>
          </a:bodyPr>
          <a:lstStyle/>
          <a:p>
            <a:pPr algn="l">
              <a:spcAft>
                <a:spcPts val="0"/>
              </a:spcAft>
            </a:pPr>
            <a:r>
              <a:rPr sz="1200" b="1" i="0">
                <a:solidFill>
                  <a:srgbClr val="595959"/>
                </a:solidFill>
                <a:latin typeface="Cambria"/>
              </a:rPr>
              <a:t>Gregory Schwing, MD, PhD</a:t>
            </a:r>
          </a:p>
          <a:p>
            <a:pPr algn="l">
              <a:spcAft>
                <a:spcPts val="0"/>
              </a:spcAft>
            </a:pPr>
            <a:r>
              <a:rPr sz="1200" b="0" i="0">
                <a:solidFill>
                  <a:srgbClr val="595959"/>
                </a:solidFill>
                <a:latin typeface="Cambria"/>
              </a:rPr>
              <a:t>General Surgery, Wayne State University School of Medicine / Detroit Medical Center</a:t>
            </a:r>
          </a:p>
        </p:txBody>
      </p:sp>
      <p:sp>
        <p:nvSpPr>
          <p:cNvPr id="6" name="Text: question"/>
          <p:cNvSpPr txBox="1"/>
          <p:nvPr/>
        </p:nvSpPr>
        <p:spPr>
          <a:xfrm>
            <a:off x="6446520" y="2148840"/>
            <a:ext cx="5193792" cy="1097280"/>
          </a:xfrm>
          <a:prstGeom prst="rect">
            <a:avLst/>
          </a:prstGeom>
          <a:noFill/>
        </p:spPr>
        <p:txBody>
          <a:bodyPr wrap="square" anchor="t" lIns="18288" rIns="18288" tIns="18288" bIns="18288">
            <a:spAutoFit/>
          </a:bodyPr>
          <a:lstStyle/>
          <a:p>
            <a:pPr algn="l">
              <a:spcAft>
                <a:spcPts val="600"/>
              </a:spcAft>
            </a:pPr>
            <a:r>
              <a:rPr sz="2000" b="0" i="0">
                <a:solidFill>
                  <a:srgbClr val="111111"/>
                </a:solidFill>
                <a:latin typeface="Cambria"/>
              </a:rPr>
              <a:t>A view shows a few consecutive vertebral bodies, often with no C2 or sacrum to count from. Which levels are they?</a:t>
            </a:r>
          </a:p>
        </p:txBody>
      </p:sp>
      <mc:AlternateContent xmlns:mc="http://schemas.openxmlformats.org/markup-compatibility/2006">
        <mc:Choice xmlns:a14="http://schemas.microsoft.com/office/drawing/2010/main" Requires="a14">
          <p:sp>
            <p:nvSpPr>
              <p:cNvPr id="7" name="Equation: problem" descr="LaTeX: x_{1:n} = (x_1, \ldots, x_n),\quad x_i \in \mathbb{R}^{7},\qquad k \in \{1, \ldots, 23-n\}"/>
              <p:cNvSpPr txBox="1"/>
              <p:nvPr/>
            </p:nvSpPr>
            <p:spPr>
              <a:xfrm>
                <a:off x="6446520" y="3429000"/>
                <a:ext cx="5193792" cy="325789"/>
              </a:xfrm>
              <a:prstGeom prst="rect">
                <a:avLst/>
              </a:prstGeom>
              <a:noFill/>
            </p:spPr>
            <p:txBody>
              <a:bodyPr wrap="none" lIns="0" tIns="0" rIns="0" bIns="0" anchor="ctr">
                <a:noAutofit/>
              </a:bodyPr>
              <a:lstStyle/>
              <a:p>
                <a:pPr algn="l"/>
                <a14:m>
                  <m:oMathPara xmlns:m="http://schemas.openxmlformats.org/officeDocument/2006/math">
                    <m:oMathParaPr>
                      <m:jc m:val="left"/>
                    </m:oMathParaPr>
                    <m:oMath>
                      <m:sSub>
                        <m:e>
                          <m:r>
                            <a:rPr lang="en-US" i="1" sz="1767">
                              <a:solidFill>
                                <a:srgbClr val="111111"/>
                              </a:solidFill>
                              <a:latin typeface="Cambria Math"/>
                              <a:cs typeface="Cambria Math"/>
                            </a:rPr>
                            <m:t>x</m:t>
                          </m:r>
                        </m:e>
                        <m:sub>
                          <m:r>
                            <a:rPr lang="en-US" i="1" sz="1767">
                              <a:solidFill>
                                <a:srgbClr val="111111"/>
                              </a:solidFill>
                              <a:latin typeface="Cambria Math"/>
                              <a:cs typeface="Cambria Math"/>
                            </a:rPr>
                            <m:t>1</m:t>
                          </m:r>
                          <m:r>
                            <m:rPr>
                              <m:sty m:val="p"/>
                            </m:rPr>
                            <a:rPr lang="en-US" i="1" sz="1767">
                              <a:solidFill>
                                <a:srgbClr val="111111"/>
                              </a:solidFill>
                              <a:latin typeface="Cambria Math"/>
                              <a:cs typeface="Cambria Math"/>
                            </a:rPr>
                            <m:t>:</m:t>
                          </m:r>
                          <m:r>
                            <a:rPr lang="en-US" i="1" sz="1767">
                              <a:solidFill>
                                <a:srgbClr val="111111"/>
                              </a:solidFill>
                              <a:latin typeface="Cambria Math"/>
                              <a:cs typeface="Cambria Math"/>
                            </a:rPr>
                            <m:t>n</m:t>
                          </m:r>
                        </m:sub>
                      </m:sSub>
                      <m:r>
                        <m:rPr>
                          <m:sty m:val="p"/>
                        </m:rPr>
                        <a:rPr lang="en-US" i="1" sz="1767">
                          <a:solidFill>
                            <a:srgbClr val="111111"/>
                          </a:solidFill>
                          <a:latin typeface="Cambria Math"/>
                          <a:cs typeface="Cambria Math"/>
                        </a:rPr>
                        <m:t>=</m:t>
                      </m:r>
                      <m:d>
                        <m:dPr>
                          <m:begChr m:val="("/>
                          <m:endChr m:val=")"/>
                          <m:sepChr m:val=""/>
                          <m:grow/>
                        </m:dPr>
                        <m:e>
                          <m:sSub>
                            <m:e>
                              <m:r>
                                <a:rPr lang="en-US" i="1" sz="1767">
                                  <a:solidFill>
                                    <a:srgbClr val="111111"/>
                                  </a:solidFill>
                                  <a:latin typeface="Cambria Math"/>
                                  <a:cs typeface="Cambria Math"/>
                                </a:rPr>
                                <m:t>x</m:t>
                              </m:r>
                            </m:e>
                            <m:sub>
                              <m:r>
                                <a:rPr lang="en-US" i="1" sz="1767">
                                  <a:solidFill>
                                    <a:srgbClr val="111111"/>
                                  </a:solidFill>
                                  <a:latin typeface="Cambria Math"/>
                                  <a:cs typeface="Cambria Math"/>
                                </a:rPr>
                                <m:t>1</m:t>
                              </m:r>
                            </m:sub>
                          </m:sSub>
                          <m:r>
                            <m:rPr>
                              <m:sty m:val="p"/>
                            </m:rPr>
                            <a:rPr lang="en-US" i="1" sz="1767">
                              <a:solidFill>
                                <a:srgbClr val="111111"/>
                              </a:solidFill>
                              <a:latin typeface="Cambria Math"/>
                              <a:cs typeface="Cambria Math"/>
                            </a:rPr>
                            <m:t>,</m:t>
                          </m:r>
                          <m:r>
                            <m:rPr>
                              <m:sty m:val="p"/>
                            </m:rPr>
                            <a:rPr lang="en-US" i="1" sz="1767">
                              <a:solidFill>
                                <a:srgbClr val="111111"/>
                              </a:solidFill>
                              <a:latin typeface="Cambria Math"/>
                              <a:cs typeface="Cambria Math"/>
                            </a:rPr>
                            <m:t>…</m:t>
                          </m:r>
                          <m:r>
                            <m:rPr>
                              <m:sty m:val="p"/>
                            </m:rPr>
                            <a:rPr lang="en-US" i="1" sz="1767">
                              <a:solidFill>
                                <a:srgbClr val="111111"/>
                              </a:solidFill>
                              <a:latin typeface="Cambria Math"/>
                              <a:cs typeface="Cambria Math"/>
                            </a:rPr>
                            <m:t>,</m:t>
                          </m:r>
                          <m:sSub>
                            <m:e>
                              <m:r>
                                <a:rPr lang="en-US" i="1" sz="1767">
                                  <a:solidFill>
                                    <a:srgbClr val="111111"/>
                                  </a:solidFill>
                                  <a:latin typeface="Cambria Math"/>
                                  <a:cs typeface="Cambria Math"/>
                                </a:rPr>
                                <m:t>x</m:t>
                              </m:r>
                            </m:e>
                            <m:sub>
                              <m:r>
                                <a:rPr lang="en-US" i="1" sz="1767">
                                  <a:solidFill>
                                    <a:srgbClr val="111111"/>
                                  </a:solidFill>
                                  <a:latin typeface="Cambria Math"/>
                                  <a:cs typeface="Cambria Math"/>
                                </a:rPr>
                                <m:t>n</m:t>
                              </m:r>
                            </m:sub>
                          </m:sSub>
                        </m:e>
                      </m:d>
                      <m:r>
                        <m:rPr>
                          <m:sty m:val="p"/>
                        </m:rPr>
                        <a:rPr lang="en-US" i="1" sz="1767">
                          <a:solidFill>
                            <a:srgbClr val="111111"/>
                          </a:solidFill>
                          <a:latin typeface="Cambria Math"/>
                          <a:cs typeface="Cambria Math"/>
                        </a:rPr>
                        <m:t>,</m:t>
                      </m:r>
                      <m:r>
                        <a:rPr lang="en-US" i="1" sz="1767">
                          <a:solidFill>
                            <a:srgbClr val="111111"/>
                          </a:solidFill>
                          <a:latin typeface="Cambria Math"/>
                          <a:cs typeface="Cambria Math"/>
                        </a:rPr>
                        <m:t> </m:t>
                      </m:r>
                      <m:sSub>
                        <m:e>
                          <m:r>
                            <a:rPr lang="en-US" i="1" sz="1767">
                              <a:solidFill>
                                <a:srgbClr val="111111"/>
                              </a:solidFill>
                              <a:latin typeface="Cambria Math"/>
                              <a:cs typeface="Cambria Math"/>
                            </a:rPr>
                            <m:t>x</m:t>
                          </m:r>
                        </m:e>
                        <m:sub>
                          <m:r>
                            <a:rPr lang="en-US" i="1" sz="1767">
                              <a:solidFill>
                                <a:srgbClr val="111111"/>
                              </a:solidFill>
                              <a:latin typeface="Cambria Math"/>
                              <a:cs typeface="Cambria Math"/>
                            </a:rPr>
                            <m:t>i</m:t>
                          </m:r>
                        </m:sub>
                      </m:sSub>
                      <m:r>
                        <m:rPr>
                          <m:sty m:val="p"/>
                        </m:rPr>
                        <a:rPr lang="en-US" i="1" sz="1767">
                          <a:solidFill>
                            <a:srgbClr val="111111"/>
                          </a:solidFill>
                          <a:latin typeface="Cambria Math"/>
                          <a:cs typeface="Cambria Math"/>
                        </a:rPr>
                        <m:t>∈</m:t>
                      </m:r>
                      <m:sSup>
                        <m:e>
                          <m:r>
                            <m:rPr>
                              <m:sty m:val="p"/>
                              <m:scr m:val="double-struck"/>
                            </m:rPr>
                            <a:rPr lang="en-US" i="1" sz="1767">
                              <a:solidFill>
                                <a:srgbClr val="111111"/>
                              </a:solidFill>
                              <a:latin typeface="Cambria Math"/>
                              <a:cs typeface="Cambria Math"/>
                            </a:rPr>
                            <m:t>R</m:t>
                          </m:r>
                        </m:e>
                        <m:sup>
                          <m:r>
                            <a:rPr lang="en-US" i="1" sz="1767">
                              <a:solidFill>
                                <a:srgbClr val="111111"/>
                              </a:solidFill>
                              <a:latin typeface="Cambria Math"/>
                              <a:cs typeface="Cambria Math"/>
                            </a:rPr>
                            <m:t>7</m:t>
                          </m:r>
                        </m:sup>
                      </m:sSup>
                      <m:r>
                        <m:rPr>
                          <m:sty m:val="p"/>
                        </m:rPr>
                        <a:rPr lang="en-US" i="1" sz="1767">
                          <a:solidFill>
                            <a:srgbClr val="111111"/>
                          </a:solidFill>
                          <a:latin typeface="Cambria Math"/>
                          <a:cs typeface="Cambria Math"/>
                        </a:rPr>
                        <m:t>,</m:t>
                      </m:r>
                      <m:r>
                        <a:rPr lang="en-US" i="1" sz="1767">
                          <a:solidFill>
                            <a:srgbClr val="111111"/>
                          </a:solidFill>
                          <a:latin typeface="Cambria Math"/>
                          <a:cs typeface="Cambria Math"/>
                        </a:rPr>
                        <m:t>  </m:t>
                      </m:r>
                      <m:r>
                        <a:rPr lang="en-US" i="1" sz="1767">
                          <a:solidFill>
                            <a:srgbClr val="111111"/>
                          </a:solidFill>
                          <a:latin typeface="Cambria Math"/>
                          <a:cs typeface="Cambria Math"/>
                        </a:rPr>
                        <m:t>k</m:t>
                      </m:r>
                      <m:r>
                        <m:rPr>
                          <m:sty m:val="p"/>
                        </m:rPr>
                        <a:rPr lang="en-US" i="1" sz="1767">
                          <a:solidFill>
                            <a:srgbClr val="111111"/>
                          </a:solidFill>
                          <a:latin typeface="Cambria Math"/>
                          <a:cs typeface="Cambria Math"/>
                        </a:rPr>
                        <m:t>∈</m:t>
                      </m:r>
                      <m:r>
                        <m:rPr>
                          <m:sty m:val="p"/>
                        </m:rPr>
                        <a:rPr lang="en-US" i="1" sz="1767">
                          <a:solidFill>
                            <a:srgbClr val="111111"/>
                          </a:solidFill>
                          <a:latin typeface="Cambria Math"/>
                          <a:cs typeface="Cambria Math"/>
                        </a:rPr>
                        <m:t>{</m:t>
                      </m:r>
                      <m:r>
                        <a:rPr lang="en-US" i="1" sz="1767">
                          <a:solidFill>
                            <a:srgbClr val="111111"/>
                          </a:solidFill>
                          <a:latin typeface="Cambria Math"/>
                          <a:cs typeface="Cambria Math"/>
                        </a:rPr>
                        <m:t>1</m:t>
                      </m:r>
                      <m:r>
                        <m:rPr>
                          <m:sty m:val="p"/>
                        </m:rPr>
                        <a:rPr lang="en-US" i="1" sz="1767">
                          <a:solidFill>
                            <a:srgbClr val="111111"/>
                          </a:solidFill>
                          <a:latin typeface="Cambria Math"/>
                          <a:cs typeface="Cambria Math"/>
                        </a:rPr>
                        <m:t>,</m:t>
                      </m:r>
                      <m:r>
                        <m:rPr>
                          <m:sty m:val="p"/>
                        </m:rPr>
                        <a:rPr lang="en-US" i="1" sz="1767">
                          <a:solidFill>
                            <a:srgbClr val="111111"/>
                          </a:solidFill>
                          <a:latin typeface="Cambria Math"/>
                          <a:cs typeface="Cambria Math"/>
                        </a:rPr>
                        <m:t>…</m:t>
                      </m:r>
                      <m:r>
                        <m:rPr>
                          <m:sty m:val="p"/>
                        </m:rPr>
                        <a:rPr lang="en-US" i="1" sz="1767">
                          <a:solidFill>
                            <a:srgbClr val="111111"/>
                          </a:solidFill>
                          <a:latin typeface="Cambria Math"/>
                          <a:cs typeface="Cambria Math"/>
                        </a:rPr>
                        <m:t>,</m:t>
                      </m:r>
                      <m:r>
                        <a:rPr lang="en-US" i="1" sz="1767">
                          <a:solidFill>
                            <a:srgbClr val="111111"/>
                          </a:solidFill>
                          <a:latin typeface="Cambria Math"/>
                          <a:cs typeface="Cambria Math"/>
                        </a:rPr>
                        <m:t>23</m:t>
                      </m:r>
                      <m:r>
                        <m:rPr>
                          <m:sty m:val="p"/>
                        </m:rPr>
                        <a:rPr lang="en-US" i="1" sz="1767">
                          <a:solidFill>
                            <a:srgbClr val="111111"/>
                          </a:solidFill>
                          <a:latin typeface="Cambria Math"/>
                          <a:cs typeface="Cambria Math"/>
                        </a:rPr>
                        <m:t>−</m:t>
                      </m:r>
                      <m:r>
                        <a:rPr lang="en-US" i="1" sz="1767">
                          <a:solidFill>
                            <a:srgbClr val="111111"/>
                          </a:solidFill>
                          <a:latin typeface="Cambria Math"/>
                          <a:cs typeface="Cambria Math"/>
                        </a:rPr>
                        <m:t>n</m:t>
                      </m:r>
                      <m:r>
                        <m:rPr>
                          <m:sty m:val="p"/>
                        </m:rPr>
                        <a:rPr lang="en-US" i="1" sz="1767">
                          <a:solidFill>
                            <a:srgbClr val="111111"/>
                          </a:solidFill>
                          <a:latin typeface="Cambria Math"/>
                          <a:cs typeface="Cambria Math"/>
                        </a:rPr>
                        <m:t>}</m:t>
                      </m:r>
                    </m:oMath>
                  </m:oMathPara>
                </a14:m>
                <a:endParaRPr lang="en-US" sz="1767"/>
              </a:p>
            </p:txBody>
          </p:sp>
        </mc:Choice>
        <mc:Fallback>
          <p:sp>
            <p:nvSpPr>
              <p:cNvPr id="7" name="Equation: problem" descr="LaTeX: x_{1:n} = (x_1, \ldots, x_n),\quad x_i \in \mathbb{R}^{7},\qquad k \in \{1, \ldots, 23-n\}"/>
              <p:cNvSpPr txBox="1">
                <a:spLocks noRot="1" noChangeAspect="1" noMove="1" noResize="1" noEditPoints="1" noAdjustHandles="1" noChangeArrowheads="1" noChangeShapeType="1" noTextEdit="1"/>
              </p:cNvSpPr>
              <p:nvPr/>
            </p:nvSpPr>
            <p:spPr>
              <a:xfrm>
                <a:off x="6446520" y="3429000"/>
                <a:ext cx="5193792" cy="325789"/>
              </a:xfrm>
              <a:prstGeom prst="rect">
                <a:avLst/>
              </a:prstGeom>
              <a:blipFill>
                <a:blip r:embed="rId4"/>
                <a:stretch>
                  <a:fillRect/>
                </a:stretch>
              </a:blipFill>
            </p:spPr>
            <p:txBody>
              <a:bodyPr/>
              <a:lstStyle/>
              <a:p>
                <a:r>
                  <a:rPr lang="en-US">
                    <a:noFill/>
                  </a:rPr>
                  <a:t> </a:t>
                </a:r>
              </a:p>
            </p:txBody>
          </p:sp>
        </mc:Fallback>
      </mc:AlternateContent>
      <p:sp>
        <p:nvSpPr>
          <p:cNvPr id="8" name="Text: unknown"/>
          <p:cNvSpPr txBox="1"/>
          <p:nvPr/>
        </p:nvSpPr>
        <p:spPr>
          <a:xfrm>
            <a:off x="6446520" y="3977639"/>
            <a:ext cx="5193792" cy="914400"/>
          </a:xfrm>
          <a:prstGeom prst="rect">
            <a:avLst/>
          </a:prstGeom>
          <a:noFill/>
        </p:spPr>
        <p:txBody>
          <a:bodyPr wrap="square" anchor="t" lIns="18288" rIns="18288" tIns="18288" bIns="18288">
            <a:spAutoFit/>
          </a:bodyPr>
          <a:lstStyle/>
          <a:p>
            <a:pPr algn="l">
              <a:spcAft>
                <a:spcPts val="600"/>
              </a:spcAft>
            </a:pPr>
            <a:r>
              <a:rPr sz="1600" b="0" i="0">
                <a:solidFill>
                  <a:srgbClr val="111111"/>
                </a:solidFill>
                <a:latin typeface="Cambria"/>
              </a:rPr>
              <a:t>Seven measures per body. The view's place </a:t>
            </a:r>
            <a:r>
              <a:rPr sz="1600" b="0" i="1">
                <a:solidFill>
                  <a:srgbClr val="111111"/>
                </a:solidFill>
                <a:latin typeface="Cambria"/>
              </a:rPr>
              <a:t>k</a:t>
            </a:r>
            <a:r>
              <a:rPr sz="1600" b="0" i="0">
                <a:solidFill>
                  <a:srgbClr val="111111"/>
                </a:solidFill>
                <a:latin typeface="Cambria"/>
              </a:rPr>
              <a:t> among the 22 levels from C3 to L5 names every body in it.</a:t>
            </a:r>
          </a:p>
        </p:txBody>
      </p:sp>
      <p:sp>
        <p:nvSpPr>
          <p:cNvPr id="9" name="Text: data"/>
          <p:cNvSpPr txBox="1"/>
          <p:nvPr/>
        </p:nvSpPr>
        <p:spPr>
          <a:xfrm>
            <a:off x="6446520" y="4983480"/>
            <a:ext cx="5193792" cy="1097280"/>
          </a:xfrm>
          <a:prstGeom prst="rect">
            <a:avLst/>
          </a:prstGeom>
          <a:noFill/>
        </p:spPr>
        <p:txBody>
          <a:bodyPr wrap="square" anchor="t" lIns="18288" rIns="18288" tIns="18288" bIns="18288">
            <a:spAutoFit/>
          </a:bodyPr>
          <a:lstStyle/>
          <a:p>
            <a:pPr algn="l">
              <a:spcAft>
                <a:spcPts val="600"/>
              </a:spcAft>
            </a:pPr>
            <a:r>
              <a:rPr sz="1400" b="0" i="0">
                <a:solidFill>
                  <a:srgbClr val="595959"/>
                </a:solidFill>
                <a:latin typeface="Cambria"/>
              </a:rPr>
              <a:t>2,000 synthetic columns drawn from Panjabi's published means and spreads; every place of every column scored, so each rate below is over tens of thousands of fields.</a:t>
            </a:r>
          </a:p>
        </p:txBody>
      </p:sp>
      <p:sp>
        <p:nvSpPr>
          <p:cNvPr id="10" name="Text: citation"/>
          <p:cNvSpPr txBox="1"/>
          <p:nvPr/>
        </p:nvSpPr>
        <p:spPr>
          <a:xfrm>
            <a:off x="548640" y="6327648"/>
            <a:ext cx="9692640" cy="365760"/>
          </a:xfrm>
          <a:prstGeom prst="rect">
            <a:avLst/>
          </a:prstGeom>
          <a:noFill/>
        </p:spPr>
        <p:txBody>
          <a:bodyPr wrap="square" anchor="t" lIns="18288" rIns="18288" tIns="18288" bIns="18288">
            <a:spAutoFit/>
          </a:bodyPr>
          <a:lstStyle/>
          <a:p>
            <a:pPr algn="l">
              <a:spcAft>
                <a:spcPts val="0"/>
              </a:spcAft>
            </a:pPr>
            <a:r>
              <a:rPr sz="900" b="0" i="0">
                <a:solidFill>
                  <a:srgbClr val="595959"/>
                </a:solidFill>
                <a:latin typeface="Cambria"/>
              </a:rPr>
              <a:t>Synthetic columns drawn from Panjabi's published means and spreads (Spine 1991;16:861, 888; 1992;17:299); no patient data. Retrospective modelling, 2026.</a:t>
            </a:r>
          </a:p>
        </p:txBody>
      </p:sp>
      <p:sp>
        <p:nvSpPr>
          <p:cNvPr id="11" name="Text: slide number"/>
          <p:cNvSpPr txBox="1"/>
          <p:nvPr/>
        </p:nvSpPr>
        <p:spPr>
          <a:xfrm>
            <a:off x="10725912" y="6327648"/>
            <a:ext cx="914400" cy="365760"/>
          </a:xfrm>
          <a:prstGeom prst="rect">
            <a:avLst/>
          </a:prstGeom>
          <a:noFill/>
        </p:spPr>
        <p:txBody>
          <a:bodyPr wrap="square" anchor="t" lIns="18288" rIns="18288" tIns="18288" bIns="18288">
            <a:spAutoFit/>
          </a:bodyPr>
          <a:lstStyle/>
          <a:p>
            <a:pPr algn="r">
              <a:spcAft>
                <a:spcPts val="0"/>
              </a:spcAft>
            </a:pPr>
            <a:r>
              <a:rPr sz="900" b="0" i="0">
                <a:solidFill>
                  <a:srgbClr val="595959"/>
                </a:solidFill>
                <a:latin typeface="Cambria"/>
              </a:rPr>
              <a:t>1 / 5</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74320"/>
            <a:ext cx="11091672" cy="960120"/>
          </a:xfrm>
        </p:spPr>
        <p:txBody>
          <a:bodyPr wrap="square" anchor="b"/>
          <a:lstStyle/>
          <a:p>
            <a:pPr algn="l"/>
            <a:r>
              <a:rPr sz="2800" b="1">
                <a:solidFill>
                  <a:srgbClr val="111111"/>
                </a:solidFill>
                <a:latin typeface="Cambria"/>
              </a:rPr>
              <a:t>Bayes' rule over every place is the ceiling</a:t>
            </a:r>
          </a:p>
        </p:txBody>
      </p:sp>
      <mc:AlternateContent xmlns:mc="http://schemas.openxmlformats.org/markup-compatibility/2006">
        <mc:Choice xmlns:a14="http://schemas.microsoft.com/office/drawing/2010/main" Requires="a14">
          <p:sp>
            <p:nvSpPr>
              <p:cNvPr id="3" name="Equation: bayes" descr="LaTeX: p(k \mid x_{1:n}) = \dfrac{p(x_{1:n} \mid k)\, p(k)}{\sum_{k'=1}^{23-n} p(x_{1:n} \mid k')\, p(k')}"/>
              <p:cNvSpPr txBox="1"/>
              <p:nvPr/>
            </p:nvSpPr>
            <p:spPr>
              <a:xfrm>
                <a:off x="548640" y="1371600"/>
                <a:ext cx="4547616" cy="1356360"/>
              </a:xfrm>
              <a:prstGeom prst="rect">
                <a:avLst/>
              </a:prstGeom>
              <a:noFill/>
            </p:spPr>
            <p:txBody>
              <a:bodyPr wrap="none" lIns="0" tIns="0" rIns="0" bIns="0" anchor="ctr">
                <a:noAutofit/>
              </a:bodyPr>
              <a:lstStyle/>
              <a:p>
                <a:pPr algn="l"/>
                <a14:m>
                  <m:oMathPara xmlns:m="http://schemas.openxmlformats.org/officeDocument/2006/math">
                    <m:oMathParaPr>
                      <m:jc m:val="left"/>
                    </m:oMathParaPr>
                    <m:oMath>
                      <m:r>
                        <a:rPr lang="en-US" i="1" sz="2400">
                          <a:solidFill>
                            <a:srgbClr val="111111"/>
                          </a:solidFill>
                          <a:latin typeface="Cambria Math"/>
                          <a:cs typeface="Cambria Math"/>
                        </a:rPr>
                        <m:t>p</m:t>
                      </m:r>
                      <m:d>
                        <m:dPr>
                          <m:begChr m:val="("/>
                          <m:endChr m:val=")"/>
                          <m:sepChr m:val=""/>
                          <m:grow/>
                        </m:dPr>
                        <m:e>
                          <m:r>
                            <a:rPr lang="en-US" i="1" sz="2400">
                              <a:solidFill>
                                <a:srgbClr val="111111"/>
                              </a:solidFill>
                              <a:latin typeface="Cambria Math"/>
                              <a:cs typeface="Cambria Math"/>
                            </a:rPr>
                            <m:t>k</m:t>
                          </m:r>
                          <m:r>
                            <m:rPr>
                              <m:sty m:val="p"/>
                            </m:rPr>
                            <a:rPr lang="en-US" i="1" sz="2400">
                              <a:solidFill>
                                <a:srgbClr val="111111"/>
                              </a:solidFill>
                              <a:latin typeface="Cambria Math"/>
                              <a:cs typeface="Cambria Math"/>
                            </a:rPr>
                            <m:t>∣</m:t>
                          </m:r>
                          <m:sSub>
                            <m:e>
                              <m:r>
                                <a:rPr lang="en-US" i="1" sz="2400">
                                  <a:solidFill>
                                    <a:srgbClr val="111111"/>
                                  </a:solidFill>
                                  <a:latin typeface="Cambria Math"/>
                                  <a:cs typeface="Cambria Math"/>
                                </a:rPr>
                                <m:t>x</m:t>
                              </m:r>
                            </m:e>
                            <m:sub>
                              <m:r>
                                <a:rPr lang="en-US" i="1" sz="2400">
                                  <a:solidFill>
                                    <a:srgbClr val="111111"/>
                                  </a:solidFill>
                                  <a:latin typeface="Cambria Math"/>
                                  <a:cs typeface="Cambria Math"/>
                                </a:rPr>
                                <m:t>1</m:t>
                              </m:r>
                              <m:r>
                                <m:rPr>
                                  <m:sty m:val="p"/>
                                </m:rPr>
                                <a:rPr lang="en-US" i="1" sz="2400">
                                  <a:solidFill>
                                    <a:srgbClr val="111111"/>
                                  </a:solidFill>
                                  <a:latin typeface="Cambria Math"/>
                                  <a:cs typeface="Cambria Math"/>
                                </a:rPr>
                                <m:t>:</m:t>
                              </m:r>
                              <m:r>
                                <a:rPr lang="en-US" i="1" sz="2400">
                                  <a:solidFill>
                                    <a:srgbClr val="111111"/>
                                  </a:solidFill>
                                  <a:latin typeface="Cambria Math"/>
                                  <a:cs typeface="Cambria Math"/>
                                </a:rPr>
                                <m:t>n</m:t>
                              </m:r>
                            </m:sub>
                          </m:sSub>
                        </m:e>
                      </m:d>
                      <m:r>
                        <m:rPr>
                          <m:sty m:val="p"/>
                        </m:rPr>
                        <a:rPr lang="en-US" i="1" sz="2400">
                          <a:solidFill>
                            <a:srgbClr val="111111"/>
                          </a:solidFill>
                          <a:latin typeface="Cambria Math"/>
                          <a:cs typeface="Cambria Math"/>
                        </a:rPr>
                        <m:t>=</m:t>
                      </m:r>
                      <m:f>
                        <m:fPr>
                          <m:type m:val="bar"/>
                        </m:fPr>
                        <m:num>
                          <m:r>
                            <a:rPr lang="en-US" i="1" sz="2400">
                              <a:solidFill>
                                <a:srgbClr val="111111"/>
                              </a:solidFill>
                              <a:latin typeface="Cambria Math"/>
                              <a:cs typeface="Cambria Math"/>
                            </a:rPr>
                            <m:t>p</m:t>
                          </m:r>
                          <m:d>
                            <m:dPr>
                              <m:begChr m:val="("/>
                              <m:endChr m:val=")"/>
                              <m:sepChr m:val=""/>
                              <m:grow/>
                            </m:dPr>
                            <m:e>
                              <m:sSub>
                                <m:e>
                                  <m:r>
                                    <a:rPr lang="en-US" i="1" sz="2400">
                                      <a:solidFill>
                                        <a:srgbClr val="111111"/>
                                      </a:solidFill>
                                      <a:latin typeface="Cambria Math"/>
                                      <a:cs typeface="Cambria Math"/>
                                    </a:rPr>
                                    <m:t>x</m:t>
                                  </m:r>
                                </m:e>
                                <m:sub>
                                  <m:r>
                                    <a:rPr lang="en-US" i="1" sz="2400">
                                      <a:solidFill>
                                        <a:srgbClr val="111111"/>
                                      </a:solidFill>
                                      <a:latin typeface="Cambria Math"/>
                                      <a:cs typeface="Cambria Math"/>
                                    </a:rPr>
                                    <m:t>1</m:t>
                                  </m:r>
                                  <m:r>
                                    <m:rPr>
                                      <m:sty m:val="p"/>
                                    </m:rPr>
                                    <a:rPr lang="en-US" i="1" sz="2400">
                                      <a:solidFill>
                                        <a:srgbClr val="111111"/>
                                      </a:solidFill>
                                      <a:latin typeface="Cambria Math"/>
                                      <a:cs typeface="Cambria Math"/>
                                    </a:rPr>
                                    <m:t>:</m:t>
                                  </m:r>
                                  <m:r>
                                    <a:rPr lang="en-US" i="1" sz="2400">
                                      <a:solidFill>
                                        <a:srgbClr val="111111"/>
                                      </a:solidFill>
                                      <a:latin typeface="Cambria Math"/>
                                      <a:cs typeface="Cambria Math"/>
                                    </a:rPr>
                                    <m:t>n</m:t>
                                  </m:r>
                                </m:sub>
                              </m:sSub>
                              <m:r>
                                <m:rPr>
                                  <m:sty m:val="p"/>
                                </m:rPr>
                                <a:rPr lang="en-US" i="1" sz="2400">
                                  <a:solidFill>
                                    <a:srgbClr val="111111"/>
                                  </a:solidFill>
                                  <a:latin typeface="Cambria Math"/>
                                  <a:cs typeface="Cambria Math"/>
                                </a:rPr>
                                <m:t>∣</m:t>
                              </m:r>
                              <m:r>
                                <a:rPr lang="en-US" i="1" sz="2400">
                                  <a:solidFill>
                                    <a:srgbClr val="111111"/>
                                  </a:solidFill>
                                  <a:latin typeface="Cambria Math"/>
                                  <a:cs typeface="Cambria Math"/>
                                </a:rPr>
                                <m:t>k</m:t>
                              </m:r>
                            </m:e>
                          </m:d>
                          <m:r>
                            <a:rPr lang="en-US" i="1" sz="2400">
                              <a:solidFill>
                                <a:srgbClr val="111111"/>
                              </a:solidFill>
                              <a:latin typeface="Cambria Math"/>
                              <a:cs typeface="Cambria Math"/>
                            </a:rPr>
                            <m:t> </m:t>
                          </m:r>
                          <m:r>
                            <a:rPr lang="en-US" i="1" sz="2400">
                              <a:solidFill>
                                <a:srgbClr val="111111"/>
                              </a:solidFill>
                              <a:latin typeface="Cambria Math"/>
                              <a:cs typeface="Cambria Math"/>
                            </a:rPr>
                            <m:t>p</m:t>
                          </m:r>
                          <m:d>
                            <m:dPr>
                              <m:begChr m:val="("/>
                              <m:endChr m:val=")"/>
                              <m:sepChr m:val=""/>
                              <m:grow/>
                            </m:dPr>
                            <m:e>
                              <m:r>
                                <a:rPr lang="en-US" i="1" sz="2400">
                                  <a:solidFill>
                                    <a:srgbClr val="111111"/>
                                  </a:solidFill>
                                  <a:latin typeface="Cambria Math"/>
                                  <a:cs typeface="Cambria Math"/>
                                </a:rPr>
                                <m:t>k</m:t>
                              </m:r>
                            </m:e>
                          </m:d>
                        </m:num>
                        <m:den>
                          <m:nary>
                            <m:naryPr>
                              <m:chr m:val="∑"/>
                              <m:limLoc m:val="undOvr"/>
                              <m:subHide m:val="off"/>
                              <m:supHide m:val="off"/>
                            </m:naryPr>
                            <m:sub>
                              <m:r>
                                <a:rPr lang="en-US" i="1" sz="2400">
                                  <a:solidFill>
                                    <a:srgbClr val="111111"/>
                                  </a:solidFill>
                                  <a:latin typeface="Cambria Math"/>
                                  <a:cs typeface="Cambria Math"/>
                                </a:rPr>
                                <m:t>k</m:t>
                              </m:r>
                              <m:r>
                                <m:rPr>
                                  <m:sty m:val="p"/>
                                </m:rPr>
                                <a:rPr lang="en-US" i="1" sz="2400">
                                  <a:solidFill>
                                    <a:srgbClr val="111111"/>
                                  </a:solidFill>
                                  <a:latin typeface="Cambria Math"/>
                                  <a:cs typeface="Cambria Math"/>
                                </a:rPr>
                                <m:t>′</m:t>
                              </m:r>
                              <m:r>
                                <m:rPr>
                                  <m:sty m:val="p"/>
                                </m:rPr>
                                <a:rPr lang="en-US" i="1" sz="2400">
                                  <a:solidFill>
                                    <a:srgbClr val="111111"/>
                                  </a:solidFill>
                                  <a:latin typeface="Cambria Math"/>
                                  <a:cs typeface="Cambria Math"/>
                                </a:rPr>
                                <m:t>=</m:t>
                              </m:r>
                              <m:r>
                                <a:rPr lang="en-US" i="1" sz="2400">
                                  <a:solidFill>
                                    <a:srgbClr val="111111"/>
                                  </a:solidFill>
                                  <a:latin typeface="Cambria Math"/>
                                  <a:cs typeface="Cambria Math"/>
                                </a:rPr>
                                <m:t>1</m:t>
                              </m:r>
                            </m:sub>
                            <m:sup>
                              <m:r>
                                <a:rPr lang="en-US" i="1" sz="2400">
                                  <a:solidFill>
                                    <a:srgbClr val="111111"/>
                                  </a:solidFill>
                                  <a:latin typeface="Cambria Math"/>
                                  <a:cs typeface="Cambria Math"/>
                                </a:rPr>
                                <m:t>23</m:t>
                              </m:r>
                              <m:r>
                                <m:rPr>
                                  <m:sty m:val="p"/>
                                </m:rPr>
                                <a:rPr lang="en-US" i="1" sz="2400">
                                  <a:solidFill>
                                    <a:srgbClr val="111111"/>
                                  </a:solidFill>
                                  <a:latin typeface="Cambria Math"/>
                                  <a:cs typeface="Cambria Math"/>
                                </a:rPr>
                                <m:t>−</m:t>
                              </m:r>
                              <m:r>
                                <a:rPr lang="en-US" i="1" sz="2400">
                                  <a:solidFill>
                                    <a:srgbClr val="111111"/>
                                  </a:solidFill>
                                  <a:latin typeface="Cambria Math"/>
                                  <a:cs typeface="Cambria Math"/>
                                </a:rPr>
                                <m:t>n</m:t>
                              </m:r>
                            </m:sup>
                            <m:e>
                              <m:r>
                                <a:rPr lang="en-US" i="1" sz="2400">
                                  <a:solidFill>
                                    <a:srgbClr val="111111"/>
                                  </a:solidFill>
                                  <a:latin typeface="Cambria Math"/>
                                  <a:cs typeface="Cambria Math"/>
                                </a:rPr>
                                <m:t>p</m:t>
                              </m:r>
                            </m:e>
                          </m:nary>
                          <m:d>
                            <m:dPr>
                              <m:begChr m:val="("/>
                              <m:endChr m:val=")"/>
                              <m:sepChr m:val=""/>
                              <m:grow/>
                            </m:dPr>
                            <m:e>
                              <m:sSub>
                                <m:e>
                                  <m:r>
                                    <a:rPr lang="en-US" i="1" sz="2400">
                                      <a:solidFill>
                                        <a:srgbClr val="111111"/>
                                      </a:solidFill>
                                      <a:latin typeface="Cambria Math"/>
                                      <a:cs typeface="Cambria Math"/>
                                    </a:rPr>
                                    <m:t>x</m:t>
                                  </m:r>
                                </m:e>
                                <m:sub>
                                  <m:r>
                                    <a:rPr lang="en-US" i="1" sz="2400">
                                      <a:solidFill>
                                        <a:srgbClr val="111111"/>
                                      </a:solidFill>
                                      <a:latin typeface="Cambria Math"/>
                                      <a:cs typeface="Cambria Math"/>
                                    </a:rPr>
                                    <m:t>1</m:t>
                                  </m:r>
                                  <m:r>
                                    <m:rPr>
                                      <m:sty m:val="p"/>
                                    </m:rPr>
                                    <a:rPr lang="en-US" i="1" sz="2400">
                                      <a:solidFill>
                                        <a:srgbClr val="111111"/>
                                      </a:solidFill>
                                      <a:latin typeface="Cambria Math"/>
                                      <a:cs typeface="Cambria Math"/>
                                    </a:rPr>
                                    <m:t>:</m:t>
                                  </m:r>
                                  <m:r>
                                    <a:rPr lang="en-US" i="1" sz="2400">
                                      <a:solidFill>
                                        <a:srgbClr val="111111"/>
                                      </a:solidFill>
                                      <a:latin typeface="Cambria Math"/>
                                      <a:cs typeface="Cambria Math"/>
                                    </a:rPr>
                                    <m:t>n</m:t>
                                  </m:r>
                                </m:sub>
                              </m:sSub>
                              <m:r>
                                <m:rPr>
                                  <m:sty m:val="p"/>
                                </m:rPr>
                                <a:rPr lang="en-US" i="1" sz="2400">
                                  <a:solidFill>
                                    <a:srgbClr val="111111"/>
                                  </a:solidFill>
                                  <a:latin typeface="Cambria Math"/>
                                  <a:cs typeface="Cambria Math"/>
                                </a:rPr>
                                <m:t>∣</m:t>
                              </m:r>
                              <m:r>
                                <a:rPr lang="en-US" i="1" sz="2400">
                                  <a:solidFill>
                                    <a:srgbClr val="111111"/>
                                  </a:solidFill>
                                  <a:latin typeface="Cambria Math"/>
                                  <a:cs typeface="Cambria Math"/>
                                </a:rPr>
                                <m:t>k</m:t>
                              </m:r>
                              <m:r>
                                <m:rPr>
                                  <m:sty m:val="p"/>
                                </m:rPr>
                                <a:rPr lang="en-US" i="1" sz="2400">
                                  <a:solidFill>
                                    <a:srgbClr val="111111"/>
                                  </a:solidFill>
                                  <a:latin typeface="Cambria Math"/>
                                  <a:cs typeface="Cambria Math"/>
                                </a:rPr>
                                <m:t>′</m:t>
                              </m:r>
                            </m:e>
                          </m:d>
                          <m:r>
                            <a:rPr lang="en-US" i="1" sz="2400">
                              <a:solidFill>
                                <a:srgbClr val="111111"/>
                              </a:solidFill>
                              <a:latin typeface="Cambria Math"/>
                              <a:cs typeface="Cambria Math"/>
                            </a:rPr>
                            <m:t> </m:t>
                          </m:r>
                          <m:r>
                            <a:rPr lang="en-US" i="1" sz="2400">
                              <a:solidFill>
                                <a:srgbClr val="111111"/>
                              </a:solidFill>
                              <a:latin typeface="Cambria Math"/>
                              <a:cs typeface="Cambria Math"/>
                            </a:rPr>
                            <m:t>p</m:t>
                          </m:r>
                          <m:d>
                            <m:dPr>
                              <m:begChr m:val="("/>
                              <m:endChr m:val=")"/>
                              <m:sepChr m:val=""/>
                              <m:grow/>
                            </m:dPr>
                            <m:e>
                              <m:r>
                                <a:rPr lang="en-US" i="1" sz="2400">
                                  <a:solidFill>
                                    <a:srgbClr val="111111"/>
                                  </a:solidFill>
                                  <a:latin typeface="Cambria Math"/>
                                  <a:cs typeface="Cambria Math"/>
                                </a:rPr>
                                <m:t>k</m:t>
                              </m:r>
                              <m:r>
                                <m:rPr>
                                  <m:sty m:val="p"/>
                                </m:rPr>
                                <a:rPr lang="en-US" i="1" sz="2400">
                                  <a:solidFill>
                                    <a:srgbClr val="111111"/>
                                  </a:solidFill>
                                  <a:latin typeface="Cambria Math"/>
                                  <a:cs typeface="Cambria Math"/>
                                </a:rPr>
                                <m:t>′</m:t>
                              </m:r>
                            </m:e>
                          </m:d>
                        </m:den>
                      </m:f>
                    </m:oMath>
                  </m:oMathPara>
                </a14:m>
                <a:endParaRPr lang="en-US" sz="2400"/>
              </a:p>
            </p:txBody>
          </p:sp>
        </mc:Choice>
        <mc:Fallback>
          <p:sp>
            <p:nvSpPr>
              <p:cNvPr id="3" name="Equation: bayes" descr="LaTeX: p(k \mid x_{1:n}) = \dfrac{p(x_{1:n} \mid k)\, p(k)}{\sum_{k'=1}^{23-n} p(x_{1:n} \mid k')\, p(k')}"/>
              <p:cNvSpPr txBox="1">
                <a:spLocks noRot="1" noChangeAspect="1" noMove="1" noResize="1" noEditPoints="1" noAdjustHandles="1" noChangeArrowheads="1" noChangeShapeType="1" noTextEdit="1"/>
              </p:cNvSpPr>
              <p:nvPr/>
            </p:nvSpPr>
            <p:spPr>
              <a:xfrm>
                <a:off x="548640" y="1371600"/>
                <a:ext cx="4547616" cy="1356360"/>
              </a:xfrm>
              <a:prstGeom prst="rect">
                <a:avLst/>
              </a:prstGeom>
              <a:blipFill>
                <a:blip r:embed="rId2"/>
                <a:stretch>
                  <a:fillRect/>
                </a:stretch>
              </a:blipFill>
            </p:spPr>
            <p:txBody>
              <a:bodyPr/>
              <a:lstStyle/>
              <a:p>
                <a:r>
                  <a:rPr lang="en-US">
                    <a:noFill/>
                  </a:rPr>
                  <a:t> </a:t>
                </a:r>
              </a:p>
            </p:txBody>
          </p:sp>
        </mc:Fallback>
      </mc:AlternateContent>
      <p:sp>
        <p:nvSpPr>
          <p:cNvPr id="4" name="Text: in words"/>
          <p:cNvSpPr txBox="1"/>
          <p:nvPr/>
        </p:nvSpPr>
        <p:spPr>
          <a:xfrm>
            <a:off x="548640" y="2773680"/>
            <a:ext cx="5257800" cy="457200"/>
          </a:xfrm>
          <a:prstGeom prst="rect">
            <a:avLst/>
          </a:prstGeom>
          <a:noFill/>
        </p:spPr>
        <p:txBody>
          <a:bodyPr wrap="square" anchor="t" lIns="18288" rIns="18288" tIns="18288" bIns="18288">
            <a:spAutoFit/>
          </a:bodyPr>
          <a:lstStyle/>
          <a:p>
            <a:pPr algn="l">
              <a:spcAft>
                <a:spcPts val="600"/>
              </a:spcAft>
            </a:pPr>
            <a:r>
              <a:rPr sz="1800" b="1" i="0">
                <a:solidFill>
                  <a:srgbClr val="1B4F8C"/>
                </a:solidFill>
                <a:latin typeface="Cambria"/>
              </a:rPr>
              <a:t>posterior</a:t>
            </a:r>
            <a:r>
              <a:rPr sz="1800" b="0" i="0">
                <a:solidFill>
                  <a:srgbClr val="111111"/>
                </a:solidFill>
                <a:latin typeface="Cambria"/>
              </a:rPr>
              <a:t>  ∝  likelihood  ×  </a:t>
            </a:r>
            <a:r>
              <a:rPr sz="1800" b="1" i="0">
                <a:solidFill>
                  <a:srgbClr val="595959"/>
                </a:solidFill>
                <a:latin typeface="Cambria"/>
              </a:rPr>
              <a:t>prior</a:t>
            </a:r>
            <a:r>
              <a:rPr sz="1800" b="0" i="0">
                <a:solidFill>
                  <a:srgbClr val="111111"/>
                </a:solidFill>
                <a:latin typeface="Cambria"/>
              </a:rPr>
              <a:t>,  over all 23 − n places</a:t>
            </a:r>
          </a:p>
        </p:txBody>
      </p:sp>
      <mc:AlternateContent xmlns:mc="http://schemas.openxmlformats.org/markup-compatibility/2006">
        <mc:Choice xmlns:a14="http://schemas.microsoft.com/office/drawing/2010/main" Requires="a14">
          <p:sp>
            <p:nvSpPr>
              <p:cNvPr id="5" name="Equation: likelihood" descr="LaTeX: p(x_{1:n} \mid k) = \int \prod_{m=1}^{7} \mathcal{N}\left(x_{m,1:n} \mid s\,\mu_{m,k},\;\Sigma_{m,k}(s)\right)\, p(s)\, ds"/>
              <p:cNvSpPr txBox="1"/>
              <p:nvPr/>
            </p:nvSpPr>
            <p:spPr>
              <a:xfrm>
                <a:off x="548640" y="3413760"/>
                <a:ext cx="5257800" cy="677099"/>
              </a:xfrm>
              <a:prstGeom prst="rect">
                <a:avLst/>
              </a:prstGeom>
              <a:noFill/>
            </p:spPr>
            <p:txBody>
              <a:bodyPr wrap="none" lIns="0" tIns="0" rIns="0" bIns="0" anchor="ctr">
                <a:noAutofit/>
              </a:bodyPr>
              <a:lstStyle/>
              <a:p>
                <a:pPr algn="l"/>
                <a14:m>
                  <m:oMathPara xmlns:m="http://schemas.openxmlformats.org/officeDocument/2006/math">
                    <m:oMathParaPr>
                      <m:jc m:val="left"/>
                    </m:oMathParaPr>
                    <m:oMath>
                      <m:r>
                        <a:rPr lang="en-US" i="1" sz="1799">
                          <a:solidFill>
                            <a:srgbClr val="111111"/>
                          </a:solidFill>
                          <a:latin typeface="Cambria Math"/>
                          <a:cs typeface="Cambria Math"/>
                        </a:rPr>
                        <m:t>p</m:t>
                      </m:r>
                      <m:d>
                        <m:dPr>
                          <m:begChr m:val="("/>
                          <m:endChr m:val=")"/>
                          <m:sepChr m:val=""/>
                          <m:grow/>
                        </m:dPr>
                        <m:e>
                          <m:sSub>
                            <m:e>
                              <m:r>
                                <a:rPr lang="en-US" i="1" sz="1799">
                                  <a:solidFill>
                                    <a:srgbClr val="111111"/>
                                  </a:solidFill>
                                  <a:latin typeface="Cambria Math"/>
                                  <a:cs typeface="Cambria Math"/>
                                </a:rPr>
                                <m:t>x</m:t>
                              </m:r>
                            </m:e>
                            <m:sub>
                              <m:r>
                                <a:rPr lang="en-US" i="1" sz="1799">
                                  <a:solidFill>
                                    <a:srgbClr val="111111"/>
                                  </a:solidFill>
                                  <a:latin typeface="Cambria Math"/>
                                  <a:cs typeface="Cambria Math"/>
                                </a:rPr>
                                <m:t>1</m:t>
                              </m:r>
                              <m:r>
                                <m:rPr>
                                  <m:sty m:val="p"/>
                                </m:rPr>
                                <a:rPr lang="en-US" i="1" sz="1799">
                                  <a:solidFill>
                                    <a:srgbClr val="111111"/>
                                  </a:solidFill>
                                  <a:latin typeface="Cambria Math"/>
                                  <a:cs typeface="Cambria Math"/>
                                </a:rPr>
                                <m:t>:</m:t>
                              </m:r>
                              <m:r>
                                <a:rPr lang="en-US" i="1" sz="1799">
                                  <a:solidFill>
                                    <a:srgbClr val="111111"/>
                                  </a:solidFill>
                                  <a:latin typeface="Cambria Math"/>
                                  <a:cs typeface="Cambria Math"/>
                                </a:rPr>
                                <m:t>n</m:t>
                              </m:r>
                            </m:sub>
                          </m:sSub>
                          <m:r>
                            <m:rPr>
                              <m:sty m:val="p"/>
                            </m:rPr>
                            <a:rPr lang="en-US" i="1" sz="1799">
                              <a:solidFill>
                                <a:srgbClr val="111111"/>
                              </a:solidFill>
                              <a:latin typeface="Cambria Math"/>
                              <a:cs typeface="Cambria Math"/>
                            </a:rPr>
                            <m:t>∣</m:t>
                          </m:r>
                          <m:r>
                            <a:rPr lang="en-US" i="1" sz="1799">
                              <a:solidFill>
                                <a:srgbClr val="111111"/>
                              </a:solidFill>
                              <a:latin typeface="Cambria Math"/>
                              <a:cs typeface="Cambria Math"/>
                            </a:rPr>
                            <m:t>k</m:t>
                          </m:r>
                        </m:e>
                      </m:d>
                      <m:r>
                        <m:rPr>
                          <m:sty m:val="p"/>
                        </m:rPr>
                        <a:rPr lang="en-US" i="1" sz="1799">
                          <a:solidFill>
                            <a:srgbClr val="111111"/>
                          </a:solidFill>
                          <a:latin typeface="Cambria Math"/>
                          <a:cs typeface="Cambria Math"/>
                        </a:rPr>
                        <m:t>=</m:t>
                      </m:r>
                      <m:r>
                        <m:rPr>
                          <m:sty m:val="p"/>
                        </m:rPr>
                        <a:rPr lang="en-US" i="1" sz="1799">
                          <a:solidFill>
                            <a:srgbClr val="111111"/>
                          </a:solidFill>
                          <a:latin typeface="Cambria Math"/>
                          <a:cs typeface="Cambria Math"/>
                        </a:rPr>
                        <m:t>∫</m:t>
                      </m:r>
                      <m:nary>
                        <m:naryPr>
                          <m:chr m:val="∏"/>
                          <m:limLoc m:val="undOvr"/>
                          <m:subHide m:val="off"/>
                          <m:supHide m:val="off"/>
                        </m:naryPr>
                        <m:sub>
                          <m:r>
                            <a:rPr lang="en-US" i="1" sz="1799">
                              <a:solidFill>
                                <a:srgbClr val="111111"/>
                              </a:solidFill>
                              <a:latin typeface="Cambria Math"/>
                              <a:cs typeface="Cambria Math"/>
                            </a:rPr>
                            <m:t>m</m:t>
                          </m:r>
                          <m:r>
                            <m:rPr>
                              <m:sty m:val="p"/>
                            </m:rPr>
                            <a:rPr lang="en-US" i="1" sz="1799">
                              <a:solidFill>
                                <a:srgbClr val="111111"/>
                              </a:solidFill>
                              <a:latin typeface="Cambria Math"/>
                              <a:cs typeface="Cambria Math"/>
                            </a:rPr>
                            <m:t>=</m:t>
                          </m:r>
                          <m:r>
                            <a:rPr lang="en-US" i="1" sz="1799">
                              <a:solidFill>
                                <a:srgbClr val="111111"/>
                              </a:solidFill>
                              <a:latin typeface="Cambria Math"/>
                              <a:cs typeface="Cambria Math"/>
                            </a:rPr>
                            <m:t>1</m:t>
                          </m:r>
                        </m:sub>
                        <m:sup>
                          <m:r>
                            <a:rPr lang="en-US" i="1" sz="1799">
                              <a:solidFill>
                                <a:srgbClr val="111111"/>
                              </a:solidFill>
                              <a:latin typeface="Cambria Math"/>
                              <a:cs typeface="Cambria Math"/>
                            </a:rPr>
                            <m:t>7</m:t>
                          </m:r>
                        </m:sup>
                        <m:e>
                          <m:r>
                            <m:rPr>
                              <m:sty m:val="p"/>
                              <m:scr m:val="script"/>
                            </m:rPr>
                            <a:rPr lang="en-US" i="1" sz="1799">
                              <a:solidFill>
                                <a:srgbClr val="111111"/>
                              </a:solidFill>
                              <a:latin typeface="Cambria Math"/>
                              <a:cs typeface="Cambria Math"/>
                            </a:rPr>
                            <m:t>N</m:t>
                          </m:r>
                        </m:e>
                      </m:nary>
                      <m:d>
                        <m:dPr>
                          <m:begChr m:val="("/>
                          <m:endChr m:val=")"/>
                          <m:sepChr m:val=""/>
                          <m:grow/>
                        </m:dPr>
                        <m:e>
                          <m:sSub>
                            <m:e>
                              <m:r>
                                <a:rPr lang="en-US" i="1" sz="1799">
                                  <a:solidFill>
                                    <a:srgbClr val="111111"/>
                                  </a:solidFill>
                                  <a:latin typeface="Cambria Math"/>
                                  <a:cs typeface="Cambria Math"/>
                                </a:rPr>
                                <m:t>x</m:t>
                              </m:r>
                            </m:e>
                            <m:sub>
                              <m:r>
                                <a:rPr lang="en-US" i="1" sz="1799">
                                  <a:solidFill>
                                    <a:srgbClr val="111111"/>
                                  </a:solidFill>
                                  <a:latin typeface="Cambria Math"/>
                                  <a:cs typeface="Cambria Math"/>
                                </a:rPr>
                                <m:t>m</m:t>
                              </m:r>
                              <m:r>
                                <m:rPr>
                                  <m:sty m:val="p"/>
                                </m:rPr>
                                <a:rPr lang="en-US" i="1" sz="1799">
                                  <a:solidFill>
                                    <a:srgbClr val="111111"/>
                                  </a:solidFill>
                                  <a:latin typeface="Cambria Math"/>
                                  <a:cs typeface="Cambria Math"/>
                                </a:rPr>
                                <m:t>,</m:t>
                              </m:r>
                              <m:r>
                                <a:rPr lang="en-US" i="1" sz="1799">
                                  <a:solidFill>
                                    <a:srgbClr val="111111"/>
                                  </a:solidFill>
                                  <a:latin typeface="Cambria Math"/>
                                  <a:cs typeface="Cambria Math"/>
                                </a:rPr>
                                <m:t>1</m:t>
                              </m:r>
                              <m:r>
                                <m:rPr>
                                  <m:sty m:val="p"/>
                                </m:rPr>
                                <a:rPr lang="en-US" i="1" sz="1799">
                                  <a:solidFill>
                                    <a:srgbClr val="111111"/>
                                  </a:solidFill>
                                  <a:latin typeface="Cambria Math"/>
                                  <a:cs typeface="Cambria Math"/>
                                </a:rPr>
                                <m:t>:</m:t>
                              </m:r>
                              <m:r>
                                <a:rPr lang="en-US" i="1" sz="1799">
                                  <a:solidFill>
                                    <a:srgbClr val="111111"/>
                                  </a:solidFill>
                                  <a:latin typeface="Cambria Math"/>
                                  <a:cs typeface="Cambria Math"/>
                                </a:rPr>
                                <m:t>n</m:t>
                              </m:r>
                            </m:sub>
                          </m:sSub>
                          <m:r>
                            <m:rPr>
                              <m:sty m:val="p"/>
                            </m:rPr>
                            <a:rPr lang="en-US" i="1" sz="1799">
                              <a:solidFill>
                                <a:srgbClr val="111111"/>
                              </a:solidFill>
                              <a:latin typeface="Cambria Math"/>
                              <a:cs typeface="Cambria Math"/>
                            </a:rPr>
                            <m:t>∣</m:t>
                          </m:r>
                          <m:r>
                            <a:rPr lang="en-US" i="1" sz="1799">
                              <a:solidFill>
                                <a:srgbClr val="111111"/>
                              </a:solidFill>
                              <a:latin typeface="Cambria Math"/>
                              <a:cs typeface="Cambria Math"/>
                            </a:rPr>
                            <m:t>s</m:t>
                          </m:r>
                          <m:r>
                            <a:rPr lang="en-US" i="1" sz="1799">
                              <a:solidFill>
                                <a:srgbClr val="111111"/>
                              </a:solidFill>
                              <a:latin typeface="Cambria Math"/>
                              <a:cs typeface="Cambria Math"/>
                            </a:rPr>
                            <m:t> </m:t>
                          </m:r>
                          <m:sSub>
                            <m:e>
                              <m:r>
                                <a:rPr lang="en-US" i="1" sz="1799">
                                  <a:solidFill>
                                    <a:srgbClr val="111111"/>
                                  </a:solidFill>
                                  <a:latin typeface="Cambria Math"/>
                                  <a:cs typeface="Cambria Math"/>
                                </a:rPr>
                                <m:t>μ</m:t>
                              </m:r>
                            </m:e>
                            <m:sub>
                              <m:r>
                                <a:rPr lang="en-US" i="1" sz="1799">
                                  <a:solidFill>
                                    <a:srgbClr val="111111"/>
                                  </a:solidFill>
                                  <a:latin typeface="Cambria Math"/>
                                  <a:cs typeface="Cambria Math"/>
                                </a:rPr>
                                <m:t>m</m:t>
                              </m:r>
                              <m:r>
                                <m:rPr>
                                  <m:sty m:val="p"/>
                                </m:rPr>
                                <a:rPr lang="en-US" i="1" sz="1799">
                                  <a:solidFill>
                                    <a:srgbClr val="111111"/>
                                  </a:solidFill>
                                  <a:latin typeface="Cambria Math"/>
                                  <a:cs typeface="Cambria Math"/>
                                </a:rPr>
                                <m:t>,</m:t>
                              </m:r>
                              <m:r>
                                <a:rPr lang="en-US" i="1" sz="1799">
                                  <a:solidFill>
                                    <a:srgbClr val="111111"/>
                                  </a:solidFill>
                                  <a:latin typeface="Cambria Math"/>
                                  <a:cs typeface="Cambria Math"/>
                                </a:rPr>
                                <m:t>k</m:t>
                              </m:r>
                            </m:sub>
                          </m:sSub>
                          <m:r>
                            <m:rPr>
                              <m:sty m:val="p"/>
                            </m:rPr>
                            <a:rPr lang="en-US" i="1" sz="1799">
                              <a:solidFill>
                                <a:srgbClr val="111111"/>
                              </a:solidFill>
                              <a:latin typeface="Cambria Math"/>
                              <a:cs typeface="Cambria Math"/>
                            </a:rPr>
                            <m:t>,</m:t>
                          </m:r>
                          <m:r>
                            <a:rPr lang="en-US" i="1" sz="1799">
                              <a:solidFill>
                                <a:srgbClr val="111111"/>
                              </a:solidFill>
                              <a:latin typeface="Cambria Math"/>
                              <a:cs typeface="Cambria Math"/>
                            </a:rPr>
                            <m:t> </m:t>
                          </m:r>
                          <m:sSub>
                            <m:e>
                              <m:r>
                                <a:rPr lang="en-US" i="1" sz="1799">
                                  <a:solidFill>
                                    <a:srgbClr val="111111"/>
                                  </a:solidFill>
                                  <a:latin typeface="Cambria Math"/>
                                  <a:cs typeface="Cambria Math"/>
                                </a:rPr>
                                <m:t>Σ</m:t>
                              </m:r>
                            </m:e>
                            <m:sub>
                              <m:r>
                                <a:rPr lang="en-US" i="1" sz="1799">
                                  <a:solidFill>
                                    <a:srgbClr val="111111"/>
                                  </a:solidFill>
                                  <a:latin typeface="Cambria Math"/>
                                  <a:cs typeface="Cambria Math"/>
                                </a:rPr>
                                <m:t>m</m:t>
                              </m:r>
                              <m:r>
                                <m:rPr>
                                  <m:sty m:val="p"/>
                                </m:rPr>
                                <a:rPr lang="en-US" i="1" sz="1799">
                                  <a:solidFill>
                                    <a:srgbClr val="111111"/>
                                  </a:solidFill>
                                  <a:latin typeface="Cambria Math"/>
                                  <a:cs typeface="Cambria Math"/>
                                </a:rPr>
                                <m:t>,</m:t>
                              </m:r>
                              <m:r>
                                <a:rPr lang="en-US" i="1" sz="1799">
                                  <a:solidFill>
                                    <a:srgbClr val="111111"/>
                                  </a:solidFill>
                                  <a:latin typeface="Cambria Math"/>
                                  <a:cs typeface="Cambria Math"/>
                                </a:rPr>
                                <m:t>k</m:t>
                              </m:r>
                            </m:sub>
                          </m:sSub>
                          <m:d>
                            <m:dPr>
                              <m:begChr m:val="("/>
                              <m:endChr m:val=")"/>
                              <m:sepChr m:val=""/>
                              <m:grow/>
                            </m:dPr>
                            <m:e>
                              <m:r>
                                <a:rPr lang="en-US" i="1" sz="1799">
                                  <a:solidFill>
                                    <a:srgbClr val="111111"/>
                                  </a:solidFill>
                                  <a:latin typeface="Cambria Math"/>
                                  <a:cs typeface="Cambria Math"/>
                                </a:rPr>
                                <m:t>s</m:t>
                              </m:r>
                            </m:e>
                          </m:d>
                        </m:e>
                      </m:d>
                      <m:r>
                        <a:rPr lang="en-US" i="1" sz="1799">
                          <a:solidFill>
                            <a:srgbClr val="111111"/>
                          </a:solidFill>
                          <a:latin typeface="Cambria Math"/>
                          <a:cs typeface="Cambria Math"/>
                        </a:rPr>
                        <m:t> </m:t>
                      </m:r>
                      <m:r>
                        <a:rPr lang="en-US" i="1" sz="1799">
                          <a:solidFill>
                            <a:srgbClr val="111111"/>
                          </a:solidFill>
                          <a:latin typeface="Cambria Math"/>
                          <a:cs typeface="Cambria Math"/>
                        </a:rPr>
                        <m:t>p</m:t>
                      </m:r>
                      <m:d>
                        <m:dPr>
                          <m:begChr m:val="("/>
                          <m:endChr m:val=")"/>
                          <m:sepChr m:val=""/>
                          <m:grow/>
                        </m:dPr>
                        <m:e>
                          <m:r>
                            <a:rPr lang="en-US" i="1" sz="1799">
                              <a:solidFill>
                                <a:srgbClr val="111111"/>
                              </a:solidFill>
                              <a:latin typeface="Cambria Math"/>
                              <a:cs typeface="Cambria Math"/>
                            </a:rPr>
                            <m:t>s</m:t>
                          </m:r>
                        </m:e>
                      </m:d>
                      <m:r>
                        <a:rPr lang="en-US" i="1" sz="1799">
                          <a:solidFill>
                            <a:srgbClr val="111111"/>
                          </a:solidFill>
                          <a:latin typeface="Cambria Math"/>
                          <a:cs typeface="Cambria Math"/>
                        </a:rPr>
                        <m:t> </m:t>
                      </m:r>
                      <m:r>
                        <a:rPr lang="en-US" i="1" sz="1799">
                          <a:solidFill>
                            <a:srgbClr val="111111"/>
                          </a:solidFill>
                          <a:latin typeface="Cambria Math"/>
                          <a:cs typeface="Cambria Math"/>
                        </a:rPr>
                        <m:t>d</m:t>
                      </m:r>
                      <m:r>
                        <a:rPr lang="en-US" i="1" sz="1799">
                          <a:solidFill>
                            <a:srgbClr val="111111"/>
                          </a:solidFill>
                          <a:latin typeface="Cambria Math"/>
                          <a:cs typeface="Cambria Math"/>
                        </a:rPr>
                        <m:t>s</m:t>
                      </m:r>
                    </m:oMath>
                  </m:oMathPara>
                </a14:m>
                <a:endParaRPr lang="en-US" sz="1799"/>
              </a:p>
            </p:txBody>
          </p:sp>
        </mc:Choice>
        <mc:Fallback>
          <p:sp>
            <p:nvSpPr>
              <p:cNvPr id="5" name="Equation: likelihood" descr="LaTeX: p(x_{1:n} \mid k) = \int \prod_{m=1}^{7} \mathcal{N}\left(x_{m,1:n} \mid s\,\mu_{m,k},\;\Sigma_{m,k}(s)\right)\, p(s)\, ds"/>
              <p:cNvSpPr txBox="1">
                <a:spLocks noRot="1" noChangeAspect="1" noMove="1" noResize="1" noEditPoints="1" noAdjustHandles="1" noChangeArrowheads="1" noChangeShapeType="1" noTextEdit="1"/>
              </p:cNvSpPr>
              <p:nvPr/>
            </p:nvSpPr>
            <p:spPr>
              <a:xfrm>
                <a:off x="548640" y="3413760"/>
                <a:ext cx="5257800" cy="677099"/>
              </a:xfrm>
              <a:prstGeom prst="rect">
                <a:avLst/>
              </a:prstGeom>
              <a:blipFill>
                <a:blip r:embed="rId3"/>
                <a:stretch>
                  <a:fillRect/>
                </a:stretch>
              </a:blipFill>
            </p:spPr>
            <p:txBody>
              <a:bodyPr/>
              <a:lstStyle/>
              <a:p>
                <a:r>
                  <a:rPr lang="en-US">
                    <a:noFill/>
                  </a:rPr>
                  <a:t> </a:t>
                </a:r>
              </a:p>
            </p:txBody>
          </p:sp>
        </mc:Fallback>
      </mc:AlternateContent>
      <p:sp>
        <p:nvSpPr>
          <p:cNvPr id="6" name="Text: how"/>
          <p:cNvSpPr txBox="1"/>
          <p:nvPr/>
        </p:nvSpPr>
        <p:spPr>
          <a:xfrm>
            <a:off x="548640" y="4273739"/>
            <a:ext cx="5257800" cy="1944180"/>
          </a:xfrm>
          <a:prstGeom prst="rect">
            <a:avLst/>
          </a:prstGeom>
          <a:noFill/>
        </p:spPr>
        <p:txBody>
          <a:bodyPr wrap="square" anchor="t" lIns="18288" rIns="18288" tIns="18288" bIns="18288">
            <a:spAutoFit/>
          </a:bodyPr>
          <a:lstStyle/>
          <a:p>
            <a:pPr algn="l">
              <a:spcAft>
                <a:spcPts val="800"/>
              </a:spcAft>
            </a:pPr>
            <a:r>
              <a:rPr sz="1500" b="0" i="0">
                <a:solidFill>
                  <a:srgbClr val="111111"/>
                </a:solidFill>
                <a:latin typeface="Cambria"/>
              </a:rPr>
              <a:t>Every place is scored; nothing is fitted.</a:t>
            </a:r>
          </a:p>
          <a:p>
            <a:pPr algn="l">
              <a:spcAft>
                <a:spcPts val="800"/>
              </a:spcAft>
            </a:pPr>
            <a:r>
              <a:rPr sz="1500" b="0" i="0">
                <a:solidFill>
                  <a:srgbClr val="111111"/>
                </a:solidFill>
                <a:latin typeface="Cambria"/>
              </a:rPr>
              <a:t>Given the patient's size </a:t>
            </a:r>
            <a:r>
              <a:rPr sz="1500" b="0" i="1">
                <a:solidFill>
                  <a:srgbClr val="111111"/>
                </a:solidFill>
                <a:latin typeface="Cambria"/>
              </a:rPr>
              <a:t>s</a:t>
            </a:r>
            <a:r>
              <a:rPr sz="1500" b="0" i="0">
                <a:solidFill>
                  <a:srgbClr val="111111"/>
                </a:solidFill>
                <a:latin typeface="Cambria"/>
              </a:rPr>
              <a:t>, each measure's values are Gaussian with a diagonal-plus-rank-one covariance, inverted in closed form; </a:t>
            </a:r>
            <a:r>
              <a:rPr sz="1500" b="0" i="1">
                <a:solidFill>
                  <a:srgbClr val="111111"/>
                </a:solidFill>
                <a:latin typeface="Cambria"/>
              </a:rPr>
              <a:t>log s</a:t>
            </a:r>
            <a:r>
              <a:rPr sz="1500" b="0" i="0">
                <a:solidFill>
                  <a:srgbClr val="111111"/>
                </a:solidFill>
                <a:latin typeface="Cambria"/>
              </a:rPr>
              <a:t> ~ N(0, 0.07²) is integrated by 161-node Gauss–Hermite quadrature.</a:t>
            </a:r>
          </a:p>
          <a:p>
            <a:pPr algn="l">
              <a:spcAft>
                <a:spcPts val="800"/>
              </a:spcAft>
            </a:pPr>
            <a:r>
              <a:rPr sz="1500" b="0" i="0">
                <a:solidFill>
                  <a:srgbClr val="111111"/>
                </a:solidFill>
                <a:latin typeface="Cambria"/>
              </a:rPr>
              <a:t>So it is the Bayes rule for this generator: no formula or network on the same measures names more fields correctly on average.</a:t>
            </a:r>
          </a:p>
        </p:txBody>
      </p:sp>
      <p:pic>
        <p:nvPicPr>
          <p:cNvPr id="7" name="Figure: exact_slide_posterior" descr="Bayes' rule over every place. Top, the prior over the middle body's level; below, its posterior from one, three and nine bodies centred on T12, for the scoring column whose three-body posterior at T12 is the median of 2000. Uniform prior, so the posterior is the normalised likelihood. Synthetic columns."/>
          <p:cNvPicPr>
            <a:picLocks noChangeAspect="1"/>
          </p:cNvPicPr>
          <p:nvPr/>
        </p:nvPicPr>
        <p:blipFill>
          <a:blip r:embed="rId4"/>
          <a:stretch>
            <a:fillRect/>
          </a:stretch>
        </p:blipFill>
        <p:spPr>
          <a:xfrm>
            <a:off x="5897880" y="1371600"/>
            <a:ext cx="5760720" cy="4800600"/>
          </a:xfrm>
          <a:prstGeom prst="rect">
            <a:avLst/>
          </a:prstGeom>
        </p:spPr>
      </p:pic>
      <p:sp>
        <p:nvSpPr>
          <p:cNvPr id="8" name="Text: citation"/>
          <p:cNvSpPr txBox="1"/>
          <p:nvPr/>
        </p:nvSpPr>
        <p:spPr>
          <a:xfrm>
            <a:off x="548640" y="6327648"/>
            <a:ext cx="9692640" cy="365760"/>
          </a:xfrm>
          <a:prstGeom prst="rect">
            <a:avLst/>
          </a:prstGeom>
          <a:noFill/>
        </p:spPr>
        <p:txBody>
          <a:bodyPr wrap="square" anchor="t" lIns="18288" rIns="18288" tIns="18288" bIns="18288">
            <a:spAutoFit/>
          </a:bodyPr>
          <a:lstStyle/>
          <a:p>
            <a:pPr algn="l">
              <a:spcAft>
                <a:spcPts val="0"/>
              </a:spcAft>
            </a:pPr>
            <a:r>
              <a:rPr sz="900" b="0" i="0">
                <a:solidFill>
                  <a:srgbClr val="595959"/>
                </a:solidFill>
                <a:latin typeface="Cambria"/>
              </a:rPr>
              <a:t>Synthetic columns drawn from Panjabi's published means and spreads (Spine 1991;16:861, 888; 1992;17:299); no patient data. Retrospective modelling, 2026.</a:t>
            </a:r>
          </a:p>
        </p:txBody>
      </p:sp>
      <p:sp>
        <p:nvSpPr>
          <p:cNvPr id="9" name="Text: slide number"/>
          <p:cNvSpPr txBox="1"/>
          <p:nvPr/>
        </p:nvSpPr>
        <p:spPr>
          <a:xfrm>
            <a:off x="10725912" y="6327648"/>
            <a:ext cx="914400" cy="365760"/>
          </a:xfrm>
          <a:prstGeom prst="rect">
            <a:avLst/>
          </a:prstGeom>
          <a:noFill/>
        </p:spPr>
        <p:txBody>
          <a:bodyPr wrap="square" anchor="t" lIns="18288" rIns="18288" tIns="18288" bIns="18288">
            <a:spAutoFit/>
          </a:bodyPr>
          <a:lstStyle/>
          <a:p>
            <a:pPr algn="r">
              <a:spcAft>
                <a:spcPts val="0"/>
              </a:spcAft>
            </a:pPr>
            <a:r>
              <a:rPr sz="900" b="0" i="0">
                <a:solidFill>
                  <a:srgbClr val="595959"/>
                </a:solidFill>
                <a:latin typeface="Cambria"/>
              </a:rPr>
              <a:t>2 / 5</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74320"/>
            <a:ext cx="11091672" cy="960120"/>
          </a:xfrm>
        </p:spPr>
        <p:txBody>
          <a:bodyPr wrap="square" anchor="b"/>
          <a:lstStyle/>
          <a:p>
            <a:pPr algn="l"/>
            <a:r>
              <a:rPr sz="2800" b="1">
                <a:solidFill>
                  <a:srgbClr val="111111"/>
                </a:solidFill>
                <a:latin typeface="Cambria"/>
              </a:rPr>
              <a:t>Three bodies name 73% exactly; when sure, the name is right 99.8%</a:t>
            </a:r>
          </a:p>
        </p:txBody>
      </p:sp>
      <p:pic>
        <p:nvPicPr>
          <p:cNvPr id="3" name="Figure: exact_slide_ceiling" descr="Share of fields named exactly by the exact rule (solid) and named at posterior 0.99 (dashed), both planes, by consecutive bodies in view; crosses, a linear classifier fitted on other synthetic columns, scored on the first 1,000. 2000 synthetic columns."/>
          <p:cNvPicPr>
            <a:picLocks noChangeAspect="1"/>
          </p:cNvPicPr>
          <p:nvPr/>
        </p:nvPicPr>
        <p:blipFill>
          <a:blip r:embed="rId2"/>
          <a:stretch>
            <a:fillRect/>
          </a:stretch>
        </p:blipFill>
        <p:spPr>
          <a:xfrm>
            <a:off x="548640" y="1325880"/>
            <a:ext cx="5120640" cy="3794760"/>
          </a:xfrm>
          <a:prstGeom prst="rect">
            <a:avLst/>
          </a:prstGeom>
        </p:spPr>
      </p:pic>
      <p:pic>
        <p:nvPicPr>
          <p:cNvPr id="4" name="Figure: exact_slide_calibration" descr="The posterior is the chance of being right: error the posterior predicts against error counted, by posterior bin, one, three and nine bodies, both planes; dotted, exact agreement; a bin with no error counted sits on the floor. 2000 synthetic columns."/>
          <p:cNvPicPr>
            <a:picLocks noChangeAspect="1"/>
          </p:cNvPicPr>
          <p:nvPr/>
        </p:nvPicPr>
        <p:blipFill>
          <a:blip r:embed="rId3"/>
          <a:stretch>
            <a:fillRect/>
          </a:stretch>
        </p:blipFill>
        <p:spPr>
          <a:xfrm>
            <a:off x="5715000" y="1371600"/>
            <a:ext cx="3337560" cy="3291840"/>
          </a:xfrm>
          <a:prstGeom prst="rect">
            <a:avLst/>
          </a:prstGeom>
        </p:spPr>
      </p:pic>
      <p:sp>
        <p:nvSpPr>
          <p:cNvPr id="5" name="Text: stat three bodies"/>
          <p:cNvSpPr txBox="1"/>
          <p:nvPr/>
        </p:nvSpPr>
        <p:spPr>
          <a:xfrm>
            <a:off x="9189720" y="1371600"/>
            <a:ext cx="2450592" cy="1051560"/>
          </a:xfrm>
          <a:prstGeom prst="rect">
            <a:avLst/>
          </a:prstGeom>
          <a:noFill/>
        </p:spPr>
        <p:txBody>
          <a:bodyPr wrap="square" anchor="t" lIns="18288" rIns="18288" tIns="18288" bIns="18288">
            <a:spAutoFit/>
          </a:bodyPr>
          <a:lstStyle/>
          <a:p>
            <a:pPr algn="l">
              <a:lnSpc>
                <a:spcPct val="95000"/>
              </a:lnSpc>
              <a:spcAft>
                <a:spcPts val="100"/>
              </a:spcAft>
            </a:pPr>
            <a:r>
              <a:rPr sz="3600" b="1" i="0">
                <a:solidFill>
                  <a:srgbClr val="1B4F8C"/>
                </a:solidFill>
                <a:latin typeface="Cambria"/>
              </a:rPr>
              <a:t>73.1%</a:t>
            </a:r>
          </a:p>
          <a:p>
            <a:pPr algn="l">
              <a:lnSpc>
                <a:spcPct val="95000"/>
              </a:lnSpc>
              <a:spcAft>
                <a:spcPts val="100"/>
              </a:spcAft>
            </a:pPr>
            <a:r>
              <a:rPr sz="1400" b="0" i="0">
                <a:solidFill>
                  <a:srgbClr val="111111"/>
                </a:solidFill>
                <a:latin typeface="Cambria"/>
              </a:rPr>
              <a:t>of three-body fields named exactly (a fitted classifier: 58.2%)</a:t>
            </a:r>
          </a:p>
        </p:txBody>
      </p:sp>
      <p:sp>
        <p:nvSpPr>
          <p:cNvPr id="6" name="Text: stat precision"/>
          <p:cNvSpPr txBox="1"/>
          <p:nvPr/>
        </p:nvSpPr>
        <p:spPr>
          <a:xfrm>
            <a:off x="9189720" y="2606040"/>
            <a:ext cx="2450592" cy="1051560"/>
          </a:xfrm>
          <a:prstGeom prst="rect">
            <a:avLst/>
          </a:prstGeom>
          <a:noFill/>
        </p:spPr>
        <p:txBody>
          <a:bodyPr wrap="square" anchor="t" lIns="18288" rIns="18288" tIns="18288" bIns="18288">
            <a:spAutoFit/>
          </a:bodyPr>
          <a:lstStyle/>
          <a:p>
            <a:pPr algn="l">
              <a:lnSpc>
                <a:spcPct val="95000"/>
              </a:lnSpc>
              <a:spcAft>
                <a:spcPts val="100"/>
              </a:spcAft>
            </a:pPr>
            <a:r>
              <a:rPr sz="3600" b="1" i="0">
                <a:solidFill>
                  <a:srgbClr val="1B4F8C"/>
                </a:solidFill>
                <a:latin typeface="Cambria"/>
              </a:rPr>
              <a:t>99.78%</a:t>
            </a:r>
          </a:p>
          <a:p>
            <a:pPr algn="l">
              <a:lnSpc>
                <a:spcPct val="95000"/>
              </a:lnSpc>
              <a:spcAft>
                <a:spcPts val="100"/>
              </a:spcAft>
            </a:pPr>
            <a:r>
              <a:rPr sz="1400" b="0" i="0">
                <a:solidFill>
                  <a:srgbClr val="111111"/>
                </a:solidFill>
                <a:latin typeface="Cambria"/>
              </a:rPr>
              <a:t>of names given at posterior 0.99 right (15 wrong of 6,848)</a:t>
            </a:r>
          </a:p>
        </p:txBody>
      </p:sp>
      <p:sp>
        <p:nvSpPr>
          <p:cNvPr id="7" name="Text: stat nine bodies"/>
          <p:cNvSpPr txBox="1"/>
          <p:nvPr/>
        </p:nvSpPr>
        <p:spPr>
          <a:xfrm>
            <a:off x="9189720" y="3840480"/>
            <a:ext cx="2450592" cy="1051560"/>
          </a:xfrm>
          <a:prstGeom prst="rect">
            <a:avLst/>
          </a:prstGeom>
          <a:noFill/>
        </p:spPr>
        <p:txBody>
          <a:bodyPr wrap="square" anchor="t" lIns="18288" rIns="18288" tIns="18288" bIns="18288">
            <a:spAutoFit/>
          </a:bodyPr>
          <a:lstStyle/>
          <a:p>
            <a:pPr algn="l">
              <a:lnSpc>
                <a:spcPct val="95000"/>
              </a:lnSpc>
              <a:spcAft>
                <a:spcPts val="100"/>
              </a:spcAft>
            </a:pPr>
            <a:r>
              <a:rPr sz="3600" b="1" i="0">
                <a:solidFill>
                  <a:srgbClr val="1B4F8C"/>
                </a:solidFill>
                <a:latin typeface="Cambria"/>
              </a:rPr>
              <a:t>96.1%</a:t>
            </a:r>
          </a:p>
          <a:p>
            <a:pPr algn="l">
              <a:lnSpc>
                <a:spcPct val="95000"/>
              </a:lnSpc>
              <a:spcAft>
                <a:spcPts val="100"/>
              </a:spcAft>
            </a:pPr>
            <a:r>
              <a:rPr sz="1400" b="0" i="0">
                <a:solidFill>
                  <a:srgbClr val="111111"/>
                </a:solidFill>
                <a:latin typeface="Cambria"/>
              </a:rPr>
              <a:t>named exactly from nine bodies</a:t>
            </a:r>
          </a:p>
        </p:txBody>
      </p:sp>
      <mc:AlternateContent xmlns:mc="http://schemas.openxmlformats.org/markup-compatibility/2006">
        <mc:Choice xmlns:a14="http://schemas.microsoft.com/office/drawing/2010/main" Requires="a14">
          <p:sp>
            <p:nvSpPr>
              <p:cNvPr id="8" name="Equation: selective" descr="LaTeX: \Pr\left(\hat{k} = k \mid \hat{p} \geq 1-\varepsilon\right) = \mathbb{E}\left[\hat{p} \mid \hat{p} \geq 1-\varepsilon\right] \geq 1-\varepsilon"/>
              <p:cNvSpPr txBox="1"/>
              <p:nvPr/>
            </p:nvSpPr>
            <p:spPr>
              <a:xfrm>
                <a:off x="548640" y="5230368"/>
                <a:ext cx="4532376" cy="338328"/>
              </a:xfrm>
              <a:prstGeom prst="rect">
                <a:avLst/>
              </a:prstGeom>
              <a:noFill/>
            </p:spPr>
            <p:txBody>
              <a:bodyPr wrap="none" lIns="0" tIns="0" rIns="0" bIns="0" anchor="ctr">
                <a:noAutofit/>
              </a:bodyPr>
              <a:lstStyle/>
              <a:p>
                <a:pPr algn="l"/>
                <a14:m>
                  <m:oMathPara xmlns:m="http://schemas.openxmlformats.org/officeDocument/2006/math">
                    <m:oMathParaPr>
                      <m:jc m:val="left"/>
                    </m:oMathParaPr>
                    <m:oMath>
                      <m:r>
                        <m:rPr>
                          <m:sty m:val="p"/>
                        </m:rPr>
                        <a:rPr lang="en-US" i="1" sz="1800">
                          <a:solidFill>
                            <a:srgbClr val="111111"/>
                          </a:solidFill>
                          <a:latin typeface="Cambria Math"/>
                          <a:cs typeface="Cambria Math"/>
                        </a:rPr>
                        <m:t>Pr</m:t>
                      </m:r>
                      <m:d>
                        <m:dPr>
                          <m:begChr m:val="("/>
                          <m:endChr m:val=")"/>
                          <m:sepChr m:val=""/>
                          <m:grow/>
                        </m:dPr>
                        <m:e>
                          <m:acc>
                            <m:accPr>
                              <m:chr m:val="̂"/>
                            </m:accPr>
                            <m:e>
                              <m:r>
                                <a:rPr lang="en-US" i="1" sz="1800">
                                  <a:solidFill>
                                    <a:srgbClr val="111111"/>
                                  </a:solidFill>
                                  <a:latin typeface="Cambria Math"/>
                                  <a:cs typeface="Cambria Math"/>
                                </a:rPr>
                                <m:t>k</m:t>
                              </m:r>
                            </m:e>
                          </m:acc>
                          <m:r>
                            <m:rPr>
                              <m:sty m:val="p"/>
                            </m:rPr>
                            <a:rPr lang="en-US" i="1" sz="1800">
                              <a:solidFill>
                                <a:srgbClr val="111111"/>
                              </a:solidFill>
                              <a:latin typeface="Cambria Math"/>
                              <a:cs typeface="Cambria Math"/>
                            </a:rPr>
                            <m:t>=</m:t>
                          </m:r>
                          <m:r>
                            <a:rPr lang="en-US" i="1" sz="1800">
                              <a:solidFill>
                                <a:srgbClr val="111111"/>
                              </a:solidFill>
                              <a:latin typeface="Cambria Math"/>
                              <a:cs typeface="Cambria Math"/>
                            </a:rPr>
                            <m:t>k</m:t>
                          </m:r>
                          <m:r>
                            <m:rPr>
                              <m:sty m:val="p"/>
                            </m:rPr>
                            <a:rPr lang="en-US" i="1" sz="1800">
                              <a:solidFill>
                                <a:srgbClr val="111111"/>
                              </a:solidFill>
                              <a:latin typeface="Cambria Math"/>
                              <a:cs typeface="Cambria Math"/>
                            </a:rPr>
                            <m:t>∣</m:t>
                          </m:r>
                          <m:acc>
                            <m:accPr>
                              <m:chr m:val="̂"/>
                            </m:accPr>
                            <m:e>
                              <m:r>
                                <a:rPr lang="en-US" i="1" sz="1800">
                                  <a:solidFill>
                                    <a:srgbClr val="111111"/>
                                  </a:solidFill>
                                  <a:latin typeface="Cambria Math"/>
                                  <a:cs typeface="Cambria Math"/>
                                </a:rPr>
                                <m:t>p</m:t>
                              </m:r>
                            </m:e>
                          </m:acc>
                          <m:r>
                            <m:rPr>
                              <m:sty m:val="p"/>
                            </m:rPr>
                            <a:rPr lang="en-US" i="1" sz="1800">
                              <a:solidFill>
                                <a:srgbClr val="111111"/>
                              </a:solidFill>
                              <a:latin typeface="Cambria Math"/>
                              <a:cs typeface="Cambria Math"/>
                            </a:rPr>
                            <m:t>≥</m:t>
                          </m:r>
                          <m:r>
                            <a:rPr lang="en-US" i="1" sz="1800">
                              <a:solidFill>
                                <a:srgbClr val="111111"/>
                              </a:solidFill>
                              <a:latin typeface="Cambria Math"/>
                              <a:cs typeface="Cambria Math"/>
                            </a:rPr>
                            <m:t>1</m:t>
                          </m:r>
                          <m:r>
                            <m:rPr>
                              <m:sty m:val="p"/>
                            </m:rPr>
                            <a:rPr lang="en-US" i="1" sz="1800">
                              <a:solidFill>
                                <a:srgbClr val="111111"/>
                              </a:solidFill>
                              <a:latin typeface="Cambria Math"/>
                              <a:cs typeface="Cambria Math"/>
                            </a:rPr>
                            <m:t>−</m:t>
                          </m:r>
                          <m:r>
                            <a:rPr lang="en-US" i="1" sz="1800">
                              <a:solidFill>
                                <a:srgbClr val="111111"/>
                              </a:solidFill>
                              <a:latin typeface="Cambria Math"/>
                              <a:cs typeface="Cambria Math"/>
                            </a:rPr>
                            <m:t>ε</m:t>
                          </m:r>
                        </m:e>
                      </m:d>
                      <m:r>
                        <m:rPr>
                          <m:sty m:val="p"/>
                        </m:rPr>
                        <a:rPr lang="en-US" i="1" sz="1800">
                          <a:solidFill>
                            <a:srgbClr val="111111"/>
                          </a:solidFill>
                          <a:latin typeface="Cambria Math"/>
                          <a:cs typeface="Cambria Math"/>
                        </a:rPr>
                        <m:t>=</m:t>
                      </m:r>
                      <m:r>
                        <m:rPr>
                          <m:sty m:val="p"/>
                          <m:scr m:val="double-struck"/>
                        </m:rPr>
                        <a:rPr lang="en-US" i="1" sz="1800">
                          <a:solidFill>
                            <a:srgbClr val="111111"/>
                          </a:solidFill>
                          <a:latin typeface="Cambria Math"/>
                          <a:cs typeface="Cambria Math"/>
                        </a:rPr>
                        <m:t>E</m:t>
                      </m:r>
                      <m:d>
                        <m:dPr>
                          <m:begChr m:val="["/>
                          <m:endChr m:val="]"/>
                          <m:sepChr m:val=""/>
                          <m:grow/>
                        </m:dPr>
                        <m:e>
                          <m:acc>
                            <m:accPr>
                              <m:chr m:val="̂"/>
                            </m:accPr>
                            <m:e>
                              <m:r>
                                <a:rPr lang="en-US" i="1" sz="1800">
                                  <a:solidFill>
                                    <a:srgbClr val="111111"/>
                                  </a:solidFill>
                                  <a:latin typeface="Cambria Math"/>
                                  <a:cs typeface="Cambria Math"/>
                                </a:rPr>
                                <m:t>p</m:t>
                              </m:r>
                            </m:e>
                          </m:acc>
                          <m:r>
                            <m:rPr>
                              <m:sty m:val="p"/>
                            </m:rPr>
                            <a:rPr lang="en-US" i="1" sz="1800">
                              <a:solidFill>
                                <a:srgbClr val="111111"/>
                              </a:solidFill>
                              <a:latin typeface="Cambria Math"/>
                              <a:cs typeface="Cambria Math"/>
                            </a:rPr>
                            <m:t>∣</m:t>
                          </m:r>
                          <m:acc>
                            <m:accPr>
                              <m:chr m:val="̂"/>
                            </m:accPr>
                            <m:e>
                              <m:r>
                                <a:rPr lang="en-US" i="1" sz="1800">
                                  <a:solidFill>
                                    <a:srgbClr val="111111"/>
                                  </a:solidFill>
                                  <a:latin typeface="Cambria Math"/>
                                  <a:cs typeface="Cambria Math"/>
                                </a:rPr>
                                <m:t>p</m:t>
                              </m:r>
                            </m:e>
                          </m:acc>
                          <m:r>
                            <m:rPr>
                              <m:sty m:val="p"/>
                            </m:rPr>
                            <a:rPr lang="en-US" i="1" sz="1800">
                              <a:solidFill>
                                <a:srgbClr val="111111"/>
                              </a:solidFill>
                              <a:latin typeface="Cambria Math"/>
                              <a:cs typeface="Cambria Math"/>
                            </a:rPr>
                            <m:t>≥</m:t>
                          </m:r>
                          <m:r>
                            <a:rPr lang="en-US" i="1" sz="1800">
                              <a:solidFill>
                                <a:srgbClr val="111111"/>
                              </a:solidFill>
                              <a:latin typeface="Cambria Math"/>
                              <a:cs typeface="Cambria Math"/>
                            </a:rPr>
                            <m:t>1</m:t>
                          </m:r>
                          <m:r>
                            <m:rPr>
                              <m:sty m:val="p"/>
                            </m:rPr>
                            <a:rPr lang="en-US" i="1" sz="1800">
                              <a:solidFill>
                                <a:srgbClr val="111111"/>
                              </a:solidFill>
                              <a:latin typeface="Cambria Math"/>
                              <a:cs typeface="Cambria Math"/>
                            </a:rPr>
                            <m:t>−</m:t>
                          </m:r>
                          <m:r>
                            <a:rPr lang="en-US" i="1" sz="1800">
                              <a:solidFill>
                                <a:srgbClr val="111111"/>
                              </a:solidFill>
                              <a:latin typeface="Cambria Math"/>
                              <a:cs typeface="Cambria Math"/>
                            </a:rPr>
                            <m:t>ε</m:t>
                          </m:r>
                        </m:e>
                      </m:d>
                      <m:r>
                        <m:rPr>
                          <m:sty m:val="p"/>
                        </m:rPr>
                        <a:rPr lang="en-US" i="1" sz="1800">
                          <a:solidFill>
                            <a:srgbClr val="111111"/>
                          </a:solidFill>
                          <a:latin typeface="Cambria Math"/>
                          <a:cs typeface="Cambria Math"/>
                        </a:rPr>
                        <m:t>≥</m:t>
                      </m:r>
                      <m:r>
                        <a:rPr lang="en-US" i="1" sz="1800">
                          <a:solidFill>
                            <a:srgbClr val="111111"/>
                          </a:solidFill>
                          <a:latin typeface="Cambria Math"/>
                          <a:cs typeface="Cambria Math"/>
                        </a:rPr>
                        <m:t>1</m:t>
                      </m:r>
                      <m:r>
                        <m:rPr>
                          <m:sty m:val="p"/>
                        </m:rPr>
                        <a:rPr lang="en-US" i="1" sz="1800">
                          <a:solidFill>
                            <a:srgbClr val="111111"/>
                          </a:solidFill>
                          <a:latin typeface="Cambria Math"/>
                          <a:cs typeface="Cambria Math"/>
                        </a:rPr>
                        <m:t>−</m:t>
                      </m:r>
                      <m:r>
                        <a:rPr lang="en-US" i="1" sz="1800">
                          <a:solidFill>
                            <a:srgbClr val="111111"/>
                          </a:solidFill>
                          <a:latin typeface="Cambria Math"/>
                          <a:cs typeface="Cambria Math"/>
                        </a:rPr>
                        <m:t>ε</m:t>
                      </m:r>
                    </m:oMath>
                  </m:oMathPara>
                </a14:m>
                <a:endParaRPr lang="en-US" sz="1800"/>
              </a:p>
            </p:txBody>
          </p:sp>
        </mc:Choice>
        <mc:Fallback>
          <p:sp>
            <p:nvSpPr>
              <p:cNvPr id="8" name="Equation: selective" descr="LaTeX: \Pr\left(\hat{k} = k \mid \hat{p} \geq 1-\varepsilon\right) = \mathbb{E}\left[\hat{p} \mid \hat{p} \geq 1-\varepsilon\right] \geq 1-\varepsilon"/>
              <p:cNvSpPr txBox="1">
                <a:spLocks noRot="1" noChangeAspect="1" noMove="1" noResize="1" noEditPoints="1" noAdjustHandles="1" noChangeArrowheads="1" noChangeShapeType="1" noTextEdit="1"/>
              </p:cNvSpPr>
              <p:nvPr/>
            </p:nvSpPr>
            <p:spPr>
              <a:xfrm>
                <a:off x="548640" y="5230368"/>
                <a:ext cx="4532376" cy="338328"/>
              </a:xfrm>
              <a:prstGeom prst="rect">
                <a:avLst/>
              </a:prstGeom>
              <a:blipFill>
                <a:blip r:embed="rId4"/>
                <a:stretch>
                  <a:fillRect/>
                </a:stretch>
              </a:blipFill>
            </p:spPr>
            <p:txBody>
              <a:bodyPr/>
              <a:lstStyle/>
              <a:p>
                <a:r>
                  <a:rPr lang="en-US">
                    <a:noFill/>
                  </a:rPr>
                  <a:t> </a:t>
                </a:r>
              </a:p>
            </p:txBody>
          </p:sp>
        </mc:Fallback>
      </mc:AlternateContent>
      <p:sp>
        <p:nvSpPr>
          <p:cNvPr id="9" name="Text: guarantee"/>
          <p:cNvSpPr txBox="1"/>
          <p:nvPr/>
        </p:nvSpPr>
        <p:spPr>
          <a:xfrm>
            <a:off x="6812280" y="5120640"/>
            <a:ext cx="4828032" cy="1097280"/>
          </a:xfrm>
          <a:prstGeom prst="rect">
            <a:avLst/>
          </a:prstGeom>
          <a:noFill/>
        </p:spPr>
        <p:txBody>
          <a:bodyPr wrap="square" anchor="t" lIns="18288" rIns="18288" tIns="18288" bIns="18288">
            <a:spAutoFit/>
          </a:bodyPr>
          <a:lstStyle/>
          <a:p>
            <a:pPr algn="l">
              <a:spcAft>
                <a:spcPts val="600"/>
              </a:spcAft>
            </a:pPr>
            <a:r>
              <a:rPr sz="1400" b="0" i="0">
                <a:solidFill>
                  <a:srgbClr val="111111"/>
                </a:solidFill>
                <a:latin typeface="Cambria"/>
              </a:rPr>
              <a:t>Answer only when the posterior </a:t>
            </a:r>
            <a:r>
              <a:rPr sz="1400" b="0" i="1">
                <a:solidFill>
                  <a:srgbClr val="111111"/>
                </a:solidFill>
                <a:latin typeface="Cambria"/>
              </a:rPr>
              <a:t>p̂</a:t>
            </a:r>
            <a:r>
              <a:rPr sz="1400" b="0" i="0">
                <a:solidFill>
                  <a:srgbClr val="111111"/>
                </a:solidFill>
                <a:latin typeface="Cambria"/>
              </a:rPr>
              <a:t> reaches 0.99, and the name is right at least 99% of the times it is given, while the generator is the truth.</a:t>
            </a:r>
          </a:p>
        </p:txBody>
      </p:sp>
      <p:sp>
        <p:nvSpPr>
          <p:cNvPr id="10" name="Text: citation"/>
          <p:cNvSpPr txBox="1"/>
          <p:nvPr/>
        </p:nvSpPr>
        <p:spPr>
          <a:xfrm>
            <a:off x="548640" y="6327648"/>
            <a:ext cx="9692640" cy="365760"/>
          </a:xfrm>
          <a:prstGeom prst="rect">
            <a:avLst/>
          </a:prstGeom>
          <a:noFill/>
        </p:spPr>
        <p:txBody>
          <a:bodyPr wrap="square" anchor="t" lIns="18288" rIns="18288" tIns="18288" bIns="18288">
            <a:spAutoFit/>
          </a:bodyPr>
          <a:lstStyle/>
          <a:p>
            <a:pPr algn="l">
              <a:spcAft>
                <a:spcPts val="0"/>
              </a:spcAft>
            </a:pPr>
            <a:r>
              <a:rPr sz="900" b="0" i="0">
                <a:solidFill>
                  <a:srgbClr val="595959"/>
                </a:solidFill>
                <a:latin typeface="Cambria"/>
              </a:rPr>
              <a:t>Synthetic columns drawn from Panjabi's published means and spreads (Spine 1991;16:861, 888; 1992;17:299); no patient data. Retrospective modelling, 2026.</a:t>
            </a:r>
          </a:p>
        </p:txBody>
      </p:sp>
      <p:sp>
        <p:nvSpPr>
          <p:cNvPr id="11" name="Text: slide number"/>
          <p:cNvSpPr txBox="1"/>
          <p:nvPr/>
        </p:nvSpPr>
        <p:spPr>
          <a:xfrm>
            <a:off x="10725912" y="6327648"/>
            <a:ext cx="914400" cy="365760"/>
          </a:xfrm>
          <a:prstGeom prst="rect">
            <a:avLst/>
          </a:prstGeom>
          <a:noFill/>
        </p:spPr>
        <p:txBody>
          <a:bodyPr wrap="square" anchor="t" lIns="18288" rIns="18288" tIns="18288" bIns="18288">
            <a:spAutoFit/>
          </a:bodyPr>
          <a:lstStyle/>
          <a:p>
            <a:pPr algn="r">
              <a:spcAft>
                <a:spcPts val="0"/>
              </a:spcAft>
            </a:pPr>
            <a:r>
              <a:rPr sz="900" b="0" i="0">
                <a:solidFill>
                  <a:srgbClr val="595959"/>
                </a:solidFill>
                <a:latin typeface="Cambria"/>
              </a:rPr>
              <a:t>3 / 5</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74320"/>
            <a:ext cx="11091672" cy="960120"/>
          </a:xfrm>
        </p:spPr>
        <p:txBody>
          <a:bodyPr wrap="square" anchor="b"/>
          <a:lstStyle/>
          <a:p>
            <a:pPr algn="l"/>
            <a:r>
              <a:rPr sz="2800" b="1">
                <a:solidFill>
                  <a:srgbClr val="111111"/>
                </a:solidFill>
                <a:latin typeface="Cambria"/>
              </a:rPr>
              <a:t>One body tells its region and its side of C7/T1, rarely of T12/L1</a:t>
            </a:r>
          </a:p>
        </p:txBody>
      </p:sp>
      <p:pic>
        <p:nvPicPr>
          <p:cNvPr id="3" name="Figure: exact_slide_claims" descr="What a field says for certain about its middle body: at each border, the share of fields whose middle body lies within two levels of it that say which side at probability 0.99, by bodies in view, both planes. 2000 synthetic columns."/>
          <p:cNvPicPr>
            <a:picLocks noChangeAspect="1"/>
          </p:cNvPicPr>
          <p:nvPr/>
        </p:nvPicPr>
        <p:blipFill>
          <a:blip r:embed="rId2"/>
          <a:stretch>
            <a:fillRect/>
          </a:stretch>
        </p:blipFill>
        <p:spPr>
          <a:xfrm>
            <a:off x="548640" y="1325880"/>
            <a:ext cx="4983480" cy="4846320"/>
          </a:xfrm>
          <a:prstGeom prst="rect">
            <a:avLst/>
          </a:prstGeom>
        </p:spPr>
      </p:pic>
      <mc:AlternateContent xmlns:mc="http://schemas.openxmlformats.org/markup-compatibility/2006">
        <mc:Choice xmlns:a14="http://schemas.microsoft.com/office/drawing/2010/main" Requires="a14">
          <p:sp>
            <p:nvSpPr>
              <p:cNvPr id="4" name="Equation: claim" descr="LaTeX: \Pr(\ell \geq c \mid x_{1:n}) = \sum_{j \geq c} p(\ell = j \mid x_{1:n}) \geq 0.99"/>
              <p:cNvSpPr txBox="1"/>
              <p:nvPr/>
            </p:nvSpPr>
            <p:spPr>
              <a:xfrm>
                <a:off x="5715000" y="1463040"/>
                <a:ext cx="4123944" cy="560832"/>
              </a:xfrm>
              <a:prstGeom prst="rect">
                <a:avLst/>
              </a:prstGeom>
              <a:noFill/>
            </p:spPr>
            <p:txBody>
              <a:bodyPr wrap="none" lIns="0" tIns="0" rIns="0" bIns="0" anchor="ctr">
                <a:noAutofit/>
              </a:bodyPr>
              <a:lstStyle/>
              <a:p>
                <a:pPr algn="l"/>
                <a14:m>
                  <m:oMathPara xmlns:m="http://schemas.openxmlformats.org/officeDocument/2006/math">
                    <m:oMathParaPr>
                      <m:jc m:val="left"/>
                    </m:oMathParaPr>
                    <m:oMath>
                      <m:r>
                        <m:rPr>
                          <m:sty m:val="p"/>
                        </m:rPr>
                        <a:rPr lang="en-US" i="1" sz="1800">
                          <a:solidFill>
                            <a:srgbClr val="111111"/>
                          </a:solidFill>
                          <a:latin typeface="Cambria Math"/>
                          <a:cs typeface="Cambria Math"/>
                        </a:rPr>
                        <m:t>Pr</m:t>
                      </m:r>
                      <m:d>
                        <m:dPr>
                          <m:begChr m:val="("/>
                          <m:endChr m:val=")"/>
                          <m:sepChr m:val=""/>
                          <m:grow/>
                        </m:dPr>
                        <m:e>
                          <m:r>
                            <m:rPr>
                              <m:sty m:val="p"/>
                            </m:rPr>
                            <a:rPr lang="en-US" i="1" sz="1800">
                              <a:solidFill>
                                <a:srgbClr val="111111"/>
                              </a:solidFill>
                              <a:latin typeface="Cambria Math"/>
                              <a:cs typeface="Cambria Math"/>
                            </a:rPr>
                            <m:t>ℓ</m:t>
                          </m:r>
                          <m:r>
                            <m:rPr>
                              <m:sty m:val="p"/>
                            </m:rPr>
                            <a:rPr lang="en-US" i="1" sz="1800">
                              <a:solidFill>
                                <a:srgbClr val="111111"/>
                              </a:solidFill>
                              <a:latin typeface="Cambria Math"/>
                              <a:cs typeface="Cambria Math"/>
                            </a:rPr>
                            <m:t>≥</m:t>
                          </m:r>
                          <m:r>
                            <a:rPr lang="en-US" i="1" sz="1800">
                              <a:solidFill>
                                <a:srgbClr val="111111"/>
                              </a:solidFill>
                              <a:latin typeface="Cambria Math"/>
                              <a:cs typeface="Cambria Math"/>
                            </a:rPr>
                            <m:t>c</m:t>
                          </m:r>
                          <m:r>
                            <m:rPr>
                              <m:sty m:val="p"/>
                            </m:rPr>
                            <a:rPr lang="en-US" i="1" sz="1800">
                              <a:solidFill>
                                <a:srgbClr val="111111"/>
                              </a:solidFill>
                              <a:latin typeface="Cambria Math"/>
                              <a:cs typeface="Cambria Math"/>
                            </a:rPr>
                            <m:t>∣</m:t>
                          </m:r>
                          <m:sSub>
                            <m:e>
                              <m:r>
                                <a:rPr lang="en-US" i="1" sz="1800">
                                  <a:solidFill>
                                    <a:srgbClr val="111111"/>
                                  </a:solidFill>
                                  <a:latin typeface="Cambria Math"/>
                                  <a:cs typeface="Cambria Math"/>
                                </a:rPr>
                                <m:t>x</m:t>
                              </m:r>
                            </m:e>
                            <m:sub>
                              <m:r>
                                <a:rPr lang="en-US" i="1" sz="1800">
                                  <a:solidFill>
                                    <a:srgbClr val="111111"/>
                                  </a:solidFill>
                                  <a:latin typeface="Cambria Math"/>
                                  <a:cs typeface="Cambria Math"/>
                                </a:rPr>
                                <m:t>1</m:t>
                              </m:r>
                              <m:r>
                                <m:rPr>
                                  <m:sty m:val="p"/>
                                </m:rPr>
                                <a:rPr lang="en-US" i="1" sz="1800">
                                  <a:solidFill>
                                    <a:srgbClr val="111111"/>
                                  </a:solidFill>
                                  <a:latin typeface="Cambria Math"/>
                                  <a:cs typeface="Cambria Math"/>
                                </a:rPr>
                                <m:t>:</m:t>
                              </m:r>
                              <m:r>
                                <a:rPr lang="en-US" i="1" sz="1800">
                                  <a:solidFill>
                                    <a:srgbClr val="111111"/>
                                  </a:solidFill>
                                  <a:latin typeface="Cambria Math"/>
                                  <a:cs typeface="Cambria Math"/>
                                </a:rPr>
                                <m:t>n</m:t>
                              </m:r>
                            </m:sub>
                          </m:sSub>
                        </m:e>
                      </m:d>
                      <m:r>
                        <m:rPr>
                          <m:sty m:val="p"/>
                        </m:rPr>
                        <a:rPr lang="en-US" i="1" sz="1800">
                          <a:solidFill>
                            <a:srgbClr val="111111"/>
                          </a:solidFill>
                          <a:latin typeface="Cambria Math"/>
                          <a:cs typeface="Cambria Math"/>
                        </a:rPr>
                        <m:t>=</m:t>
                      </m:r>
                      <m:nary>
                        <m:naryPr>
                          <m:chr m:val="∑"/>
                          <m:limLoc m:val="undOvr"/>
                          <m:subHide m:val="off"/>
                          <m:supHide m:val="on"/>
                        </m:naryPr>
                        <m:sub>
                          <m:r>
                            <a:rPr lang="en-US" i="1" sz="1800">
                              <a:solidFill>
                                <a:srgbClr val="111111"/>
                              </a:solidFill>
                              <a:latin typeface="Cambria Math"/>
                              <a:cs typeface="Cambria Math"/>
                            </a:rPr>
                            <m:t>j</m:t>
                          </m:r>
                          <m:r>
                            <m:rPr>
                              <m:sty m:val="p"/>
                            </m:rPr>
                            <a:rPr lang="en-US" i="1" sz="1800">
                              <a:solidFill>
                                <a:srgbClr val="111111"/>
                              </a:solidFill>
                              <a:latin typeface="Cambria Math"/>
                              <a:cs typeface="Cambria Math"/>
                            </a:rPr>
                            <m:t>≥</m:t>
                          </m:r>
                          <m:r>
                            <a:rPr lang="en-US" i="1" sz="1800">
                              <a:solidFill>
                                <a:srgbClr val="111111"/>
                              </a:solidFill>
                              <a:latin typeface="Cambria Math"/>
                              <a:cs typeface="Cambria Math"/>
                            </a:rPr>
                            <m:t>c</m:t>
                          </m:r>
                        </m:sub>
                        <m:sup>
                          <m:r>
                            <a:rPr lang="en-US" i="1" sz="1800">
                              <a:solidFill>
                                <a:srgbClr val="111111"/>
                              </a:solidFill>
                              <a:latin typeface="Cambria Math"/>
                              <a:cs typeface="Cambria Math"/>
                            </a:rPr>
                            <m:t>​</m:t>
                          </m:r>
                        </m:sup>
                        <m:e>
                          <m:r>
                            <a:rPr lang="en-US" i="1" sz="1800">
                              <a:solidFill>
                                <a:srgbClr val="111111"/>
                              </a:solidFill>
                              <a:latin typeface="Cambria Math"/>
                              <a:cs typeface="Cambria Math"/>
                            </a:rPr>
                            <m:t>p</m:t>
                          </m:r>
                        </m:e>
                      </m:nary>
                      <m:d>
                        <m:dPr>
                          <m:begChr m:val="("/>
                          <m:endChr m:val=")"/>
                          <m:sepChr m:val=""/>
                          <m:grow/>
                        </m:dPr>
                        <m:e>
                          <m:r>
                            <m:rPr>
                              <m:sty m:val="p"/>
                            </m:rPr>
                            <a:rPr lang="en-US" i="1" sz="1800">
                              <a:solidFill>
                                <a:srgbClr val="111111"/>
                              </a:solidFill>
                              <a:latin typeface="Cambria Math"/>
                              <a:cs typeface="Cambria Math"/>
                            </a:rPr>
                            <m:t>ℓ</m:t>
                          </m:r>
                          <m:r>
                            <m:rPr>
                              <m:sty m:val="p"/>
                            </m:rPr>
                            <a:rPr lang="en-US" i="1" sz="1800">
                              <a:solidFill>
                                <a:srgbClr val="111111"/>
                              </a:solidFill>
                              <a:latin typeface="Cambria Math"/>
                              <a:cs typeface="Cambria Math"/>
                            </a:rPr>
                            <m:t>=</m:t>
                          </m:r>
                          <m:r>
                            <a:rPr lang="en-US" i="1" sz="1800">
                              <a:solidFill>
                                <a:srgbClr val="111111"/>
                              </a:solidFill>
                              <a:latin typeface="Cambria Math"/>
                              <a:cs typeface="Cambria Math"/>
                            </a:rPr>
                            <m:t>j</m:t>
                          </m:r>
                          <m:r>
                            <m:rPr>
                              <m:sty m:val="p"/>
                            </m:rPr>
                            <a:rPr lang="en-US" i="1" sz="1800">
                              <a:solidFill>
                                <a:srgbClr val="111111"/>
                              </a:solidFill>
                              <a:latin typeface="Cambria Math"/>
                              <a:cs typeface="Cambria Math"/>
                            </a:rPr>
                            <m:t>∣</m:t>
                          </m:r>
                          <m:sSub>
                            <m:e>
                              <m:r>
                                <a:rPr lang="en-US" i="1" sz="1800">
                                  <a:solidFill>
                                    <a:srgbClr val="111111"/>
                                  </a:solidFill>
                                  <a:latin typeface="Cambria Math"/>
                                  <a:cs typeface="Cambria Math"/>
                                </a:rPr>
                                <m:t>x</m:t>
                              </m:r>
                            </m:e>
                            <m:sub>
                              <m:r>
                                <a:rPr lang="en-US" i="1" sz="1800">
                                  <a:solidFill>
                                    <a:srgbClr val="111111"/>
                                  </a:solidFill>
                                  <a:latin typeface="Cambria Math"/>
                                  <a:cs typeface="Cambria Math"/>
                                </a:rPr>
                                <m:t>1</m:t>
                              </m:r>
                              <m:r>
                                <m:rPr>
                                  <m:sty m:val="p"/>
                                </m:rPr>
                                <a:rPr lang="en-US" i="1" sz="1800">
                                  <a:solidFill>
                                    <a:srgbClr val="111111"/>
                                  </a:solidFill>
                                  <a:latin typeface="Cambria Math"/>
                                  <a:cs typeface="Cambria Math"/>
                                </a:rPr>
                                <m:t>:</m:t>
                              </m:r>
                              <m:r>
                                <a:rPr lang="en-US" i="1" sz="1800">
                                  <a:solidFill>
                                    <a:srgbClr val="111111"/>
                                  </a:solidFill>
                                  <a:latin typeface="Cambria Math"/>
                                  <a:cs typeface="Cambria Math"/>
                                </a:rPr>
                                <m:t>n</m:t>
                              </m:r>
                            </m:sub>
                          </m:sSub>
                        </m:e>
                      </m:d>
                      <m:r>
                        <m:rPr>
                          <m:sty m:val="p"/>
                        </m:rPr>
                        <a:rPr lang="en-US" i="1" sz="1800">
                          <a:solidFill>
                            <a:srgbClr val="111111"/>
                          </a:solidFill>
                          <a:latin typeface="Cambria Math"/>
                          <a:cs typeface="Cambria Math"/>
                        </a:rPr>
                        <m:t>≥</m:t>
                      </m:r>
                      <m:r>
                        <a:rPr lang="en-US" i="1" sz="1800">
                          <a:solidFill>
                            <a:srgbClr val="111111"/>
                          </a:solidFill>
                          <a:latin typeface="Cambria Math"/>
                          <a:cs typeface="Cambria Math"/>
                        </a:rPr>
                        <m:t>0.99</m:t>
                      </m:r>
                    </m:oMath>
                  </m:oMathPara>
                </a14:m>
                <a:endParaRPr lang="en-US" sz="1800"/>
              </a:p>
            </p:txBody>
          </p:sp>
        </mc:Choice>
        <mc:Fallback>
          <p:sp>
            <p:nvSpPr>
              <p:cNvPr id="4" name="Equation: claim" descr="LaTeX: \Pr(\ell \geq c \mid x_{1:n}) = \sum_{j \geq c} p(\ell = j \mid x_{1:n}) \geq 0.99"/>
              <p:cNvSpPr txBox="1">
                <a:spLocks noRot="1" noChangeAspect="1" noMove="1" noResize="1" noEditPoints="1" noAdjustHandles="1" noChangeArrowheads="1" noChangeShapeType="1" noTextEdit="1"/>
              </p:cNvSpPr>
              <p:nvPr/>
            </p:nvSpPr>
            <p:spPr>
              <a:xfrm>
                <a:off x="5715000" y="1463040"/>
                <a:ext cx="4123944" cy="560832"/>
              </a:xfrm>
              <a:prstGeom prst="rect">
                <a:avLst/>
              </a:prstGeom>
              <a:blipFill>
                <a:blip r:embed="rId3"/>
                <a:stretch>
                  <a:fillRect/>
                </a:stretch>
              </a:blipFill>
            </p:spPr>
            <p:txBody>
              <a:bodyPr/>
              <a:lstStyle/>
              <a:p>
                <a:r>
                  <a:rPr lang="en-US">
                    <a:noFill/>
                  </a:rPr>
                  <a:t> </a:t>
                </a:r>
              </a:p>
            </p:txBody>
          </p:sp>
        </mc:Fallback>
      </mc:AlternateContent>
      <p:sp>
        <p:nvSpPr>
          <p:cNvPr id="5" name="Text: claim rule"/>
          <p:cNvSpPr txBox="1"/>
          <p:nvPr/>
        </p:nvSpPr>
        <p:spPr>
          <a:xfrm>
            <a:off x="5715000" y="2057400"/>
            <a:ext cx="5925312" cy="731520"/>
          </a:xfrm>
          <a:prstGeom prst="rect">
            <a:avLst/>
          </a:prstGeom>
          <a:noFill/>
        </p:spPr>
        <p:txBody>
          <a:bodyPr wrap="square" anchor="t" lIns="18288" rIns="18288" tIns="18288" bIns="18288">
            <a:spAutoFit/>
          </a:bodyPr>
          <a:lstStyle/>
          <a:p>
            <a:pPr algn="l">
              <a:spcAft>
                <a:spcPts val="600"/>
              </a:spcAft>
            </a:pPr>
            <a:r>
              <a:rPr sz="1400" b="0" i="0">
                <a:solidFill>
                  <a:srgbClr val="111111"/>
                </a:solidFill>
                <a:latin typeface="Cambria"/>
              </a:rPr>
              <a:t>A border claim sums the same posterior, so a claim made at 0.99 is right at least 99% of the times it is made.</a:t>
            </a:r>
          </a:p>
        </p:txBody>
      </p:sp>
      <p:sp>
        <p:nvSpPr>
          <p:cNvPr id="6" name="Text: stat C7/T1"/>
          <p:cNvSpPr txBox="1"/>
          <p:nvPr/>
        </p:nvSpPr>
        <p:spPr>
          <a:xfrm>
            <a:off x="5715000" y="2926080"/>
            <a:ext cx="2834640" cy="1371600"/>
          </a:xfrm>
          <a:prstGeom prst="rect">
            <a:avLst/>
          </a:prstGeom>
          <a:noFill/>
        </p:spPr>
        <p:txBody>
          <a:bodyPr wrap="square" anchor="t" lIns="18288" rIns="18288" tIns="18288" bIns="18288">
            <a:spAutoFit/>
          </a:bodyPr>
          <a:lstStyle/>
          <a:p>
            <a:pPr algn="l">
              <a:lnSpc>
                <a:spcPct val="95000"/>
              </a:lnSpc>
              <a:spcAft>
                <a:spcPts val="100"/>
              </a:spcAft>
            </a:pPr>
            <a:r>
              <a:rPr sz="3600" b="1" i="0">
                <a:solidFill>
                  <a:srgbClr val="1B4F8C"/>
                </a:solidFill>
                <a:latin typeface="Cambria"/>
              </a:rPr>
              <a:t>56%</a:t>
            </a:r>
          </a:p>
          <a:p>
            <a:pPr algn="l">
              <a:lnSpc>
                <a:spcPct val="95000"/>
              </a:lnSpc>
              <a:spcAft>
                <a:spcPts val="100"/>
              </a:spcAft>
            </a:pPr>
            <a:r>
              <a:rPr sz="1400" b="0" i="0">
                <a:solidFill>
                  <a:srgbClr val="111111"/>
                </a:solidFill>
                <a:latin typeface="Cambria"/>
              </a:rPr>
              <a:t>of single bodies within two levels of C7/T1 say which side; right 99.84% (7 wrong of 4,514)</a:t>
            </a:r>
          </a:p>
        </p:txBody>
      </p:sp>
      <p:sp>
        <p:nvSpPr>
          <p:cNvPr id="7" name="Text: stat T12/L1"/>
          <p:cNvSpPr txBox="1"/>
          <p:nvPr/>
        </p:nvSpPr>
        <p:spPr>
          <a:xfrm>
            <a:off x="8805672" y="2926080"/>
            <a:ext cx="2834640" cy="1371600"/>
          </a:xfrm>
          <a:prstGeom prst="rect">
            <a:avLst/>
          </a:prstGeom>
          <a:noFill/>
        </p:spPr>
        <p:txBody>
          <a:bodyPr wrap="square" anchor="t" lIns="18288" rIns="18288" tIns="18288" bIns="18288">
            <a:spAutoFit/>
          </a:bodyPr>
          <a:lstStyle/>
          <a:p>
            <a:pPr algn="l">
              <a:lnSpc>
                <a:spcPct val="95000"/>
              </a:lnSpc>
              <a:spcAft>
                <a:spcPts val="100"/>
              </a:spcAft>
            </a:pPr>
            <a:r>
              <a:rPr sz="3600" b="1" i="0">
                <a:solidFill>
                  <a:srgbClr val="A4262C"/>
                </a:solidFill>
                <a:latin typeface="Cambria"/>
              </a:rPr>
              <a:t>7%</a:t>
            </a:r>
          </a:p>
          <a:p>
            <a:pPr algn="l">
              <a:lnSpc>
                <a:spcPct val="95000"/>
              </a:lnSpc>
              <a:spcAft>
                <a:spcPts val="100"/>
              </a:spcAft>
            </a:pPr>
            <a:r>
              <a:rPr sz="1400" b="0" i="0">
                <a:solidFill>
                  <a:srgbClr val="111111"/>
                </a:solidFill>
                <a:latin typeface="Cambria"/>
              </a:rPr>
              <a:t>at T12/L1, right 97.9% (12 wrong of 568): not near-certain</a:t>
            </a:r>
          </a:p>
        </p:txBody>
      </p:sp>
      <p:sp>
        <p:nvSpPr>
          <p:cNvPr id="8" name="Text: stat region"/>
          <p:cNvSpPr txBox="1"/>
          <p:nvPr/>
        </p:nvSpPr>
        <p:spPr>
          <a:xfrm>
            <a:off x="5715000" y="4434840"/>
            <a:ext cx="2834640" cy="1371600"/>
          </a:xfrm>
          <a:prstGeom prst="rect">
            <a:avLst/>
          </a:prstGeom>
          <a:noFill/>
        </p:spPr>
        <p:txBody>
          <a:bodyPr wrap="square" anchor="t" lIns="18288" rIns="18288" tIns="18288" bIns="18288">
            <a:spAutoFit/>
          </a:bodyPr>
          <a:lstStyle/>
          <a:p>
            <a:pPr algn="l">
              <a:lnSpc>
                <a:spcPct val="95000"/>
              </a:lnSpc>
              <a:spcAft>
                <a:spcPts val="100"/>
              </a:spcAft>
            </a:pPr>
            <a:r>
              <a:rPr sz="3600" b="1" i="0">
                <a:solidFill>
                  <a:srgbClr val="1B4F8C"/>
                </a:solidFill>
                <a:latin typeface="Cambria"/>
              </a:rPr>
              <a:t>61%</a:t>
            </a:r>
          </a:p>
          <a:p>
            <a:pPr algn="l">
              <a:lnSpc>
                <a:spcPct val="95000"/>
              </a:lnSpc>
              <a:spcAft>
                <a:spcPts val="100"/>
              </a:spcAft>
            </a:pPr>
            <a:r>
              <a:rPr sz="1400" b="0" i="0">
                <a:solidFill>
                  <a:srgbClr val="111111"/>
                </a:solidFill>
                <a:latin typeface="Cambria"/>
              </a:rPr>
              <a:t>of single bodies say their region; right 99.92% (21 wrong of 26,786), only 2 of them far from both junctions</a:t>
            </a:r>
          </a:p>
        </p:txBody>
      </p:sp>
      <p:sp>
        <p:nvSpPr>
          <p:cNvPr id="9" name="Text: stat nine bodies"/>
          <p:cNvSpPr txBox="1"/>
          <p:nvPr/>
        </p:nvSpPr>
        <p:spPr>
          <a:xfrm>
            <a:off x="8805672" y="4434840"/>
            <a:ext cx="2834640" cy="1371600"/>
          </a:xfrm>
          <a:prstGeom prst="rect">
            <a:avLst/>
          </a:prstGeom>
          <a:noFill/>
        </p:spPr>
        <p:txBody>
          <a:bodyPr wrap="square" anchor="t" lIns="18288" rIns="18288" tIns="18288" bIns="18288">
            <a:spAutoFit/>
          </a:bodyPr>
          <a:lstStyle/>
          <a:p>
            <a:pPr algn="l">
              <a:lnSpc>
                <a:spcPct val="95000"/>
              </a:lnSpc>
              <a:spcAft>
                <a:spcPts val="100"/>
              </a:spcAft>
            </a:pPr>
            <a:r>
              <a:rPr sz="3600" b="1" i="0">
                <a:solidFill>
                  <a:srgbClr val="1B4F8C"/>
                </a:solidFill>
                <a:latin typeface="Cambria"/>
              </a:rPr>
              <a:t>88%</a:t>
            </a:r>
          </a:p>
          <a:p>
            <a:pPr algn="l">
              <a:lnSpc>
                <a:spcPct val="95000"/>
              </a:lnSpc>
              <a:spcAft>
                <a:spcPts val="100"/>
              </a:spcAft>
            </a:pPr>
            <a:r>
              <a:rPr sz="1400" b="0" i="0">
                <a:solidFill>
                  <a:srgbClr val="111111"/>
                </a:solidFill>
                <a:latin typeface="Cambria"/>
              </a:rPr>
              <a:t>near T12/L1 say which side from nine bodies (1 wrong of 5,279)</a:t>
            </a:r>
          </a:p>
        </p:txBody>
      </p:sp>
      <p:sp>
        <p:nvSpPr>
          <p:cNvPr id="10" name="Text: citation"/>
          <p:cNvSpPr txBox="1"/>
          <p:nvPr/>
        </p:nvSpPr>
        <p:spPr>
          <a:xfrm>
            <a:off x="548640" y="6327648"/>
            <a:ext cx="9692640" cy="365760"/>
          </a:xfrm>
          <a:prstGeom prst="rect">
            <a:avLst/>
          </a:prstGeom>
          <a:noFill/>
        </p:spPr>
        <p:txBody>
          <a:bodyPr wrap="square" anchor="t" lIns="18288" rIns="18288" tIns="18288" bIns="18288">
            <a:spAutoFit/>
          </a:bodyPr>
          <a:lstStyle/>
          <a:p>
            <a:pPr algn="l">
              <a:spcAft>
                <a:spcPts val="0"/>
              </a:spcAft>
            </a:pPr>
            <a:r>
              <a:rPr sz="900" b="0" i="0">
                <a:solidFill>
                  <a:srgbClr val="595959"/>
                </a:solidFill>
                <a:latin typeface="Cambria"/>
              </a:rPr>
              <a:t>Synthetic columns drawn from Panjabi's published means and spreads (Spine 1991;16:861, 888; 1992;17:299); no patient data. Retrospective modelling, 2026.</a:t>
            </a:r>
          </a:p>
        </p:txBody>
      </p:sp>
      <p:sp>
        <p:nvSpPr>
          <p:cNvPr id="11" name="Text: slide number"/>
          <p:cNvSpPr txBox="1"/>
          <p:nvPr/>
        </p:nvSpPr>
        <p:spPr>
          <a:xfrm>
            <a:off x="10725912" y="6327648"/>
            <a:ext cx="914400" cy="365760"/>
          </a:xfrm>
          <a:prstGeom prst="rect">
            <a:avLst/>
          </a:prstGeom>
          <a:noFill/>
        </p:spPr>
        <p:txBody>
          <a:bodyPr wrap="square" anchor="t" lIns="18288" rIns="18288" tIns="18288" bIns="18288">
            <a:spAutoFit/>
          </a:bodyPr>
          <a:lstStyle/>
          <a:p>
            <a:pPr algn="r">
              <a:spcAft>
                <a:spcPts val="0"/>
              </a:spcAft>
            </a:pPr>
            <a:r>
              <a:rPr sz="900" b="0" i="0">
                <a:solidFill>
                  <a:srgbClr val="595959"/>
                </a:solidFill>
                <a:latin typeface="Cambria"/>
              </a:rPr>
              <a:t>4 / 5</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74320"/>
            <a:ext cx="11091672" cy="960120"/>
          </a:xfrm>
        </p:spPr>
        <p:txBody>
          <a:bodyPr wrap="square" anchor="b"/>
          <a:lstStyle/>
          <a:p>
            <a:pPr algn="l"/>
            <a:r>
              <a:rPr sz="2800" b="1">
                <a:solidFill>
                  <a:srgbClr val="111111"/>
                </a:solidFill>
                <a:latin typeface="Cambria"/>
              </a:rPr>
              <a:t>The weak point is the table, not the mathematics</a:t>
            </a:r>
          </a:p>
        </p:txBody>
      </p:sp>
      <p:pic>
        <p:nvPicPr>
          <p:cNvPr id="3" name="Figure: exact_slide_robust" descr="When the table or error model is wrong, three bodies, both planes: the name's precision at posterior 0.99 (A) and the share named (B), for the printed table and for spreads widened by the root of 13/12 with 2 mm error. Bars, two standard errors; dotted, 99 per cent."/>
          <p:cNvPicPr>
            <a:picLocks noChangeAspect="1"/>
          </p:cNvPicPr>
          <p:nvPr/>
        </p:nvPicPr>
        <p:blipFill>
          <a:blip r:embed="rId2"/>
          <a:stretch>
            <a:fillRect/>
          </a:stretch>
        </p:blipFill>
        <p:spPr>
          <a:xfrm>
            <a:off x="548640" y="1371600"/>
            <a:ext cx="6766560" cy="3657600"/>
          </a:xfrm>
          <a:prstGeom prst="rect">
            <a:avLst/>
          </a:prstGeom>
        </p:spPr>
      </p:pic>
      <p:sp>
        <p:nvSpPr>
          <p:cNvPr id="4" name="Text: stat twelve spines"/>
          <p:cNvSpPr txBox="1"/>
          <p:nvPr/>
        </p:nvSpPr>
        <p:spPr>
          <a:xfrm>
            <a:off x="7498079" y="1371600"/>
            <a:ext cx="4142232" cy="1143000"/>
          </a:xfrm>
          <a:prstGeom prst="rect">
            <a:avLst/>
          </a:prstGeom>
          <a:noFill/>
        </p:spPr>
        <p:txBody>
          <a:bodyPr wrap="square" anchor="t" lIns="18288" rIns="18288" tIns="18288" bIns="18288">
            <a:spAutoFit/>
          </a:bodyPr>
          <a:lstStyle/>
          <a:p>
            <a:pPr algn="l">
              <a:lnSpc>
                <a:spcPct val="95000"/>
              </a:lnSpc>
              <a:spcAft>
                <a:spcPts val="100"/>
              </a:spcAft>
            </a:pPr>
            <a:r>
              <a:rPr sz="3600" b="1" i="0">
                <a:solidFill>
                  <a:srgbClr val="A4262C"/>
                </a:solidFill>
                <a:latin typeface="Cambria"/>
              </a:rPr>
              <a:t>95.5%</a:t>
            </a:r>
          </a:p>
          <a:p>
            <a:pPr algn="l">
              <a:lnSpc>
                <a:spcPct val="95000"/>
              </a:lnSpc>
              <a:spcAft>
                <a:spcPts val="100"/>
              </a:spcAft>
            </a:pPr>
            <a:r>
              <a:rPr sz="1400" b="0" i="0">
                <a:solidFill>
                  <a:srgbClr val="111111"/>
                </a:solidFill>
                <a:latin typeface="Cambria"/>
              </a:rPr>
              <a:t>of names at 0.99 right when the rule's table is estimated from 12 spines, as Panjabi's tables are</a:t>
            </a:r>
          </a:p>
        </p:txBody>
      </p:sp>
      <p:sp>
        <p:nvSpPr>
          <p:cNvPr id="5" name="Text: stat widened"/>
          <p:cNvSpPr txBox="1"/>
          <p:nvPr/>
        </p:nvSpPr>
        <p:spPr>
          <a:xfrm>
            <a:off x="7498079" y="2697480"/>
            <a:ext cx="4142232" cy="1280160"/>
          </a:xfrm>
          <a:prstGeom prst="rect">
            <a:avLst/>
          </a:prstGeom>
          <a:noFill/>
        </p:spPr>
        <p:txBody>
          <a:bodyPr wrap="square" anchor="t" lIns="18288" rIns="18288" tIns="18288" bIns="18288">
            <a:spAutoFit/>
          </a:bodyPr>
          <a:lstStyle/>
          <a:p>
            <a:pPr algn="l">
              <a:lnSpc>
                <a:spcPct val="95000"/>
              </a:lnSpc>
              <a:spcAft>
                <a:spcPts val="100"/>
              </a:spcAft>
            </a:pPr>
            <a:r>
              <a:rPr sz="3600" b="1" i="0">
                <a:solidFill>
                  <a:srgbClr val="1B4F8C"/>
                </a:solidFill>
                <a:latin typeface="Cambria"/>
              </a:rPr>
              <a:t>99.3%</a:t>
            </a:r>
          </a:p>
          <a:p>
            <a:pPr algn="l">
              <a:lnSpc>
                <a:spcPct val="95000"/>
              </a:lnSpc>
              <a:spcAft>
                <a:spcPts val="100"/>
              </a:spcAft>
            </a:pPr>
            <a:r>
              <a:rPr sz="1400" b="0" i="0">
                <a:solidFill>
                  <a:srgbClr val="111111"/>
                </a:solidFill>
                <a:latin typeface="Cambria"/>
              </a:rPr>
              <a:t>with spreads widened and 2 mm of error, but 5.5% of fields named, not 19.5%, and lumbar names right 96.7%</a:t>
            </a:r>
          </a:p>
        </p:txBody>
      </p:sp>
      <mc:AlternateContent xmlns:mc="http://schemas.openxmlformats.org/markup-compatibility/2006">
        <mc:Choice xmlns:a14="http://schemas.microsoft.com/office/drawing/2010/main" Requires="a14">
          <p:sp>
            <p:nvSpPr>
              <p:cNvPr id="6" name="Equation: honest" descr="LaTeX: \tilde{\sigma}_{m,\ell} = \sigma_{m,\ell}\sqrt{1 + 1/12},\qquad \sigma_{\mathrm{error}} = 2\ \mathrm{mm}"/>
              <p:cNvSpPr txBox="1"/>
              <p:nvPr/>
            </p:nvSpPr>
            <p:spPr>
              <a:xfrm>
                <a:off x="7498079" y="4160520"/>
                <a:ext cx="3688080" cy="344424"/>
              </a:xfrm>
              <a:prstGeom prst="rect">
                <a:avLst/>
              </a:prstGeom>
              <a:noFill/>
            </p:spPr>
            <p:txBody>
              <a:bodyPr wrap="none" lIns="0" tIns="0" rIns="0" bIns="0" anchor="ctr">
                <a:noAutofit/>
              </a:bodyPr>
              <a:lstStyle/>
              <a:p>
                <a:pPr algn="l"/>
                <a14:m>
                  <m:oMathPara xmlns:m="http://schemas.openxmlformats.org/officeDocument/2006/math">
                    <m:oMathParaPr>
                      <m:jc m:val="left"/>
                    </m:oMathParaPr>
                    <m:oMath>
                      <m:sSub>
                        <m:e>
                          <m:acc>
                            <m:accPr>
                              <m:chr m:val="̃"/>
                            </m:accPr>
                            <m:e>
                              <m:r>
                                <a:rPr lang="en-US" i="1" sz="1600">
                                  <a:solidFill>
                                    <a:srgbClr val="111111"/>
                                  </a:solidFill>
                                  <a:latin typeface="Cambria Math"/>
                                  <a:cs typeface="Cambria Math"/>
                                </a:rPr>
                                <m:t>σ</m:t>
                              </m:r>
                            </m:e>
                          </m:acc>
                        </m:e>
                        <m:sub>
                          <m:r>
                            <a:rPr lang="en-US" i="1" sz="1600">
                              <a:solidFill>
                                <a:srgbClr val="111111"/>
                              </a:solidFill>
                              <a:latin typeface="Cambria Math"/>
                              <a:cs typeface="Cambria Math"/>
                            </a:rPr>
                            <m:t>m</m:t>
                          </m:r>
                          <m:r>
                            <m:rPr>
                              <m:sty m:val="p"/>
                            </m:rPr>
                            <a:rPr lang="en-US" i="1" sz="1600">
                              <a:solidFill>
                                <a:srgbClr val="111111"/>
                              </a:solidFill>
                              <a:latin typeface="Cambria Math"/>
                              <a:cs typeface="Cambria Math"/>
                            </a:rPr>
                            <m:t>,</m:t>
                          </m:r>
                          <m:r>
                            <m:rPr>
                              <m:sty m:val="p"/>
                            </m:rPr>
                            <a:rPr lang="en-US" i="1" sz="1600">
                              <a:solidFill>
                                <a:srgbClr val="111111"/>
                              </a:solidFill>
                              <a:latin typeface="Cambria Math"/>
                              <a:cs typeface="Cambria Math"/>
                            </a:rPr>
                            <m:t>ℓ</m:t>
                          </m:r>
                        </m:sub>
                      </m:sSub>
                      <m:r>
                        <m:rPr>
                          <m:sty m:val="p"/>
                        </m:rPr>
                        <a:rPr lang="en-US" i="1" sz="1600">
                          <a:solidFill>
                            <a:srgbClr val="111111"/>
                          </a:solidFill>
                          <a:latin typeface="Cambria Math"/>
                          <a:cs typeface="Cambria Math"/>
                        </a:rPr>
                        <m:t>=</m:t>
                      </m:r>
                      <m:sSub>
                        <m:e>
                          <m:r>
                            <a:rPr lang="en-US" i="1" sz="1600">
                              <a:solidFill>
                                <a:srgbClr val="111111"/>
                              </a:solidFill>
                              <a:latin typeface="Cambria Math"/>
                              <a:cs typeface="Cambria Math"/>
                            </a:rPr>
                            <m:t>σ</m:t>
                          </m:r>
                        </m:e>
                        <m:sub>
                          <m:r>
                            <a:rPr lang="en-US" i="1" sz="1600">
                              <a:solidFill>
                                <a:srgbClr val="111111"/>
                              </a:solidFill>
                              <a:latin typeface="Cambria Math"/>
                              <a:cs typeface="Cambria Math"/>
                            </a:rPr>
                            <m:t>m</m:t>
                          </m:r>
                          <m:r>
                            <m:rPr>
                              <m:sty m:val="p"/>
                            </m:rPr>
                            <a:rPr lang="en-US" i="1" sz="1600">
                              <a:solidFill>
                                <a:srgbClr val="111111"/>
                              </a:solidFill>
                              <a:latin typeface="Cambria Math"/>
                              <a:cs typeface="Cambria Math"/>
                            </a:rPr>
                            <m:t>,</m:t>
                          </m:r>
                          <m:r>
                            <m:rPr>
                              <m:sty m:val="p"/>
                            </m:rPr>
                            <a:rPr lang="en-US" i="1" sz="1600">
                              <a:solidFill>
                                <a:srgbClr val="111111"/>
                              </a:solidFill>
                              <a:latin typeface="Cambria Math"/>
                              <a:cs typeface="Cambria Math"/>
                            </a:rPr>
                            <m:t>ℓ</m:t>
                          </m:r>
                        </m:sub>
                      </m:sSub>
                      <m:rad>
                        <m:radPr>
                          <m:degHide m:val="on"/>
                        </m:radPr>
                        <m:deg/>
                        <m:e>
                          <m:r>
                            <a:rPr lang="en-US" i="1" sz="1600">
                              <a:solidFill>
                                <a:srgbClr val="111111"/>
                              </a:solidFill>
                              <a:latin typeface="Cambria Math"/>
                              <a:cs typeface="Cambria Math"/>
                            </a:rPr>
                            <m:t>1</m:t>
                          </m:r>
                          <m:r>
                            <m:rPr>
                              <m:sty m:val="p"/>
                            </m:rPr>
                            <a:rPr lang="en-US" i="1" sz="1600">
                              <a:solidFill>
                                <a:srgbClr val="111111"/>
                              </a:solidFill>
                              <a:latin typeface="Cambria Math"/>
                              <a:cs typeface="Cambria Math"/>
                            </a:rPr>
                            <m:t>+</m:t>
                          </m:r>
                          <m:r>
                            <a:rPr lang="en-US" i="1" sz="1600">
                              <a:solidFill>
                                <a:srgbClr val="111111"/>
                              </a:solidFill>
                              <a:latin typeface="Cambria Math"/>
                              <a:cs typeface="Cambria Math"/>
                            </a:rPr>
                            <m:t>1</m:t>
                          </m:r>
                          <m:r>
                            <m:rPr>
                              <m:sty m:val="p"/>
                            </m:rPr>
                            <a:rPr lang="en-US" i="1" sz="1600">
                              <a:solidFill>
                                <a:srgbClr val="111111"/>
                              </a:solidFill>
                              <a:latin typeface="Cambria Math"/>
                              <a:cs typeface="Cambria Math"/>
                            </a:rPr>
                            <m:t>/</m:t>
                          </m:r>
                          <m:r>
                            <a:rPr lang="en-US" i="1" sz="1600">
                              <a:solidFill>
                                <a:srgbClr val="111111"/>
                              </a:solidFill>
                              <a:latin typeface="Cambria Math"/>
                              <a:cs typeface="Cambria Math"/>
                            </a:rPr>
                            <m:t>12</m:t>
                          </m:r>
                        </m:e>
                      </m:rad>
                      <m:r>
                        <m:rPr>
                          <m:sty m:val="p"/>
                        </m:rPr>
                        <a:rPr lang="en-US" i="1" sz="1600">
                          <a:solidFill>
                            <a:srgbClr val="111111"/>
                          </a:solidFill>
                          <a:latin typeface="Cambria Math"/>
                          <a:cs typeface="Cambria Math"/>
                        </a:rPr>
                        <m:t>,</m:t>
                      </m:r>
                      <m:r>
                        <a:rPr lang="en-US" i="1" sz="1600">
                          <a:solidFill>
                            <a:srgbClr val="111111"/>
                          </a:solidFill>
                          <a:latin typeface="Cambria Math"/>
                          <a:cs typeface="Cambria Math"/>
                        </a:rPr>
                        <m:t>  </m:t>
                      </m:r>
                      <m:sSub>
                        <m:e>
                          <m:r>
                            <a:rPr lang="en-US" i="1" sz="1600">
                              <a:solidFill>
                                <a:srgbClr val="111111"/>
                              </a:solidFill>
                              <a:latin typeface="Cambria Math"/>
                              <a:cs typeface="Cambria Math"/>
                            </a:rPr>
                            <m:t>σ</m:t>
                          </m:r>
                        </m:e>
                        <m:sub>
                          <m:r>
                            <m:rPr>
                              <m:sty m:val="p"/>
                            </m:rPr>
                            <a:rPr lang="en-US" i="1" sz="1600">
                              <a:solidFill>
                                <a:srgbClr val="111111"/>
                              </a:solidFill>
                              <a:latin typeface="Cambria Math"/>
                              <a:cs typeface="Cambria Math"/>
                            </a:rPr>
                            <m:t>e</m:t>
                          </m:r>
                          <m:r>
                            <m:rPr>
                              <m:sty m:val="p"/>
                            </m:rPr>
                            <a:rPr lang="en-US" i="1" sz="1600">
                              <a:solidFill>
                                <a:srgbClr val="111111"/>
                              </a:solidFill>
                              <a:latin typeface="Cambria Math"/>
                              <a:cs typeface="Cambria Math"/>
                            </a:rPr>
                            <m:t>r</m:t>
                          </m:r>
                          <m:r>
                            <m:rPr>
                              <m:sty m:val="p"/>
                            </m:rPr>
                            <a:rPr lang="en-US" i="1" sz="1600">
                              <a:solidFill>
                                <a:srgbClr val="111111"/>
                              </a:solidFill>
                              <a:latin typeface="Cambria Math"/>
                              <a:cs typeface="Cambria Math"/>
                            </a:rPr>
                            <m:t>r</m:t>
                          </m:r>
                          <m:r>
                            <m:rPr>
                              <m:sty m:val="p"/>
                            </m:rPr>
                            <a:rPr lang="en-US" i="1" sz="1600">
                              <a:solidFill>
                                <a:srgbClr val="111111"/>
                              </a:solidFill>
                              <a:latin typeface="Cambria Math"/>
                              <a:cs typeface="Cambria Math"/>
                            </a:rPr>
                            <m:t>o</m:t>
                          </m:r>
                          <m:r>
                            <m:rPr>
                              <m:sty m:val="p"/>
                            </m:rPr>
                            <a:rPr lang="en-US" i="1" sz="1600">
                              <a:solidFill>
                                <a:srgbClr val="111111"/>
                              </a:solidFill>
                              <a:latin typeface="Cambria Math"/>
                              <a:cs typeface="Cambria Math"/>
                            </a:rPr>
                            <m:t>r</m:t>
                          </m:r>
                        </m:sub>
                      </m:sSub>
                      <m:r>
                        <m:rPr>
                          <m:sty m:val="p"/>
                        </m:rPr>
                        <a:rPr lang="en-US" i="1" sz="1600">
                          <a:solidFill>
                            <a:srgbClr val="111111"/>
                          </a:solidFill>
                          <a:latin typeface="Cambria Math"/>
                          <a:cs typeface="Cambria Math"/>
                        </a:rPr>
                        <m:t>=</m:t>
                      </m:r>
                      <m:r>
                        <a:rPr lang="en-US" i="1" sz="1600">
                          <a:solidFill>
                            <a:srgbClr val="111111"/>
                          </a:solidFill>
                          <a:latin typeface="Cambria Math"/>
                          <a:cs typeface="Cambria Math"/>
                        </a:rPr>
                        <m:t>2</m:t>
                      </m:r>
                      <m:r>
                        <a:rPr lang="en-US" i="1" sz="1600">
                          <a:solidFill>
                            <a:srgbClr val="111111"/>
                          </a:solidFill>
                          <a:latin typeface="Cambria Math"/>
                          <a:cs typeface="Cambria Math"/>
                        </a:rPr>
                        <m:t> </m:t>
                      </m:r>
                      <m:r>
                        <m:rPr>
                          <m:sty m:val="p"/>
                        </m:rPr>
                        <a:rPr lang="en-US" i="1" sz="1600">
                          <a:solidFill>
                            <a:srgbClr val="111111"/>
                          </a:solidFill>
                          <a:latin typeface="Cambria Math"/>
                          <a:cs typeface="Cambria Math"/>
                        </a:rPr>
                        <m:t>m</m:t>
                      </m:r>
                      <m:r>
                        <m:rPr>
                          <m:sty m:val="p"/>
                        </m:rPr>
                        <a:rPr lang="en-US" i="1" sz="1600">
                          <a:solidFill>
                            <a:srgbClr val="111111"/>
                          </a:solidFill>
                          <a:latin typeface="Cambria Math"/>
                          <a:cs typeface="Cambria Math"/>
                        </a:rPr>
                        <m:t>m</m:t>
                      </m:r>
                    </m:oMath>
                  </m:oMathPara>
                </a14:m>
                <a:endParaRPr lang="en-US" sz="1600"/>
              </a:p>
            </p:txBody>
          </p:sp>
        </mc:Choice>
        <mc:Fallback>
          <p:sp>
            <p:nvSpPr>
              <p:cNvPr id="6" name="Equation: honest" descr="LaTeX: \tilde{\sigma}_{m,\ell} = \sigma_{m,\ell}\sqrt{1 + 1/12},\qquad \sigma_{\mathrm{error}} = 2\ \mathrm{mm}"/>
              <p:cNvSpPr txBox="1">
                <a:spLocks noRot="1" noChangeAspect="1" noMove="1" noResize="1" noEditPoints="1" noAdjustHandles="1" noChangeArrowheads="1" noChangeShapeType="1" noTextEdit="1"/>
              </p:cNvSpPr>
              <p:nvPr/>
            </p:nvSpPr>
            <p:spPr>
              <a:xfrm>
                <a:off x="7498079" y="4160520"/>
                <a:ext cx="3688080" cy="344424"/>
              </a:xfrm>
              <a:prstGeom prst="rect">
                <a:avLst/>
              </a:prstGeom>
              <a:blipFill>
                <a:blip r:embed="rId3"/>
                <a:stretch>
                  <a:fillRect/>
                </a:stretch>
              </a:blipFill>
            </p:spPr>
            <p:txBody>
              <a:bodyPr/>
              <a:lstStyle/>
              <a:p>
                <a:r>
                  <a:rPr lang="en-US">
                    <a:noFill/>
                  </a:rPr>
                  <a:t> </a:t>
                </a:r>
              </a:p>
            </p:txBody>
          </p:sp>
        </mc:Fallback>
      </mc:AlternateContent>
      <p:sp>
        <p:nvSpPr>
          <p:cNvPr id="7" name="Text: next"/>
          <p:cNvSpPr txBox="1"/>
          <p:nvPr/>
        </p:nvSpPr>
        <p:spPr>
          <a:xfrm>
            <a:off x="548640" y="5138928"/>
            <a:ext cx="11091672" cy="1097280"/>
          </a:xfrm>
          <a:prstGeom prst="rect">
            <a:avLst/>
          </a:prstGeom>
          <a:noFill/>
        </p:spPr>
        <p:txBody>
          <a:bodyPr wrap="square" anchor="t" lIns="18288" rIns="18288" tIns="18288" bIns="18288">
            <a:spAutoFit/>
          </a:bodyPr>
          <a:lstStyle/>
          <a:p>
            <a:pPr algn="l">
              <a:spcAft>
                <a:spcPts val="600"/>
              </a:spcAft>
            </a:pPr>
            <a:r>
              <a:rPr sz="1600" b="1" i="0">
                <a:solidFill>
                  <a:srgbClr val="111111"/>
                </a:solidFill>
                <a:latin typeface="Cambria"/>
              </a:rPr>
              <a:t>Next: </a:t>
            </a:r>
            <a:r>
              <a:rPr sz="1600" b="0" i="0">
                <a:solidFill>
                  <a:srgbClr val="111111"/>
                </a:solidFill>
                <a:latin typeface="Cambria"/>
              </a:rPr>
              <a:t>measure the table on full-spine CTs counted from C2; carry a real series' prior over places; add the anomalous columns (four or six lumbar bodies, a thirteenth rib-bearing body) as places of their own.</a:t>
            </a:r>
          </a:p>
        </p:txBody>
      </p:sp>
      <p:sp>
        <p:nvSpPr>
          <p:cNvPr id="8" name="Text: citation"/>
          <p:cNvSpPr txBox="1"/>
          <p:nvPr/>
        </p:nvSpPr>
        <p:spPr>
          <a:xfrm>
            <a:off x="548640" y="6327648"/>
            <a:ext cx="9692640" cy="365760"/>
          </a:xfrm>
          <a:prstGeom prst="rect">
            <a:avLst/>
          </a:prstGeom>
          <a:noFill/>
        </p:spPr>
        <p:txBody>
          <a:bodyPr wrap="square" anchor="t" lIns="18288" rIns="18288" tIns="18288" bIns="18288">
            <a:spAutoFit/>
          </a:bodyPr>
          <a:lstStyle/>
          <a:p>
            <a:pPr algn="l">
              <a:spcAft>
                <a:spcPts val="0"/>
              </a:spcAft>
            </a:pPr>
            <a:r>
              <a:rPr sz="900" b="0" i="0">
                <a:solidFill>
                  <a:srgbClr val="595959"/>
                </a:solidFill>
                <a:latin typeface="Cambria"/>
              </a:rPr>
              <a:t>Synthetic columns drawn from Panjabi's published means and spreads (Spine 1991;16:861, 888; 1992;17:299); no patient data. Retrospective modelling, 2026.</a:t>
            </a:r>
          </a:p>
        </p:txBody>
      </p:sp>
      <p:sp>
        <p:nvSpPr>
          <p:cNvPr id="9" name="Text: slide number"/>
          <p:cNvSpPr txBox="1"/>
          <p:nvPr/>
        </p:nvSpPr>
        <p:spPr>
          <a:xfrm>
            <a:off x="10725912" y="6327648"/>
            <a:ext cx="914400" cy="365760"/>
          </a:xfrm>
          <a:prstGeom prst="rect">
            <a:avLst/>
          </a:prstGeom>
          <a:noFill/>
        </p:spPr>
        <p:txBody>
          <a:bodyPr wrap="square" anchor="t" lIns="18288" rIns="18288" tIns="18288" bIns="18288">
            <a:spAutoFit/>
          </a:bodyPr>
          <a:lstStyle/>
          <a:p>
            <a:pPr algn="r">
              <a:spcAft>
                <a:spcPts val="0"/>
              </a:spcAft>
            </a:pPr>
            <a:r>
              <a:rPr sz="900" b="0" i="0">
                <a:solidFill>
                  <a:srgbClr val="595959"/>
                </a:solidFill>
                <a:latin typeface="Cambria"/>
              </a:rPr>
              <a:t>5 / 5</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