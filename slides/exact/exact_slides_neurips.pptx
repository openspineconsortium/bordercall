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task: given the measurements of n consecutive vertebral bodies, seven per body, recover which levels they are. Because the bodies are consecutive, the whole labelling is one discrete latent variable, the field's place k: body i is level k + i - 1, with C3 = 1 and L5 = 22, so k takes 23 minus n values. Data come from a generative model fitted to nothing: Panjabi's published per-level means and spreads, with a column-size factor, a within-column correlation and measurement noise. We score 2,000 synthetic columns, every place of every column, and ask three questions: what is the best any function can do, can it say when it is right, and what can a single body say for certain. Headline numbers to come, on these synthetic columns: 47% named exactly from one body, 73% from three.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Exact inference by enumeration. For a field of n bodies there are 23 minus n places, each with prior 1 over 23 minus n. Given the column's size s, each measure's n values are jointly Gaussian with mean s times the table means at levels k to k plus n minus 1, and covariance s squared rho squared sigma sigma-transpose plus a diagonal of s squared times 1 minus rho squared times sigma squared, plus the error variance, with rho 0.5 and 1 mm of error; the rank-one term means the likelihood needs no matrix inverse (Sherman-Morrison). Measures are independent given s; log s is Gaussian with SD 0.07 and is integrated by 161-node Gauss-Hermite quadrature, whose error we measured. Under the uniform prior the posterior is the normalised likelihood, shown right for one column chosen by a stated rule: of 2,000, the column whose posterior at T12 sits nearest the median at one, three and nine bodies together. Because this is the generator's own posterior it is the Bayes-optimal classifier: a network can match it in expectation, never beat it, which turns 'can a network do this' into 'how far is this ceiling from one'.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exact-match accuracy of the Bayes rule against the number of bodies, 47.3% at one, 73.1% at three, 96.1% at nine; the crosses are a linear classifier fitted on separate synthetic columns, 10.8 to 15.3 points below on the same first 1,000 columns. On three bodies a fitted network reaches 71.6% and the best fitted rule 72.2%, against the rule's 73.1% on the same fields. Dashed: the share answered under selective prediction at posterior 0.99, 17.1% at three bodies and 71.8% at nine. Right: calibration, error predicted against error counted, on the diagonal to about 1 in 1,000; at 1 in 10,000 the agreement rests on 2 errors counted in 15,038 nine-body fields with posterior above 0.999, and the top bins at one and three bodies counted none. The guarantee is one line: among answers with max posterior at least 1 minus epsilon, accuracy equals the mean posterior, hence at least 1 minus epsilon, in expectation under the generator; it holds within any group chosen by the measurements, not within groups chosen by the truth. Observed: 99.78% at three bodies (15 wrong of 6,848), 99.93% at nine (15 wrong of 20,112).</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Weaker statements inherit the guarantee. With l = k + floor((n - 1)/2) the middle body, P(l at or caudal to c) is a sum of the same posterior over k, so a claim made at 0.99 on either side is right at least 99 per cent of the time over all fields, in expectation: at T12/L1 from one body, 99.96%, 13 wrong of 30,943. The figure conditions on the truth, fields whose middle body lies within two levels of each border, where no guarantee applies, so these are measurements. One body: the side of C7/T1 for 56.4%, precision 99.84%; the side of T12/L1 for only 7.1%, precision 97.89%, below the nominal level because the group is chosen by the truth; the region for 60.9% of all single bodies, 21 wrong of 26,786, 2 of them far from both junctions. Nine bodies settle T12/L1 for 88.0% of fields whose middle body is T11 to L1, the levels a nine-body field can centre on near it.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Robustness, three bodies. On the main scoring columns the printed-table rule is right 99.78% at 0.99, naming 17.1% of fields. The rows here are scored on separate synthetic columns, 500 per error world and 40 worlds of 100 columns for a table world. When the rule's table is itself estimated from 12 specimens, the setting Panjabi's tables come from, precision drops to 95.5%; with 3 mm of measurement error, 82.6%. Inflating each spread by the root of 1 plus 1 over 12 and assuming 2 mm of error, the 2 mm chosen on a separate pilot, brings precision back to 99.3% in the twelve-spine worlds, at the cost of coverage, 5.5% answered instead of 19.5%, and unevenly, lumbar names 96.7%. With 3 mm of error on the printed table it reaches only 96.8%, so it fails there. The predictive rule, with nothing tuned, reaches 97.6% at 14.8% named in the same twelve-spine worlds. The posterior is only as good as the table, so the open problems are a table measured on full-spine CT counted from C2 and a prior from a real series.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74320"/>
            <a:ext cx="11091672" cy="960120"/>
          </a:xfrm>
        </p:spPr>
        <p:txBody>
          <a:bodyPr wrap="square" anchor="b"/>
          <a:lstStyle/>
          <a:p>
            <a:pPr algn="l"/>
            <a:r>
              <a:rPr sz="2800" b="1">
                <a:solidFill>
                  <a:srgbClr val="111111"/>
                </a:solidFill>
                <a:latin typeface="Cambria"/>
              </a:rPr>
              <a:t>Can the bodies in view name a vertebra?</a:t>
            </a:r>
          </a:p>
        </p:txBody>
      </p:sp>
      <p:pic>
        <p:nvPicPr>
          <p:cNvPr id="3" name="Figure: exact_slide_view" descr="A field of view: three consecutive vertebral bodies seen, the rest of the column unseen, and no C2 or sacrum to count from. Bodies drawn to Panjabi's mean upper end-plate width, C3 to L5, the tables' range."/>
          <p:cNvPicPr>
            <a:picLocks noChangeAspect="1"/>
          </p:cNvPicPr>
          <p:nvPr/>
        </p:nvPicPr>
        <p:blipFill>
          <a:blip r:embed="rId2"/>
          <a:stretch>
            <a:fillRect/>
          </a:stretch>
        </p:blipFill>
        <p:spPr>
          <a:xfrm>
            <a:off x="548640" y="1325880"/>
            <a:ext cx="2103120" cy="4846320"/>
          </a:xfrm>
          <a:prstGeom prst="rect">
            <a:avLst/>
          </a:prstGeom>
        </p:spPr>
      </p:pic>
      <p:pic>
        <p:nvPicPr>
          <p:cNvPr id="4" name="Figure: exact_slide_measures" descr="The seven measures each body gives, schematic and not to scale: the AP plane shows the upper and lower end-plate widths and the canal width, the lateral plane the two end-plate depths, the canal depth and the posterior body height, which both planes show."/>
          <p:cNvPicPr>
            <a:picLocks noChangeAspect="1"/>
          </p:cNvPicPr>
          <p:nvPr/>
        </p:nvPicPr>
        <p:blipFill>
          <a:blip r:embed="rId3"/>
          <a:stretch>
            <a:fillRect/>
          </a:stretch>
        </p:blipFill>
        <p:spPr>
          <a:xfrm>
            <a:off x="2743200" y="1417320"/>
            <a:ext cx="3474720" cy="4663440"/>
          </a:xfrm>
          <a:prstGeom prst="rect">
            <a:avLst/>
          </a:prstGeom>
        </p:spPr>
      </p:pic>
      <p:sp>
        <p:nvSpPr>
          <p:cNvPr id="5" name="Text: byline"/>
          <p:cNvSpPr txBox="1"/>
          <p:nvPr/>
        </p:nvSpPr>
        <p:spPr>
          <a:xfrm>
            <a:off x="6446520" y="1325880"/>
            <a:ext cx="5193792" cy="777240"/>
          </a:xfrm>
          <a:prstGeom prst="rect">
            <a:avLst/>
          </a:prstGeom>
          <a:noFill/>
        </p:spPr>
        <p:txBody>
          <a:bodyPr wrap="square" anchor="t" lIns="18288" rIns="18288" tIns="18288" bIns="18288">
            <a:spAutoFit/>
          </a:bodyPr>
          <a:lstStyle/>
          <a:p>
            <a:pPr algn="l">
              <a:spcAft>
                <a:spcPts val="0"/>
              </a:spcAft>
            </a:pPr>
            <a:r>
              <a:rPr sz="1400" b="1" i="0">
                <a:solidFill>
                  <a:srgbClr val="595959"/>
                </a:solidFill>
                <a:latin typeface="Cambria"/>
              </a:rPr>
              <a:t>Gregory Schwing, MD, PhD</a:t>
            </a:r>
          </a:p>
          <a:p>
            <a:pPr algn="l">
              <a:spcAft>
                <a:spcPts val="0"/>
              </a:spcAft>
            </a:pPr>
            <a:r>
              <a:rPr sz="1400" b="0" i="0">
                <a:solidFill>
                  <a:srgbClr val="595959"/>
                </a:solidFill>
                <a:latin typeface="Cambria"/>
              </a:rPr>
              <a:t>General Surgery (Wayne State University School of Medicine /</a:t>
            </a:r>
            <a:br/>
            <a:r>
              <a:rPr sz="1400" b="0" i="0">
                <a:solidFill>
                  <a:srgbClr val="595959"/>
                </a:solidFill>
                <a:latin typeface="Cambria"/>
              </a:rPr>
              <a:t>Detroit Medical Center)</a:t>
            </a:r>
          </a:p>
        </p:txBody>
      </p:sp>
      <p:sp>
        <p:nvSpPr>
          <p:cNvPr id="6" name="Text: question"/>
          <p:cNvSpPr txBox="1"/>
          <p:nvPr/>
        </p:nvSpPr>
        <p:spPr>
          <a:xfrm>
            <a:off x="6446520" y="2286000"/>
            <a:ext cx="5193792" cy="1051560"/>
          </a:xfrm>
          <a:prstGeom prst="rect">
            <a:avLst/>
          </a:prstGeom>
          <a:noFill/>
        </p:spPr>
        <p:txBody>
          <a:bodyPr wrap="square" anchor="t" lIns="18288" rIns="18288" tIns="18288" bIns="18288">
            <a:spAutoFit/>
          </a:bodyPr>
          <a:lstStyle/>
          <a:p>
            <a:pPr algn="l">
              <a:spcAft>
                <a:spcPts val="600"/>
              </a:spcAft>
            </a:pPr>
            <a:r>
              <a:rPr sz="2000" b="0" i="0">
                <a:solidFill>
                  <a:srgbClr val="111111"/>
                </a:solidFill>
                <a:latin typeface="Cambria"/>
              </a:rPr>
              <a:t>A view shows a few consecutive vertebral bodies, often with no C2 or sacrum to count from. Which levels are they?</a:t>
            </a:r>
          </a:p>
        </p:txBody>
      </p:sp>
      <mc:AlternateContent xmlns:mc="http://schemas.openxmlformats.org/markup-compatibility/2006">
        <mc:Choice xmlns:a14="http://schemas.microsoft.com/office/drawing/2010/main" Requires="a14">
          <p:sp>
            <p:nvSpPr>
              <p:cNvPr id="7" name="Equation: problem" descr="LaTeX: x_{1:n} = (x_1, \ldots, x_n),\quad x_i \in \mathbb{R}^{7},\qquad k \in \{1, \ldots, 23-n\}"/>
              <p:cNvSpPr txBox="1"/>
              <p:nvPr/>
            </p:nvSpPr>
            <p:spPr>
              <a:xfrm>
                <a:off x="6446520" y="3429000"/>
                <a:ext cx="5193792" cy="325789"/>
              </a:xfrm>
              <a:prstGeom prst="rect">
                <a:avLst/>
              </a:prstGeom>
              <a:noFill/>
            </p:spPr>
            <p:txBody>
              <a:bodyPr wrap="none" lIns="0" tIns="0" rIns="0" bIns="0" anchor="ctr">
                <a:noAutofit/>
              </a:bodyPr>
              <a:lstStyle/>
              <a:p>
                <a:pPr algn="l"/>
                <a14:m>
                  <m:oMathPara xmlns:m="http://schemas.openxmlformats.org/officeDocument/2006/math">
                    <m:oMathParaPr>
                      <m:jc m:val="left"/>
                    </m:oMathParaPr>
                    <m:oMath>
                      <m:sSub>
                        <m:e>
                          <m:r>
                            <a:rPr lang="en-US" i="1" sz="1767">
                              <a:solidFill>
                                <a:srgbClr val="111111"/>
                              </a:solidFill>
                              <a:latin typeface="Cambria Math"/>
                              <a:cs typeface="Cambria Math"/>
                            </a:rPr>
                            <m:t>x</m:t>
                          </m:r>
                        </m:e>
                        <m:sub>
                          <m:r>
                            <a:rPr lang="en-US" i="1" sz="1767">
                              <a:solidFill>
                                <a:srgbClr val="111111"/>
                              </a:solidFill>
                              <a:latin typeface="Cambria Math"/>
                              <a:cs typeface="Cambria Math"/>
                            </a:rPr>
                            <m:t>1</m:t>
                          </m:r>
                          <m:r>
                            <m:rPr>
                              <m:sty m:val="p"/>
                            </m:rPr>
                            <a:rPr lang="en-US" i="1" sz="1767">
                              <a:solidFill>
                                <a:srgbClr val="111111"/>
                              </a:solidFill>
                              <a:latin typeface="Cambria Math"/>
                              <a:cs typeface="Cambria Math"/>
                            </a:rPr>
                            <m:t>:</m:t>
                          </m:r>
                          <m:r>
                            <a:rPr lang="en-US" i="1" sz="1767">
                              <a:solidFill>
                                <a:srgbClr val="111111"/>
                              </a:solidFill>
                              <a:latin typeface="Cambria Math"/>
                              <a:cs typeface="Cambria Math"/>
                            </a:rPr>
                            <m:t>n</m:t>
                          </m:r>
                        </m:sub>
                      </m:sSub>
                      <m:r>
                        <m:rPr>
                          <m:sty m:val="p"/>
                        </m:rPr>
                        <a:rPr lang="en-US" i="1" sz="1767">
                          <a:solidFill>
                            <a:srgbClr val="111111"/>
                          </a:solidFill>
                          <a:latin typeface="Cambria Math"/>
                          <a:cs typeface="Cambria Math"/>
                        </a:rPr>
                        <m:t>=</m:t>
                      </m:r>
                      <m:d>
                        <m:dPr>
                          <m:begChr m:val="("/>
                          <m:endChr m:val=")"/>
                          <m:sepChr m:val=""/>
                          <m:grow/>
                        </m:dPr>
                        <m:e>
                          <m:sSub>
                            <m:e>
                              <m:r>
                                <a:rPr lang="en-US" i="1" sz="1767">
                                  <a:solidFill>
                                    <a:srgbClr val="111111"/>
                                  </a:solidFill>
                                  <a:latin typeface="Cambria Math"/>
                                  <a:cs typeface="Cambria Math"/>
                                </a:rPr>
                                <m:t>x</m:t>
                              </m:r>
                            </m:e>
                            <m:sub>
                              <m:r>
                                <a:rPr lang="en-US" i="1" sz="1767">
                                  <a:solidFill>
                                    <a:srgbClr val="111111"/>
                                  </a:solidFill>
                                  <a:latin typeface="Cambria Math"/>
                                  <a:cs typeface="Cambria Math"/>
                                </a:rPr>
                                <m:t>1</m:t>
                              </m:r>
                            </m:sub>
                          </m:sSub>
                          <m:r>
                            <m:rPr>
                              <m:sty m:val="p"/>
                            </m:rPr>
                            <a:rPr lang="en-US" i="1" sz="1767">
                              <a:solidFill>
                                <a:srgbClr val="111111"/>
                              </a:solidFill>
                              <a:latin typeface="Cambria Math"/>
                              <a:cs typeface="Cambria Math"/>
                            </a:rPr>
                            <m:t>,</m:t>
                          </m:r>
                          <m:r>
                            <m:rPr>
                              <m:sty m:val="p"/>
                            </m:rPr>
                            <a:rPr lang="en-US" i="1" sz="1767">
                              <a:solidFill>
                                <a:srgbClr val="111111"/>
                              </a:solidFill>
                              <a:latin typeface="Cambria Math"/>
                              <a:cs typeface="Cambria Math"/>
                            </a:rPr>
                            <m:t>…</m:t>
                          </m:r>
                          <m:r>
                            <m:rPr>
                              <m:sty m:val="p"/>
                            </m:rPr>
                            <a:rPr lang="en-US" i="1" sz="1767">
                              <a:solidFill>
                                <a:srgbClr val="111111"/>
                              </a:solidFill>
                              <a:latin typeface="Cambria Math"/>
                              <a:cs typeface="Cambria Math"/>
                            </a:rPr>
                            <m:t>,</m:t>
                          </m:r>
                          <m:sSub>
                            <m:e>
                              <m:r>
                                <a:rPr lang="en-US" i="1" sz="1767">
                                  <a:solidFill>
                                    <a:srgbClr val="111111"/>
                                  </a:solidFill>
                                  <a:latin typeface="Cambria Math"/>
                                  <a:cs typeface="Cambria Math"/>
                                </a:rPr>
                                <m:t>x</m:t>
                              </m:r>
                            </m:e>
                            <m:sub>
                              <m:r>
                                <a:rPr lang="en-US" i="1" sz="1767">
                                  <a:solidFill>
                                    <a:srgbClr val="111111"/>
                                  </a:solidFill>
                                  <a:latin typeface="Cambria Math"/>
                                  <a:cs typeface="Cambria Math"/>
                                </a:rPr>
                                <m:t>n</m:t>
                              </m:r>
                            </m:sub>
                          </m:sSub>
                        </m:e>
                      </m:d>
                      <m:r>
                        <m:rPr>
                          <m:sty m:val="p"/>
                        </m:rPr>
                        <a:rPr lang="en-US" i="1" sz="1767">
                          <a:solidFill>
                            <a:srgbClr val="111111"/>
                          </a:solidFill>
                          <a:latin typeface="Cambria Math"/>
                          <a:cs typeface="Cambria Math"/>
                        </a:rPr>
                        <m:t>,</m:t>
                      </m:r>
                      <m:r>
                        <a:rPr lang="en-US" i="1" sz="1767">
                          <a:solidFill>
                            <a:srgbClr val="111111"/>
                          </a:solidFill>
                          <a:latin typeface="Cambria Math"/>
                          <a:cs typeface="Cambria Math"/>
                        </a:rPr>
                        <m:t> </m:t>
                      </m:r>
                      <m:sSub>
                        <m:e>
                          <m:r>
                            <a:rPr lang="en-US" i="1" sz="1767">
                              <a:solidFill>
                                <a:srgbClr val="111111"/>
                              </a:solidFill>
                              <a:latin typeface="Cambria Math"/>
                              <a:cs typeface="Cambria Math"/>
                            </a:rPr>
                            <m:t>x</m:t>
                          </m:r>
                        </m:e>
                        <m:sub>
                          <m:r>
                            <a:rPr lang="en-US" i="1" sz="1767">
                              <a:solidFill>
                                <a:srgbClr val="111111"/>
                              </a:solidFill>
                              <a:latin typeface="Cambria Math"/>
                              <a:cs typeface="Cambria Math"/>
                            </a:rPr>
                            <m:t>i</m:t>
                          </m:r>
                        </m:sub>
                      </m:sSub>
                      <m:r>
                        <m:rPr>
                          <m:sty m:val="p"/>
                        </m:rPr>
                        <a:rPr lang="en-US" i="1" sz="1767">
                          <a:solidFill>
                            <a:srgbClr val="111111"/>
                          </a:solidFill>
                          <a:latin typeface="Cambria Math"/>
                          <a:cs typeface="Cambria Math"/>
                        </a:rPr>
                        <m:t>∈</m:t>
                      </m:r>
                      <m:sSup>
                        <m:e>
                          <m:r>
                            <m:rPr>
                              <m:sty m:val="p"/>
                              <m:scr m:val="double-struck"/>
                            </m:rPr>
                            <a:rPr lang="en-US" i="1" sz="1767">
                              <a:solidFill>
                                <a:srgbClr val="111111"/>
                              </a:solidFill>
                              <a:latin typeface="Cambria Math"/>
                              <a:cs typeface="Cambria Math"/>
                            </a:rPr>
                            <m:t>R</m:t>
                          </m:r>
                        </m:e>
                        <m:sup>
                          <m:r>
                            <a:rPr lang="en-US" i="1" sz="1767">
                              <a:solidFill>
                                <a:srgbClr val="111111"/>
                              </a:solidFill>
                              <a:latin typeface="Cambria Math"/>
                              <a:cs typeface="Cambria Math"/>
                            </a:rPr>
                            <m:t>7</m:t>
                          </m:r>
                        </m:sup>
                      </m:sSup>
                      <m:r>
                        <m:rPr>
                          <m:sty m:val="p"/>
                        </m:rPr>
                        <a:rPr lang="en-US" i="1" sz="1767">
                          <a:solidFill>
                            <a:srgbClr val="111111"/>
                          </a:solidFill>
                          <a:latin typeface="Cambria Math"/>
                          <a:cs typeface="Cambria Math"/>
                        </a:rPr>
                        <m:t>,</m:t>
                      </m:r>
                      <m:r>
                        <a:rPr lang="en-US" i="1" sz="1767">
                          <a:solidFill>
                            <a:srgbClr val="111111"/>
                          </a:solidFill>
                          <a:latin typeface="Cambria Math"/>
                          <a:cs typeface="Cambria Math"/>
                        </a:rPr>
                        <m:t>  </m:t>
                      </m:r>
                      <m:r>
                        <a:rPr lang="en-US" i="1" sz="1767">
                          <a:solidFill>
                            <a:srgbClr val="111111"/>
                          </a:solidFill>
                          <a:latin typeface="Cambria Math"/>
                          <a:cs typeface="Cambria Math"/>
                        </a:rPr>
                        <m:t>k</m:t>
                      </m:r>
                      <m:r>
                        <m:rPr>
                          <m:sty m:val="p"/>
                        </m:rPr>
                        <a:rPr lang="en-US" i="1" sz="1767">
                          <a:solidFill>
                            <a:srgbClr val="111111"/>
                          </a:solidFill>
                          <a:latin typeface="Cambria Math"/>
                          <a:cs typeface="Cambria Math"/>
                        </a:rPr>
                        <m:t>∈</m:t>
                      </m:r>
                      <m:r>
                        <m:rPr>
                          <m:sty m:val="p"/>
                        </m:rPr>
                        <a:rPr lang="en-US" i="1" sz="1767">
                          <a:solidFill>
                            <a:srgbClr val="111111"/>
                          </a:solidFill>
                          <a:latin typeface="Cambria Math"/>
                          <a:cs typeface="Cambria Math"/>
                        </a:rPr>
                        <m:t>{</m:t>
                      </m:r>
                      <m:r>
                        <a:rPr lang="en-US" i="1" sz="1767">
                          <a:solidFill>
                            <a:srgbClr val="111111"/>
                          </a:solidFill>
                          <a:latin typeface="Cambria Math"/>
                          <a:cs typeface="Cambria Math"/>
                        </a:rPr>
                        <m:t>1</m:t>
                      </m:r>
                      <m:r>
                        <m:rPr>
                          <m:sty m:val="p"/>
                        </m:rPr>
                        <a:rPr lang="en-US" i="1" sz="1767">
                          <a:solidFill>
                            <a:srgbClr val="111111"/>
                          </a:solidFill>
                          <a:latin typeface="Cambria Math"/>
                          <a:cs typeface="Cambria Math"/>
                        </a:rPr>
                        <m:t>,</m:t>
                      </m:r>
                      <m:r>
                        <m:rPr>
                          <m:sty m:val="p"/>
                        </m:rPr>
                        <a:rPr lang="en-US" i="1" sz="1767">
                          <a:solidFill>
                            <a:srgbClr val="111111"/>
                          </a:solidFill>
                          <a:latin typeface="Cambria Math"/>
                          <a:cs typeface="Cambria Math"/>
                        </a:rPr>
                        <m:t>…</m:t>
                      </m:r>
                      <m:r>
                        <m:rPr>
                          <m:sty m:val="p"/>
                        </m:rPr>
                        <a:rPr lang="en-US" i="1" sz="1767">
                          <a:solidFill>
                            <a:srgbClr val="111111"/>
                          </a:solidFill>
                          <a:latin typeface="Cambria Math"/>
                          <a:cs typeface="Cambria Math"/>
                        </a:rPr>
                        <m:t>,</m:t>
                      </m:r>
                      <m:r>
                        <a:rPr lang="en-US" i="1" sz="1767">
                          <a:solidFill>
                            <a:srgbClr val="111111"/>
                          </a:solidFill>
                          <a:latin typeface="Cambria Math"/>
                          <a:cs typeface="Cambria Math"/>
                        </a:rPr>
                        <m:t>23</m:t>
                      </m:r>
                      <m:r>
                        <m:rPr>
                          <m:sty m:val="p"/>
                        </m:rPr>
                        <a:rPr lang="en-US" i="1" sz="1767">
                          <a:solidFill>
                            <a:srgbClr val="111111"/>
                          </a:solidFill>
                          <a:latin typeface="Cambria Math"/>
                          <a:cs typeface="Cambria Math"/>
                        </a:rPr>
                        <m:t>−</m:t>
                      </m:r>
                      <m:r>
                        <a:rPr lang="en-US" i="1" sz="1767">
                          <a:solidFill>
                            <a:srgbClr val="111111"/>
                          </a:solidFill>
                          <a:latin typeface="Cambria Math"/>
                          <a:cs typeface="Cambria Math"/>
                        </a:rPr>
                        <m:t>n</m:t>
                      </m:r>
                      <m:r>
                        <m:rPr>
                          <m:sty m:val="p"/>
                        </m:rPr>
                        <a:rPr lang="en-US" i="1" sz="1767">
                          <a:solidFill>
                            <a:srgbClr val="111111"/>
                          </a:solidFill>
                          <a:latin typeface="Cambria Math"/>
                          <a:cs typeface="Cambria Math"/>
                        </a:rPr>
                        <m:t>}</m:t>
                      </m:r>
                    </m:oMath>
                  </m:oMathPara>
                </a14:m>
                <a:endParaRPr lang="en-US" sz="1767"/>
              </a:p>
            </p:txBody>
          </p:sp>
        </mc:Choice>
        <mc:Fallback>
          <p:sp>
            <p:nvSpPr>
              <p:cNvPr id="7" name="Equation: problem" descr="LaTeX: x_{1:n} = (x_1, \ldots, x_n),\quad x_i \in \mathbb{R}^{7},\qquad k \in \{1, \ldots, 23-n\}"/>
              <p:cNvSpPr txBox="1">
                <a:spLocks noRot="1" noChangeAspect="1" noMove="1" noResize="1" noEditPoints="1" noAdjustHandles="1" noChangeArrowheads="1" noChangeShapeType="1" noTextEdit="1"/>
              </p:cNvSpPr>
              <p:nvPr/>
            </p:nvSpPr>
            <p:spPr>
              <a:xfrm>
                <a:off x="6446520" y="3429000"/>
                <a:ext cx="5193792" cy="325789"/>
              </a:xfrm>
              <a:prstGeom prst="rect">
                <a:avLst/>
              </a:prstGeom>
              <a:blipFill>
                <a:blip r:embed="rId4"/>
                <a:stretch>
                  <a:fillRect/>
                </a:stretch>
              </a:blipFill>
            </p:spPr>
            <p:txBody>
              <a:bodyPr/>
              <a:lstStyle/>
              <a:p>
                <a:r>
                  <a:rPr lang="en-US">
                    <a:noFill/>
                  </a:rPr>
                  <a:t> </a:t>
                </a:r>
              </a:p>
            </p:txBody>
          </p:sp>
        </mc:Fallback>
      </mc:AlternateContent>
      <p:sp>
        <p:nvSpPr>
          <p:cNvPr id="8" name="Text: unknown"/>
          <p:cNvSpPr txBox="1"/>
          <p:nvPr/>
        </p:nvSpPr>
        <p:spPr>
          <a:xfrm>
            <a:off x="6446520" y="3931920"/>
            <a:ext cx="5193792" cy="868680"/>
          </a:xfrm>
          <a:prstGeom prst="rect">
            <a:avLst/>
          </a:prstGeom>
          <a:noFill/>
        </p:spPr>
        <p:txBody>
          <a:bodyPr wrap="square" anchor="t" lIns="18288" rIns="18288" tIns="18288" bIns="18288">
            <a:spAutoFit/>
          </a:bodyPr>
          <a:lstStyle/>
          <a:p>
            <a:pPr algn="l">
              <a:spcAft>
                <a:spcPts val="600"/>
              </a:spcAft>
            </a:pPr>
            <a:r>
              <a:rPr sz="1600" b="0" i="0">
                <a:solidFill>
                  <a:srgbClr val="111111"/>
                </a:solidFill>
                <a:latin typeface="Cambria"/>
              </a:rPr>
              <a:t>Seven measures per body. Body </a:t>
            </a:r>
            <a:r>
              <a:rPr sz="1600" b="0" i="1">
                <a:solidFill>
                  <a:srgbClr val="111111"/>
                </a:solidFill>
                <a:latin typeface="Cambria"/>
              </a:rPr>
              <a:t>i</a:t>
            </a:r>
            <a:r>
              <a:rPr sz="1600" b="0" i="0">
                <a:solidFill>
                  <a:srgbClr val="111111"/>
                </a:solidFill>
                <a:latin typeface="Cambria"/>
              </a:rPr>
              <a:t> of the field is level </a:t>
            </a:r>
            <a:r>
              <a:rPr sz="1600" b="0" i="1">
                <a:solidFill>
                  <a:srgbClr val="111111"/>
                </a:solidFill>
                <a:latin typeface="Cambria"/>
              </a:rPr>
              <a:t>k</a:t>
            </a:r>
            <a:r>
              <a:rPr sz="1600" b="0" i="0">
                <a:solidFill>
                  <a:srgbClr val="111111"/>
                </a:solidFill>
                <a:latin typeface="Cambria"/>
              </a:rPr>
              <a:t> + </a:t>
            </a:r>
            <a:r>
              <a:rPr sz="1600" b="0" i="1">
                <a:solidFill>
                  <a:srgbClr val="111111"/>
                </a:solidFill>
                <a:latin typeface="Cambria"/>
              </a:rPr>
              <a:t>i</a:t>
            </a:r>
            <a:r>
              <a:rPr sz="1600" b="0" i="0">
                <a:solidFill>
                  <a:srgbClr val="111111"/>
                </a:solidFill>
                <a:latin typeface="Cambria"/>
              </a:rPr>
              <a:t> − 1, with C3 = 1 and L5 = 22, so the place </a:t>
            </a:r>
            <a:r>
              <a:rPr sz="1600" b="0" i="1">
                <a:solidFill>
                  <a:srgbClr val="111111"/>
                </a:solidFill>
                <a:latin typeface="Cambria"/>
              </a:rPr>
              <a:t>k</a:t>
            </a:r>
            <a:r>
              <a:rPr sz="1600" b="0" i="0">
                <a:solidFill>
                  <a:srgbClr val="111111"/>
                </a:solidFill>
                <a:latin typeface="Cambria"/>
              </a:rPr>
              <a:t> names every body in it.</a:t>
            </a:r>
          </a:p>
        </p:txBody>
      </p:sp>
      <p:sp>
        <p:nvSpPr>
          <p:cNvPr id="9" name="Text: data"/>
          <p:cNvSpPr txBox="1"/>
          <p:nvPr/>
        </p:nvSpPr>
        <p:spPr>
          <a:xfrm>
            <a:off x="6446520" y="4892040"/>
            <a:ext cx="5193792" cy="914400"/>
          </a:xfrm>
          <a:prstGeom prst="rect">
            <a:avLst/>
          </a:prstGeom>
          <a:noFill/>
        </p:spPr>
        <p:txBody>
          <a:bodyPr wrap="square" anchor="t" lIns="18288" rIns="18288" tIns="18288" bIns="18288">
            <a:spAutoFit/>
          </a:bodyPr>
          <a:lstStyle/>
          <a:p>
            <a:pPr algn="l">
              <a:spcAft>
                <a:spcPts val="600"/>
              </a:spcAft>
            </a:pPr>
            <a:r>
              <a:rPr sz="1400" b="0" i="0">
                <a:solidFill>
                  <a:srgbClr val="595959"/>
                </a:solidFill>
                <a:latin typeface="Cambria"/>
              </a:rPr>
              <a:t>2,000 synthetic columns drawn from Panjabi's published means and spreads; every place of every column scored, so most rates below are over tens of thousands of fields.</a:t>
            </a:r>
          </a:p>
        </p:txBody>
      </p:sp>
      <p:sp>
        <p:nvSpPr>
          <p:cNvPr id="10" name="Text: footer"/>
          <p:cNvSpPr txBox="1"/>
          <p:nvPr/>
        </p:nvSpPr>
        <p:spPr>
          <a:xfrm>
            <a:off x="548640" y="6272784"/>
            <a:ext cx="9966960" cy="411480"/>
          </a:xfrm>
          <a:prstGeom prst="rect">
            <a:avLst/>
          </a:prstGeom>
          <a:noFill/>
        </p:spPr>
        <p:txBody>
          <a:bodyPr wrap="square" anchor="t" lIns="18288" rIns="18288" tIns="18288" bIns="18288">
            <a:spAutoFit/>
          </a:bodyPr>
          <a:lstStyle/>
          <a:p>
            <a:pPr algn="l">
              <a:spcAft>
                <a:spcPts val="0"/>
              </a:spcAft>
            </a:pPr>
            <a:r>
              <a:rPr sz="1100" b="0" i="0">
                <a:solidFill>
                  <a:srgbClr val="595959"/>
                </a:solidFill>
                <a:latin typeface="Cambria"/>
              </a:rPr>
              <a:t>Synthetic columns from Panjabi's published tables (Spine 1991;16:861, 888; 1992;17:299); no patient data.</a:t>
            </a:r>
          </a:p>
          <a:p>
            <a:pPr algn="l">
              <a:spcAft>
                <a:spcPts val="0"/>
              </a:spcAft>
            </a:pPr>
            <a:r>
              <a:rPr sz="1100" b="1" i="0">
                <a:solidFill>
                  <a:srgbClr val="111111"/>
                </a:solidFill>
                <a:latin typeface="Cambria"/>
              </a:rPr>
              <a:t>Confidential: pre-filing draft, not for distribution</a:t>
            </a:r>
          </a:p>
        </p:txBody>
      </p:sp>
      <p:sp>
        <p:nvSpPr>
          <p:cNvPr id="11" name="Text: slide number"/>
          <p:cNvSpPr txBox="1"/>
          <p:nvPr/>
        </p:nvSpPr>
        <p:spPr>
          <a:xfrm>
            <a:off x="10725912" y="6272784"/>
            <a:ext cx="914400" cy="274320"/>
          </a:xfrm>
          <a:prstGeom prst="rect">
            <a:avLst/>
          </a:prstGeom>
          <a:noFill/>
        </p:spPr>
        <p:txBody>
          <a:bodyPr wrap="square" anchor="t" lIns="18288" rIns="18288" tIns="18288" bIns="18288">
            <a:spAutoFit/>
          </a:bodyPr>
          <a:lstStyle/>
          <a:p>
            <a:pPr algn="r">
              <a:spcAft>
                <a:spcPts val="0"/>
              </a:spcAft>
            </a:pPr>
            <a:r>
              <a:rPr sz="1100" b="0" i="0">
                <a:solidFill>
                  <a:srgbClr val="595959"/>
                </a:solidFill>
                <a:latin typeface="Cambria"/>
              </a:rPr>
              <a:t>1 / 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74320"/>
            <a:ext cx="11091672" cy="960120"/>
          </a:xfrm>
        </p:spPr>
        <p:txBody>
          <a:bodyPr wrap="square" anchor="b"/>
          <a:lstStyle/>
          <a:p>
            <a:pPr algn="l"/>
            <a:r>
              <a:rPr sz="2800" b="1">
                <a:solidFill>
                  <a:srgbClr val="111111"/>
                </a:solidFill>
                <a:latin typeface="Cambria"/>
              </a:rPr>
              <a:t>Bayes' rule over every place is the ceiling</a:t>
            </a:r>
          </a:p>
        </p:txBody>
      </p:sp>
      <mc:AlternateContent xmlns:mc="http://schemas.openxmlformats.org/markup-compatibility/2006">
        <mc:Choice xmlns:a14="http://schemas.microsoft.com/office/drawing/2010/main" Requires="a14">
          <p:sp>
            <p:nvSpPr>
              <p:cNvPr id="3" name="Equation: bayes" descr="LaTeX: p(k \mid x_{1:n}) = \dfrac{p(x_{1:n} \mid k)\, p(k)}{\sum_{k'}\; p(x_{1:n} \mid k')\, p(k')}"/>
              <p:cNvSpPr txBox="1"/>
              <p:nvPr/>
            </p:nvSpPr>
            <p:spPr>
              <a:xfrm>
                <a:off x="548640" y="1371600"/>
                <a:ext cx="4447032" cy="1152144"/>
              </a:xfrm>
              <a:prstGeom prst="rect">
                <a:avLst/>
              </a:prstGeom>
              <a:noFill/>
            </p:spPr>
            <p:txBody>
              <a:bodyPr wrap="none" lIns="0" tIns="0" rIns="0" bIns="0" anchor="ctr">
                <a:noAutofit/>
              </a:bodyPr>
              <a:lstStyle/>
              <a:p>
                <a:pPr algn="l"/>
                <a14:m>
                  <m:oMathPara xmlns:m="http://schemas.openxmlformats.org/officeDocument/2006/math">
                    <m:oMathParaPr>
                      <m:jc m:val="left"/>
                    </m:oMathParaPr>
                    <m:oMath>
                      <m:r>
                        <a:rPr lang="en-US" i="1" sz="2400">
                          <a:solidFill>
                            <a:srgbClr val="111111"/>
                          </a:solidFill>
                          <a:latin typeface="Cambria Math"/>
                          <a:cs typeface="Cambria Math"/>
                        </a:rPr>
                        <m:t>p</m:t>
                      </m:r>
                      <m:d>
                        <m:dPr>
                          <m:begChr m:val="("/>
                          <m:endChr m:val=")"/>
                          <m:sepChr m:val=""/>
                          <m:grow/>
                        </m:dPr>
                        <m:e>
                          <m:r>
                            <a:rPr lang="en-US" i="1" sz="2400">
                              <a:solidFill>
                                <a:srgbClr val="111111"/>
                              </a:solidFill>
                              <a:latin typeface="Cambria Math"/>
                              <a:cs typeface="Cambria Math"/>
                            </a:rPr>
                            <m:t>k</m:t>
                          </m:r>
                          <m:r>
                            <m:rPr>
                              <m:sty m:val="p"/>
                            </m:rPr>
                            <a:rPr lang="en-US" i="1" sz="2400">
                              <a:solidFill>
                                <a:srgbClr val="111111"/>
                              </a:solidFill>
                              <a:latin typeface="Cambria Math"/>
                              <a:cs typeface="Cambria Math"/>
                            </a:rPr>
                            <m:t>∣</m:t>
                          </m:r>
                          <m:sSub>
                            <m:e>
                              <m:r>
                                <a:rPr lang="en-US" i="1" sz="2400">
                                  <a:solidFill>
                                    <a:srgbClr val="111111"/>
                                  </a:solidFill>
                                  <a:latin typeface="Cambria Math"/>
                                  <a:cs typeface="Cambria Math"/>
                                </a:rPr>
                                <m:t>x</m:t>
                              </m:r>
                            </m:e>
                            <m:sub>
                              <m:r>
                                <a:rPr lang="en-US" i="1" sz="2400">
                                  <a:solidFill>
                                    <a:srgbClr val="111111"/>
                                  </a:solidFill>
                                  <a:latin typeface="Cambria Math"/>
                                  <a:cs typeface="Cambria Math"/>
                                </a:rPr>
                                <m:t>1</m:t>
                              </m:r>
                              <m:r>
                                <m:rPr>
                                  <m:sty m:val="p"/>
                                </m:rPr>
                                <a:rPr lang="en-US" i="1" sz="2400">
                                  <a:solidFill>
                                    <a:srgbClr val="111111"/>
                                  </a:solidFill>
                                  <a:latin typeface="Cambria Math"/>
                                  <a:cs typeface="Cambria Math"/>
                                </a:rPr>
                                <m:t>:</m:t>
                              </m:r>
                              <m:r>
                                <a:rPr lang="en-US" i="1" sz="2400">
                                  <a:solidFill>
                                    <a:srgbClr val="111111"/>
                                  </a:solidFill>
                                  <a:latin typeface="Cambria Math"/>
                                  <a:cs typeface="Cambria Math"/>
                                </a:rPr>
                                <m:t>n</m:t>
                              </m:r>
                            </m:sub>
                          </m:sSub>
                        </m:e>
                      </m:d>
                      <m:r>
                        <m:rPr>
                          <m:sty m:val="p"/>
                        </m:rPr>
                        <a:rPr lang="en-US" i="1" sz="2400">
                          <a:solidFill>
                            <a:srgbClr val="111111"/>
                          </a:solidFill>
                          <a:latin typeface="Cambria Math"/>
                          <a:cs typeface="Cambria Math"/>
                        </a:rPr>
                        <m:t>=</m:t>
                      </m:r>
                      <m:f>
                        <m:fPr>
                          <m:type m:val="bar"/>
                        </m:fPr>
                        <m:num>
                          <m:r>
                            <a:rPr lang="en-US" i="1" sz="2400">
                              <a:solidFill>
                                <a:srgbClr val="111111"/>
                              </a:solidFill>
                              <a:latin typeface="Cambria Math"/>
                              <a:cs typeface="Cambria Math"/>
                            </a:rPr>
                            <m:t>p</m:t>
                          </m:r>
                          <m:d>
                            <m:dPr>
                              <m:begChr m:val="("/>
                              <m:endChr m:val=")"/>
                              <m:sepChr m:val=""/>
                              <m:grow/>
                            </m:dPr>
                            <m:e>
                              <m:sSub>
                                <m:e>
                                  <m:r>
                                    <a:rPr lang="en-US" i="1" sz="2400">
                                      <a:solidFill>
                                        <a:srgbClr val="111111"/>
                                      </a:solidFill>
                                      <a:latin typeface="Cambria Math"/>
                                      <a:cs typeface="Cambria Math"/>
                                    </a:rPr>
                                    <m:t>x</m:t>
                                  </m:r>
                                </m:e>
                                <m:sub>
                                  <m:r>
                                    <a:rPr lang="en-US" i="1" sz="2400">
                                      <a:solidFill>
                                        <a:srgbClr val="111111"/>
                                      </a:solidFill>
                                      <a:latin typeface="Cambria Math"/>
                                      <a:cs typeface="Cambria Math"/>
                                    </a:rPr>
                                    <m:t>1</m:t>
                                  </m:r>
                                  <m:r>
                                    <m:rPr>
                                      <m:sty m:val="p"/>
                                    </m:rPr>
                                    <a:rPr lang="en-US" i="1" sz="2400">
                                      <a:solidFill>
                                        <a:srgbClr val="111111"/>
                                      </a:solidFill>
                                      <a:latin typeface="Cambria Math"/>
                                      <a:cs typeface="Cambria Math"/>
                                    </a:rPr>
                                    <m:t>:</m:t>
                                  </m:r>
                                  <m:r>
                                    <a:rPr lang="en-US" i="1" sz="2400">
                                      <a:solidFill>
                                        <a:srgbClr val="111111"/>
                                      </a:solidFill>
                                      <a:latin typeface="Cambria Math"/>
                                      <a:cs typeface="Cambria Math"/>
                                    </a:rPr>
                                    <m:t>n</m:t>
                                  </m:r>
                                </m:sub>
                              </m:sSub>
                              <m:r>
                                <m:rPr>
                                  <m:sty m:val="p"/>
                                </m:rPr>
                                <a:rPr lang="en-US" i="1" sz="2400">
                                  <a:solidFill>
                                    <a:srgbClr val="111111"/>
                                  </a:solidFill>
                                  <a:latin typeface="Cambria Math"/>
                                  <a:cs typeface="Cambria Math"/>
                                </a:rPr>
                                <m:t>∣</m:t>
                              </m:r>
                              <m:r>
                                <a:rPr lang="en-US" i="1" sz="2400">
                                  <a:solidFill>
                                    <a:srgbClr val="111111"/>
                                  </a:solidFill>
                                  <a:latin typeface="Cambria Math"/>
                                  <a:cs typeface="Cambria Math"/>
                                </a:rPr>
                                <m:t>k</m:t>
                              </m:r>
                            </m:e>
                          </m:d>
                          <m:r>
                            <a:rPr lang="en-US" i="1" sz="2400">
                              <a:solidFill>
                                <a:srgbClr val="111111"/>
                              </a:solidFill>
                              <a:latin typeface="Cambria Math"/>
                              <a:cs typeface="Cambria Math"/>
                            </a:rPr>
                            <m:t> </m:t>
                          </m:r>
                          <m:r>
                            <a:rPr lang="en-US" i="1" sz="2400">
                              <a:solidFill>
                                <a:srgbClr val="111111"/>
                              </a:solidFill>
                              <a:latin typeface="Cambria Math"/>
                              <a:cs typeface="Cambria Math"/>
                            </a:rPr>
                            <m:t>p</m:t>
                          </m:r>
                          <m:d>
                            <m:dPr>
                              <m:begChr m:val="("/>
                              <m:endChr m:val=")"/>
                              <m:sepChr m:val=""/>
                              <m:grow/>
                            </m:dPr>
                            <m:e>
                              <m:r>
                                <a:rPr lang="en-US" i="1" sz="2400">
                                  <a:solidFill>
                                    <a:srgbClr val="111111"/>
                                  </a:solidFill>
                                  <a:latin typeface="Cambria Math"/>
                                  <a:cs typeface="Cambria Math"/>
                                </a:rPr>
                                <m:t>k</m:t>
                              </m:r>
                            </m:e>
                          </m:d>
                        </m:num>
                        <m:den>
                          <m:nary>
                            <m:naryPr>
                              <m:chr m:val="∑"/>
                              <m:limLoc m:val="undOvr"/>
                              <m:subHide m:val="off"/>
                              <m:supHide m:val="on"/>
                            </m:naryPr>
                            <m:sub>
                              <m:r>
                                <a:rPr lang="en-US" i="1" sz="2400">
                                  <a:solidFill>
                                    <a:srgbClr val="111111"/>
                                  </a:solidFill>
                                  <a:latin typeface="Cambria Math"/>
                                  <a:cs typeface="Cambria Math"/>
                                </a:rPr>
                                <m:t>k</m:t>
                              </m:r>
                              <m:r>
                                <m:rPr>
                                  <m:sty m:val="p"/>
                                </m:rPr>
                                <a:rPr lang="en-US" i="1" sz="2400">
                                  <a:solidFill>
                                    <a:srgbClr val="111111"/>
                                  </a:solidFill>
                                  <a:latin typeface="Cambria Math"/>
                                  <a:cs typeface="Cambria Math"/>
                                </a:rPr>
                                <m:t>′</m:t>
                              </m:r>
                            </m:sub>
                            <m:sup>
                              <m:r>
                                <a:rPr lang="en-US" i="1" sz="2400">
                                  <a:solidFill>
                                    <a:srgbClr val="111111"/>
                                  </a:solidFill>
                                  <a:latin typeface="Cambria Math"/>
                                  <a:cs typeface="Cambria Math"/>
                                </a:rPr>
                                <m:t>​</m:t>
                              </m:r>
                            </m:sup>
                            <m:e>
                              <m:r>
                                <a:rPr lang="en-US" i="1" sz="2400">
                                  <a:solidFill>
                                    <a:srgbClr val="111111"/>
                                  </a:solidFill>
                                  <a:latin typeface="Cambria Math"/>
                                  <a:cs typeface="Cambria Math"/>
                                </a:rPr>
                                <m:t> </m:t>
                              </m:r>
                            </m:e>
                          </m:nary>
                          <m:r>
                            <a:rPr lang="en-US" i="1" sz="2400">
                              <a:solidFill>
                                <a:srgbClr val="111111"/>
                              </a:solidFill>
                              <a:latin typeface="Cambria Math"/>
                              <a:cs typeface="Cambria Math"/>
                            </a:rPr>
                            <m:t>p</m:t>
                          </m:r>
                          <m:d>
                            <m:dPr>
                              <m:begChr m:val="("/>
                              <m:endChr m:val=")"/>
                              <m:sepChr m:val=""/>
                              <m:grow/>
                            </m:dPr>
                            <m:e>
                              <m:sSub>
                                <m:e>
                                  <m:r>
                                    <a:rPr lang="en-US" i="1" sz="2400">
                                      <a:solidFill>
                                        <a:srgbClr val="111111"/>
                                      </a:solidFill>
                                      <a:latin typeface="Cambria Math"/>
                                      <a:cs typeface="Cambria Math"/>
                                    </a:rPr>
                                    <m:t>x</m:t>
                                  </m:r>
                                </m:e>
                                <m:sub>
                                  <m:r>
                                    <a:rPr lang="en-US" i="1" sz="2400">
                                      <a:solidFill>
                                        <a:srgbClr val="111111"/>
                                      </a:solidFill>
                                      <a:latin typeface="Cambria Math"/>
                                      <a:cs typeface="Cambria Math"/>
                                    </a:rPr>
                                    <m:t>1</m:t>
                                  </m:r>
                                  <m:r>
                                    <m:rPr>
                                      <m:sty m:val="p"/>
                                    </m:rPr>
                                    <a:rPr lang="en-US" i="1" sz="2400">
                                      <a:solidFill>
                                        <a:srgbClr val="111111"/>
                                      </a:solidFill>
                                      <a:latin typeface="Cambria Math"/>
                                      <a:cs typeface="Cambria Math"/>
                                    </a:rPr>
                                    <m:t>:</m:t>
                                  </m:r>
                                  <m:r>
                                    <a:rPr lang="en-US" i="1" sz="2400">
                                      <a:solidFill>
                                        <a:srgbClr val="111111"/>
                                      </a:solidFill>
                                      <a:latin typeface="Cambria Math"/>
                                      <a:cs typeface="Cambria Math"/>
                                    </a:rPr>
                                    <m:t>n</m:t>
                                  </m:r>
                                </m:sub>
                              </m:sSub>
                              <m:r>
                                <m:rPr>
                                  <m:sty m:val="p"/>
                                </m:rPr>
                                <a:rPr lang="en-US" i="1" sz="2400">
                                  <a:solidFill>
                                    <a:srgbClr val="111111"/>
                                  </a:solidFill>
                                  <a:latin typeface="Cambria Math"/>
                                  <a:cs typeface="Cambria Math"/>
                                </a:rPr>
                                <m:t>∣</m:t>
                              </m:r>
                              <m:r>
                                <a:rPr lang="en-US" i="1" sz="2400">
                                  <a:solidFill>
                                    <a:srgbClr val="111111"/>
                                  </a:solidFill>
                                  <a:latin typeface="Cambria Math"/>
                                  <a:cs typeface="Cambria Math"/>
                                </a:rPr>
                                <m:t>k</m:t>
                              </m:r>
                              <m:r>
                                <m:rPr>
                                  <m:sty m:val="p"/>
                                </m:rPr>
                                <a:rPr lang="en-US" i="1" sz="2400">
                                  <a:solidFill>
                                    <a:srgbClr val="111111"/>
                                  </a:solidFill>
                                  <a:latin typeface="Cambria Math"/>
                                  <a:cs typeface="Cambria Math"/>
                                </a:rPr>
                                <m:t>′</m:t>
                              </m:r>
                            </m:e>
                          </m:d>
                          <m:r>
                            <a:rPr lang="en-US" i="1" sz="2400">
                              <a:solidFill>
                                <a:srgbClr val="111111"/>
                              </a:solidFill>
                              <a:latin typeface="Cambria Math"/>
                              <a:cs typeface="Cambria Math"/>
                            </a:rPr>
                            <m:t> </m:t>
                          </m:r>
                          <m:r>
                            <a:rPr lang="en-US" i="1" sz="2400">
                              <a:solidFill>
                                <a:srgbClr val="111111"/>
                              </a:solidFill>
                              <a:latin typeface="Cambria Math"/>
                              <a:cs typeface="Cambria Math"/>
                            </a:rPr>
                            <m:t>p</m:t>
                          </m:r>
                          <m:d>
                            <m:dPr>
                              <m:begChr m:val="("/>
                              <m:endChr m:val=")"/>
                              <m:sepChr m:val=""/>
                              <m:grow/>
                            </m:dPr>
                            <m:e>
                              <m:r>
                                <a:rPr lang="en-US" i="1" sz="2400">
                                  <a:solidFill>
                                    <a:srgbClr val="111111"/>
                                  </a:solidFill>
                                  <a:latin typeface="Cambria Math"/>
                                  <a:cs typeface="Cambria Math"/>
                                </a:rPr>
                                <m:t>k</m:t>
                              </m:r>
                              <m:r>
                                <m:rPr>
                                  <m:sty m:val="p"/>
                                </m:rPr>
                                <a:rPr lang="en-US" i="1" sz="2400">
                                  <a:solidFill>
                                    <a:srgbClr val="111111"/>
                                  </a:solidFill>
                                  <a:latin typeface="Cambria Math"/>
                                  <a:cs typeface="Cambria Math"/>
                                </a:rPr>
                                <m:t>′</m:t>
                              </m:r>
                            </m:e>
                          </m:d>
                        </m:den>
                      </m:f>
                    </m:oMath>
                  </m:oMathPara>
                </a14:m>
                <a:endParaRPr lang="en-US" sz="2400"/>
              </a:p>
            </p:txBody>
          </p:sp>
        </mc:Choice>
        <mc:Fallback>
          <p:sp>
            <p:nvSpPr>
              <p:cNvPr id="3" name="Equation: bayes" descr="LaTeX: p(k \mid x_{1:n}) = \dfrac{p(x_{1:n} \mid k)\, p(k)}{\sum_{k'}\; p(x_{1:n} \mid k')\, p(k')}"/>
              <p:cNvSpPr txBox="1">
                <a:spLocks noRot="1" noChangeAspect="1" noMove="1" noResize="1" noEditPoints="1" noAdjustHandles="1" noChangeArrowheads="1" noChangeShapeType="1" noTextEdit="1"/>
              </p:cNvSpPr>
              <p:nvPr/>
            </p:nvSpPr>
            <p:spPr>
              <a:xfrm>
                <a:off x="548640" y="1371600"/>
                <a:ext cx="4447032" cy="1152144"/>
              </a:xfrm>
              <a:prstGeom prst="rect">
                <a:avLst/>
              </a:prstGeom>
              <a:blipFill>
                <a:blip r:embed="rId2"/>
                <a:stretch>
                  <a:fillRect/>
                </a:stretch>
              </a:blipFill>
            </p:spPr>
            <p:txBody>
              <a:bodyPr/>
              <a:lstStyle/>
              <a:p>
                <a:r>
                  <a:rPr lang="en-US">
                    <a:noFill/>
                  </a:rPr>
                  <a:t> </a:t>
                </a:r>
              </a:p>
            </p:txBody>
          </p:sp>
        </mc:Fallback>
      </mc:AlternateContent>
      <p:sp>
        <p:nvSpPr>
          <p:cNvPr id="4" name="Text: in words"/>
          <p:cNvSpPr txBox="1"/>
          <p:nvPr/>
        </p:nvSpPr>
        <p:spPr>
          <a:xfrm>
            <a:off x="548640" y="2569463"/>
            <a:ext cx="5257800" cy="384048"/>
          </a:xfrm>
          <a:prstGeom prst="rect">
            <a:avLst/>
          </a:prstGeom>
          <a:noFill/>
        </p:spPr>
        <p:txBody>
          <a:bodyPr wrap="square" anchor="t" lIns="18288" rIns="18288" tIns="18288" bIns="18288">
            <a:spAutoFit/>
          </a:bodyPr>
          <a:lstStyle/>
          <a:p>
            <a:pPr algn="l">
              <a:spcAft>
                <a:spcPts val="0"/>
              </a:spcAft>
            </a:pPr>
            <a:r>
              <a:rPr sz="1800" b="1" i="0">
                <a:solidFill>
                  <a:srgbClr val="1B4F8C"/>
                </a:solidFill>
                <a:latin typeface="Cambria"/>
              </a:rPr>
              <a:t>posterior</a:t>
            </a:r>
            <a:r>
              <a:rPr sz="1800" b="0" i="0">
                <a:solidFill>
                  <a:srgbClr val="111111"/>
                </a:solidFill>
                <a:latin typeface="Cambria"/>
              </a:rPr>
              <a:t>  ∝  </a:t>
            </a:r>
            <a:r>
              <a:rPr sz="1800" b="1" i="0">
                <a:solidFill>
                  <a:srgbClr val="111111"/>
                </a:solidFill>
                <a:latin typeface="Cambria"/>
              </a:rPr>
              <a:t>likelihood</a:t>
            </a:r>
            <a:r>
              <a:rPr sz="1800" b="0" i="0">
                <a:solidFill>
                  <a:srgbClr val="111111"/>
                </a:solidFill>
                <a:latin typeface="Cambria"/>
              </a:rPr>
              <a:t>  ×  </a:t>
            </a:r>
            <a:r>
              <a:rPr sz="1800" b="1" i="0">
                <a:solidFill>
                  <a:srgbClr val="595959"/>
                </a:solidFill>
                <a:latin typeface="Cambria"/>
              </a:rPr>
              <a:t>prior</a:t>
            </a:r>
          </a:p>
        </p:txBody>
      </p:sp>
      <mc:AlternateContent xmlns:mc="http://schemas.openxmlformats.org/markup-compatibility/2006">
        <mc:Choice xmlns:a14="http://schemas.microsoft.com/office/drawing/2010/main" Requires="a14">
          <p:sp>
            <p:nvSpPr>
              <p:cNvPr id="5" name="Equation: likelihood" descr="LaTeX: p(x_{1:n} \mid k) = \int \prod_{m=1}^{7} \mathcal{N}\left(x_{m,1:n} \mid s\,\mu_{m,k:k+n-1},\;\Sigma_{m,k:k+n-1}(s)\right) p(s)\, ds"/>
              <p:cNvSpPr txBox="1"/>
              <p:nvPr/>
            </p:nvSpPr>
            <p:spPr>
              <a:xfrm>
                <a:off x="548640" y="3072384"/>
                <a:ext cx="5257800" cy="536753"/>
              </a:xfrm>
              <a:prstGeom prst="rect">
                <a:avLst/>
              </a:prstGeom>
              <a:noFill/>
            </p:spPr>
            <p:txBody>
              <a:bodyPr wrap="none" lIns="0" tIns="0" rIns="0" bIns="0" anchor="ctr">
                <a:noAutofit/>
              </a:bodyPr>
              <a:lstStyle/>
              <a:p>
                <a:pPr algn="l"/>
                <a14:m>
                  <m:oMathPara xmlns:m="http://schemas.openxmlformats.org/officeDocument/2006/math">
                    <m:oMathParaPr>
                      <m:jc m:val="left"/>
                    </m:oMathParaPr>
                    <m:oMath>
                      <m:r>
                        <a:rPr lang="en-US" i="1" sz="1409">
                          <a:solidFill>
                            <a:srgbClr val="111111"/>
                          </a:solidFill>
                          <a:latin typeface="Cambria Math"/>
                          <a:cs typeface="Cambria Math"/>
                        </a:rPr>
                        <m:t>p</m:t>
                      </m:r>
                      <m:d>
                        <m:dPr>
                          <m:begChr m:val="("/>
                          <m:endChr m:val=")"/>
                          <m:sepChr m:val=""/>
                          <m:grow/>
                        </m:dPr>
                        <m:e>
                          <m:sSub>
                            <m:e>
                              <m:r>
                                <a:rPr lang="en-US" i="1" sz="1409">
                                  <a:solidFill>
                                    <a:srgbClr val="111111"/>
                                  </a:solidFill>
                                  <a:latin typeface="Cambria Math"/>
                                  <a:cs typeface="Cambria Math"/>
                                </a:rPr>
                                <m:t>x</m:t>
                              </m:r>
                            </m:e>
                            <m:sub>
                              <m:r>
                                <a:rPr lang="en-US" i="1" sz="1409">
                                  <a:solidFill>
                                    <a:srgbClr val="111111"/>
                                  </a:solidFill>
                                  <a:latin typeface="Cambria Math"/>
                                  <a:cs typeface="Cambria Math"/>
                                </a:rPr>
                                <m:t>1</m:t>
                              </m:r>
                              <m:r>
                                <m:rPr>
                                  <m:sty m:val="p"/>
                                </m:rPr>
                                <a:rPr lang="en-US" i="1" sz="1409">
                                  <a:solidFill>
                                    <a:srgbClr val="111111"/>
                                  </a:solidFill>
                                  <a:latin typeface="Cambria Math"/>
                                  <a:cs typeface="Cambria Math"/>
                                </a:rPr>
                                <m:t>:</m:t>
                              </m:r>
                              <m:r>
                                <a:rPr lang="en-US" i="1" sz="1409">
                                  <a:solidFill>
                                    <a:srgbClr val="111111"/>
                                  </a:solidFill>
                                  <a:latin typeface="Cambria Math"/>
                                  <a:cs typeface="Cambria Math"/>
                                </a:rPr>
                                <m:t>n</m:t>
                              </m:r>
                            </m:sub>
                          </m:sSub>
                          <m:r>
                            <m:rPr>
                              <m:sty m:val="p"/>
                            </m:rPr>
                            <a:rPr lang="en-US" i="1" sz="1409">
                              <a:solidFill>
                                <a:srgbClr val="111111"/>
                              </a:solidFill>
                              <a:latin typeface="Cambria Math"/>
                              <a:cs typeface="Cambria Math"/>
                            </a:rPr>
                            <m:t>∣</m:t>
                          </m:r>
                          <m:r>
                            <a:rPr lang="en-US" i="1" sz="1409">
                              <a:solidFill>
                                <a:srgbClr val="111111"/>
                              </a:solidFill>
                              <a:latin typeface="Cambria Math"/>
                              <a:cs typeface="Cambria Math"/>
                            </a:rPr>
                            <m:t>k</m:t>
                          </m:r>
                        </m:e>
                      </m:d>
                      <m:r>
                        <m:rPr>
                          <m:sty m:val="p"/>
                        </m:rPr>
                        <a:rPr lang="en-US" i="1" sz="1409">
                          <a:solidFill>
                            <a:srgbClr val="111111"/>
                          </a:solidFill>
                          <a:latin typeface="Cambria Math"/>
                          <a:cs typeface="Cambria Math"/>
                        </a:rPr>
                        <m:t>=</m:t>
                      </m:r>
                      <m:r>
                        <m:rPr>
                          <m:sty m:val="p"/>
                        </m:rPr>
                        <a:rPr lang="en-US" i="1" sz="1409">
                          <a:solidFill>
                            <a:srgbClr val="111111"/>
                          </a:solidFill>
                          <a:latin typeface="Cambria Math"/>
                          <a:cs typeface="Cambria Math"/>
                        </a:rPr>
                        <m:t>∫</m:t>
                      </m:r>
                      <m:nary>
                        <m:naryPr>
                          <m:chr m:val="∏"/>
                          <m:limLoc m:val="undOvr"/>
                          <m:subHide m:val="off"/>
                          <m:supHide m:val="off"/>
                        </m:naryPr>
                        <m:sub>
                          <m:r>
                            <a:rPr lang="en-US" i="1" sz="1409">
                              <a:solidFill>
                                <a:srgbClr val="111111"/>
                              </a:solidFill>
                              <a:latin typeface="Cambria Math"/>
                              <a:cs typeface="Cambria Math"/>
                            </a:rPr>
                            <m:t>m</m:t>
                          </m:r>
                          <m:r>
                            <m:rPr>
                              <m:sty m:val="p"/>
                            </m:rPr>
                            <a:rPr lang="en-US" i="1" sz="1409">
                              <a:solidFill>
                                <a:srgbClr val="111111"/>
                              </a:solidFill>
                              <a:latin typeface="Cambria Math"/>
                              <a:cs typeface="Cambria Math"/>
                            </a:rPr>
                            <m:t>=</m:t>
                          </m:r>
                          <m:r>
                            <a:rPr lang="en-US" i="1" sz="1409">
                              <a:solidFill>
                                <a:srgbClr val="111111"/>
                              </a:solidFill>
                              <a:latin typeface="Cambria Math"/>
                              <a:cs typeface="Cambria Math"/>
                            </a:rPr>
                            <m:t>1</m:t>
                          </m:r>
                        </m:sub>
                        <m:sup>
                          <m:r>
                            <a:rPr lang="en-US" i="1" sz="1409">
                              <a:solidFill>
                                <a:srgbClr val="111111"/>
                              </a:solidFill>
                              <a:latin typeface="Cambria Math"/>
                              <a:cs typeface="Cambria Math"/>
                            </a:rPr>
                            <m:t>7</m:t>
                          </m:r>
                        </m:sup>
                        <m:e>
                          <m:r>
                            <m:rPr>
                              <m:sty m:val="p"/>
                              <m:scr m:val="script"/>
                            </m:rPr>
                            <a:rPr lang="en-US" i="1" sz="1409">
                              <a:solidFill>
                                <a:srgbClr val="111111"/>
                              </a:solidFill>
                              <a:latin typeface="Cambria Math"/>
                              <a:cs typeface="Cambria Math"/>
                            </a:rPr>
                            <m:t>N</m:t>
                          </m:r>
                        </m:e>
                      </m:nary>
                      <m:d>
                        <m:dPr>
                          <m:begChr m:val="("/>
                          <m:endChr m:val=")"/>
                          <m:sepChr m:val=""/>
                          <m:grow/>
                        </m:dPr>
                        <m:e>
                          <m:sSub>
                            <m:e>
                              <m:r>
                                <a:rPr lang="en-US" i="1" sz="1409">
                                  <a:solidFill>
                                    <a:srgbClr val="111111"/>
                                  </a:solidFill>
                                  <a:latin typeface="Cambria Math"/>
                                  <a:cs typeface="Cambria Math"/>
                                </a:rPr>
                                <m:t>x</m:t>
                              </m:r>
                            </m:e>
                            <m:sub>
                              <m:r>
                                <a:rPr lang="en-US" i="1" sz="1409">
                                  <a:solidFill>
                                    <a:srgbClr val="111111"/>
                                  </a:solidFill>
                                  <a:latin typeface="Cambria Math"/>
                                  <a:cs typeface="Cambria Math"/>
                                </a:rPr>
                                <m:t>m</m:t>
                              </m:r>
                              <m:r>
                                <m:rPr>
                                  <m:sty m:val="p"/>
                                </m:rPr>
                                <a:rPr lang="en-US" i="1" sz="1409">
                                  <a:solidFill>
                                    <a:srgbClr val="111111"/>
                                  </a:solidFill>
                                  <a:latin typeface="Cambria Math"/>
                                  <a:cs typeface="Cambria Math"/>
                                </a:rPr>
                                <m:t>,</m:t>
                              </m:r>
                              <m:r>
                                <a:rPr lang="en-US" i="1" sz="1409">
                                  <a:solidFill>
                                    <a:srgbClr val="111111"/>
                                  </a:solidFill>
                                  <a:latin typeface="Cambria Math"/>
                                  <a:cs typeface="Cambria Math"/>
                                </a:rPr>
                                <m:t>1</m:t>
                              </m:r>
                              <m:r>
                                <m:rPr>
                                  <m:sty m:val="p"/>
                                </m:rPr>
                                <a:rPr lang="en-US" i="1" sz="1409">
                                  <a:solidFill>
                                    <a:srgbClr val="111111"/>
                                  </a:solidFill>
                                  <a:latin typeface="Cambria Math"/>
                                  <a:cs typeface="Cambria Math"/>
                                </a:rPr>
                                <m:t>:</m:t>
                              </m:r>
                              <m:r>
                                <a:rPr lang="en-US" i="1" sz="1409">
                                  <a:solidFill>
                                    <a:srgbClr val="111111"/>
                                  </a:solidFill>
                                  <a:latin typeface="Cambria Math"/>
                                  <a:cs typeface="Cambria Math"/>
                                </a:rPr>
                                <m:t>n</m:t>
                              </m:r>
                            </m:sub>
                          </m:sSub>
                          <m:r>
                            <m:rPr>
                              <m:sty m:val="p"/>
                            </m:rPr>
                            <a:rPr lang="en-US" i="1" sz="1409">
                              <a:solidFill>
                                <a:srgbClr val="111111"/>
                              </a:solidFill>
                              <a:latin typeface="Cambria Math"/>
                              <a:cs typeface="Cambria Math"/>
                            </a:rPr>
                            <m:t>∣</m:t>
                          </m:r>
                          <m:r>
                            <a:rPr lang="en-US" i="1" sz="1409">
                              <a:solidFill>
                                <a:srgbClr val="111111"/>
                              </a:solidFill>
                              <a:latin typeface="Cambria Math"/>
                              <a:cs typeface="Cambria Math"/>
                            </a:rPr>
                            <m:t>s</m:t>
                          </m:r>
                          <m:r>
                            <a:rPr lang="en-US" i="1" sz="1409">
                              <a:solidFill>
                                <a:srgbClr val="111111"/>
                              </a:solidFill>
                              <a:latin typeface="Cambria Math"/>
                              <a:cs typeface="Cambria Math"/>
                            </a:rPr>
                            <m:t> </m:t>
                          </m:r>
                          <m:sSub>
                            <m:e>
                              <m:r>
                                <a:rPr lang="en-US" i="1" sz="1409">
                                  <a:solidFill>
                                    <a:srgbClr val="111111"/>
                                  </a:solidFill>
                                  <a:latin typeface="Cambria Math"/>
                                  <a:cs typeface="Cambria Math"/>
                                </a:rPr>
                                <m:t>μ</m:t>
                              </m:r>
                            </m:e>
                            <m:sub>
                              <m:r>
                                <a:rPr lang="en-US" i="1" sz="1409">
                                  <a:solidFill>
                                    <a:srgbClr val="111111"/>
                                  </a:solidFill>
                                  <a:latin typeface="Cambria Math"/>
                                  <a:cs typeface="Cambria Math"/>
                                </a:rPr>
                                <m:t>m</m:t>
                              </m:r>
                              <m:r>
                                <m:rPr>
                                  <m:sty m:val="p"/>
                                </m:rPr>
                                <a:rPr lang="en-US" i="1" sz="1409">
                                  <a:solidFill>
                                    <a:srgbClr val="111111"/>
                                  </a:solidFill>
                                  <a:latin typeface="Cambria Math"/>
                                  <a:cs typeface="Cambria Math"/>
                                </a:rPr>
                                <m:t>,</m:t>
                              </m:r>
                              <m:r>
                                <a:rPr lang="en-US" i="1" sz="1409">
                                  <a:solidFill>
                                    <a:srgbClr val="111111"/>
                                  </a:solidFill>
                                  <a:latin typeface="Cambria Math"/>
                                  <a:cs typeface="Cambria Math"/>
                                </a:rPr>
                                <m:t>k</m:t>
                              </m:r>
                              <m:r>
                                <m:rPr>
                                  <m:sty m:val="p"/>
                                </m:rPr>
                                <a:rPr lang="en-US" i="1" sz="1409">
                                  <a:solidFill>
                                    <a:srgbClr val="111111"/>
                                  </a:solidFill>
                                  <a:latin typeface="Cambria Math"/>
                                  <a:cs typeface="Cambria Math"/>
                                </a:rPr>
                                <m:t>:</m:t>
                              </m:r>
                              <m:r>
                                <a:rPr lang="en-US" i="1" sz="1409">
                                  <a:solidFill>
                                    <a:srgbClr val="111111"/>
                                  </a:solidFill>
                                  <a:latin typeface="Cambria Math"/>
                                  <a:cs typeface="Cambria Math"/>
                                </a:rPr>
                                <m:t>k</m:t>
                              </m:r>
                              <m:r>
                                <m:rPr>
                                  <m:sty m:val="p"/>
                                </m:rPr>
                                <a:rPr lang="en-US" i="1" sz="1409">
                                  <a:solidFill>
                                    <a:srgbClr val="111111"/>
                                  </a:solidFill>
                                  <a:latin typeface="Cambria Math"/>
                                  <a:cs typeface="Cambria Math"/>
                                </a:rPr>
                                <m:t>+</m:t>
                              </m:r>
                              <m:r>
                                <a:rPr lang="en-US" i="1" sz="1409">
                                  <a:solidFill>
                                    <a:srgbClr val="111111"/>
                                  </a:solidFill>
                                  <a:latin typeface="Cambria Math"/>
                                  <a:cs typeface="Cambria Math"/>
                                </a:rPr>
                                <m:t>n</m:t>
                              </m:r>
                              <m:r>
                                <m:rPr>
                                  <m:sty m:val="p"/>
                                </m:rPr>
                                <a:rPr lang="en-US" i="1" sz="1409">
                                  <a:solidFill>
                                    <a:srgbClr val="111111"/>
                                  </a:solidFill>
                                  <a:latin typeface="Cambria Math"/>
                                  <a:cs typeface="Cambria Math"/>
                                </a:rPr>
                                <m:t>−</m:t>
                              </m:r>
                              <m:r>
                                <a:rPr lang="en-US" i="1" sz="1409">
                                  <a:solidFill>
                                    <a:srgbClr val="111111"/>
                                  </a:solidFill>
                                  <a:latin typeface="Cambria Math"/>
                                  <a:cs typeface="Cambria Math"/>
                                </a:rPr>
                                <m:t>1</m:t>
                              </m:r>
                            </m:sub>
                          </m:sSub>
                          <m:r>
                            <m:rPr>
                              <m:sty m:val="p"/>
                            </m:rPr>
                            <a:rPr lang="en-US" i="1" sz="1409">
                              <a:solidFill>
                                <a:srgbClr val="111111"/>
                              </a:solidFill>
                              <a:latin typeface="Cambria Math"/>
                              <a:cs typeface="Cambria Math"/>
                            </a:rPr>
                            <m:t>,</m:t>
                          </m:r>
                          <m:r>
                            <a:rPr lang="en-US" i="1" sz="1409">
                              <a:solidFill>
                                <a:srgbClr val="111111"/>
                              </a:solidFill>
                              <a:latin typeface="Cambria Math"/>
                              <a:cs typeface="Cambria Math"/>
                            </a:rPr>
                            <m:t> </m:t>
                          </m:r>
                          <m:sSub>
                            <m:e>
                              <m:r>
                                <a:rPr lang="en-US" i="1" sz="1409">
                                  <a:solidFill>
                                    <a:srgbClr val="111111"/>
                                  </a:solidFill>
                                  <a:latin typeface="Cambria Math"/>
                                  <a:cs typeface="Cambria Math"/>
                                </a:rPr>
                                <m:t>Σ</m:t>
                              </m:r>
                            </m:e>
                            <m:sub>
                              <m:r>
                                <a:rPr lang="en-US" i="1" sz="1409">
                                  <a:solidFill>
                                    <a:srgbClr val="111111"/>
                                  </a:solidFill>
                                  <a:latin typeface="Cambria Math"/>
                                  <a:cs typeface="Cambria Math"/>
                                </a:rPr>
                                <m:t>m</m:t>
                              </m:r>
                              <m:r>
                                <m:rPr>
                                  <m:sty m:val="p"/>
                                </m:rPr>
                                <a:rPr lang="en-US" i="1" sz="1409">
                                  <a:solidFill>
                                    <a:srgbClr val="111111"/>
                                  </a:solidFill>
                                  <a:latin typeface="Cambria Math"/>
                                  <a:cs typeface="Cambria Math"/>
                                </a:rPr>
                                <m:t>,</m:t>
                              </m:r>
                              <m:r>
                                <a:rPr lang="en-US" i="1" sz="1409">
                                  <a:solidFill>
                                    <a:srgbClr val="111111"/>
                                  </a:solidFill>
                                  <a:latin typeface="Cambria Math"/>
                                  <a:cs typeface="Cambria Math"/>
                                </a:rPr>
                                <m:t>k</m:t>
                              </m:r>
                              <m:r>
                                <m:rPr>
                                  <m:sty m:val="p"/>
                                </m:rPr>
                                <a:rPr lang="en-US" i="1" sz="1409">
                                  <a:solidFill>
                                    <a:srgbClr val="111111"/>
                                  </a:solidFill>
                                  <a:latin typeface="Cambria Math"/>
                                  <a:cs typeface="Cambria Math"/>
                                </a:rPr>
                                <m:t>:</m:t>
                              </m:r>
                              <m:r>
                                <a:rPr lang="en-US" i="1" sz="1409">
                                  <a:solidFill>
                                    <a:srgbClr val="111111"/>
                                  </a:solidFill>
                                  <a:latin typeface="Cambria Math"/>
                                  <a:cs typeface="Cambria Math"/>
                                </a:rPr>
                                <m:t>k</m:t>
                              </m:r>
                              <m:r>
                                <m:rPr>
                                  <m:sty m:val="p"/>
                                </m:rPr>
                                <a:rPr lang="en-US" i="1" sz="1409">
                                  <a:solidFill>
                                    <a:srgbClr val="111111"/>
                                  </a:solidFill>
                                  <a:latin typeface="Cambria Math"/>
                                  <a:cs typeface="Cambria Math"/>
                                </a:rPr>
                                <m:t>+</m:t>
                              </m:r>
                              <m:r>
                                <a:rPr lang="en-US" i="1" sz="1409">
                                  <a:solidFill>
                                    <a:srgbClr val="111111"/>
                                  </a:solidFill>
                                  <a:latin typeface="Cambria Math"/>
                                  <a:cs typeface="Cambria Math"/>
                                </a:rPr>
                                <m:t>n</m:t>
                              </m:r>
                              <m:r>
                                <m:rPr>
                                  <m:sty m:val="p"/>
                                </m:rPr>
                                <a:rPr lang="en-US" i="1" sz="1409">
                                  <a:solidFill>
                                    <a:srgbClr val="111111"/>
                                  </a:solidFill>
                                  <a:latin typeface="Cambria Math"/>
                                  <a:cs typeface="Cambria Math"/>
                                </a:rPr>
                                <m:t>−</m:t>
                              </m:r>
                              <m:r>
                                <a:rPr lang="en-US" i="1" sz="1409">
                                  <a:solidFill>
                                    <a:srgbClr val="111111"/>
                                  </a:solidFill>
                                  <a:latin typeface="Cambria Math"/>
                                  <a:cs typeface="Cambria Math"/>
                                </a:rPr>
                                <m:t>1</m:t>
                              </m:r>
                            </m:sub>
                          </m:sSub>
                          <m:d>
                            <m:dPr>
                              <m:begChr m:val="("/>
                              <m:endChr m:val=")"/>
                              <m:sepChr m:val=""/>
                              <m:grow/>
                            </m:dPr>
                            <m:e>
                              <m:r>
                                <a:rPr lang="en-US" i="1" sz="1409">
                                  <a:solidFill>
                                    <a:srgbClr val="111111"/>
                                  </a:solidFill>
                                  <a:latin typeface="Cambria Math"/>
                                  <a:cs typeface="Cambria Math"/>
                                </a:rPr>
                                <m:t>s</m:t>
                              </m:r>
                            </m:e>
                          </m:d>
                        </m:e>
                      </m:d>
                      <m:r>
                        <a:rPr lang="en-US" i="1" sz="1409">
                          <a:solidFill>
                            <a:srgbClr val="111111"/>
                          </a:solidFill>
                          <a:latin typeface="Cambria Math"/>
                          <a:cs typeface="Cambria Math"/>
                        </a:rPr>
                        <m:t>p</m:t>
                      </m:r>
                      <m:d>
                        <m:dPr>
                          <m:begChr m:val="("/>
                          <m:endChr m:val=")"/>
                          <m:sepChr m:val=""/>
                          <m:grow/>
                        </m:dPr>
                        <m:e>
                          <m:r>
                            <a:rPr lang="en-US" i="1" sz="1409">
                              <a:solidFill>
                                <a:srgbClr val="111111"/>
                              </a:solidFill>
                              <a:latin typeface="Cambria Math"/>
                              <a:cs typeface="Cambria Math"/>
                            </a:rPr>
                            <m:t>s</m:t>
                          </m:r>
                        </m:e>
                      </m:d>
                      <m:r>
                        <a:rPr lang="en-US" i="1" sz="1409">
                          <a:solidFill>
                            <a:srgbClr val="111111"/>
                          </a:solidFill>
                          <a:latin typeface="Cambria Math"/>
                          <a:cs typeface="Cambria Math"/>
                        </a:rPr>
                        <m:t> </m:t>
                      </m:r>
                      <m:r>
                        <a:rPr lang="en-US" i="1" sz="1409">
                          <a:solidFill>
                            <a:srgbClr val="111111"/>
                          </a:solidFill>
                          <a:latin typeface="Cambria Math"/>
                          <a:cs typeface="Cambria Math"/>
                        </a:rPr>
                        <m:t>d</m:t>
                      </m:r>
                      <m:r>
                        <a:rPr lang="en-US" i="1" sz="1409">
                          <a:solidFill>
                            <a:srgbClr val="111111"/>
                          </a:solidFill>
                          <a:latin typeface="Cambria Math"/>
                          <a:cs typeface="Cambria Math"/>
                        </a:rPr>
                        <m:t>s</m:t>
                      </m:r>
                    </m:oMath>
                  </m:oMathPara>
                </a14:m>
                <a:endParaRPr lang="en-US" sz="1409"/>
              </a:p>
            </p:txBody>
          </p:sp>
        </mc:Choice>
        <mc:Fallback>
          <p:sp>
            <p:nvSpPr>
              <p:cNvPr id="5" name="Equation: likelihood" descr="LaTeX: p(x_{1:n} \mid k) = \int \prod_{m=1}^{7} \mathcal{N}\left(x_{m,1:n} \mid s\,\mu_{m,k:k+n-1},\;\Sigma_{m,k:k+n-1}(s)\right) p(s)\, ds"/>
              <p:cNvSpPr txBox="1">
                <a:spLocks noRot="1" noChangeAspect="1" noMove="1" noResize="1" noEditPoints="1" noAdjustHandles="1" noChangeArrowheads="1" noChangeShapeType="1" noTextEdit="1"/>
              </p:cNvSpPr>
              <p:nvPr/>
            </p:nvSpPr>
            <p:spPr>
              <a:xfrm>
                <a:off x="548640" y="3072384"/>
                <a:ext cx="5257800" cy="536753"/>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 name="Equation: covariance" descr="LaTeX: \Sigma_{m,k:k+n-1}(s) = s^2 \rho^2\, \sigma \sigma^{\mathrm{T}} + \mathrm{diag}\left(s^2 (1-\rho^2)\, \sigma^2 + \sigma_{\mathrm{err}}^2\right)"/>
              <p:cNvSpPr txBox="1"/>
              <p:nvPr/>
            </p:nvSpPr>
            <p:spPr>
              <a:xfrm>
                <a:off x="548640" y="3682289"/>
                <a:ext cx="4949952" cy="310896"/>
              </a:xfrm>
              <a:prstGeom prst="rect">
                <a:avLst/>
              </a:prstGeom>
              <a:noFill/>
            </p:spPr>
            <p:txBody>
              <a:bodyPr wrap="none" lIns="0" tIns="0" rIns="0" bIns="0" anchor="ctr">
                <a:noAutofit/>
              </a:bodyPr>
              <a:lstStyle/>
              <a:p>
                <a:pPr algn="l"/>
                <a14:m>
                  <m:oMathPara xmlns:m="http://schemas.openxmlformats.org/officeDocument/2006/math">
                    <m:oMathParaPr>
                      <m:jc m:val="left"/>
                    </m:oMathParaPr>
                    <m:oMath>
                      <m:sSub>
                        <m:e>
                          <m:r>
                            <a:rPr lang="en-US" i="1" sz="1600">
                              <a:solidFill>
                                <a:srgbClr val="111111"/>
                              </a:solidFill>
                              <a:latin typeface="Cambria Math"/>
                              <a:cs typeface="Cambria Math"/>
                            </a:rPr>
                            <m:t>Σ</m:t>
                          </m:r>
                        </m:e>
                        <m:sub>
                          <m:r>
                            <a:rPr lang="en-US" i="1" sz="1600">
                              <a:solidFill>
                                <a:srgbClr val="111111"/>
                              </a:solidFill>
                              <a:latin typeface="Cambria Math"/>
                              <a:cs typeface="Cambria Math"/>
                            </a:rPr>
                            <m:t>m</m:t>
                          </m:r>
                          <m:r>
                            <m:rPr>
                              <m:sty m:val="p"/>
                            </m:rPr>
                            <a:rPr lang="en-US" i="1" sz="1600">
                              <a:solidFill>
                                <a:srgbClr val="111111"/>
                              </a:solidFill>
                              <a:latin typeface="Cambria Math"/>
                              <a:cs typeface="Cambria Math"/>
                            </a:rPr>
                            <m:t>,</m:t>
                          </m:r>
                          <m:r>
                            <a:rPr lang="en-US" i="1" sz="1600">
                              <a:solidFill>
                                <a:srgbClr val="111111"/>
                              </a:solidFill>
                              <a:latin typeface="Cambria Math"/>
                              <a:cs typeface="Cambria Math"/>
                            </a:rPr>
                            <m:t>k</m:t>
                          </m:r>
                          <m:r>
                            <m:rPr>
                              <m:sty m:val="p"/>
                            </m:rPr>
                            <a:rPr lang="en-US" i="1" sz="1600">
                              <a:solidFill>
                                <a:srgbClr val="111111"/>
                              </a:solidFill>
                              <a:latin typeface="Cambria Math"/>
                              <a:cs typeface="Cambria Math"/>
                            </a:rPr>
                            <m:t>:</m:t>
                          </m:r>
                          <m:r>
                            <a:rPr lang="en-US" i="1" sz="1600">
                              <a:solidFill>
                                <a:srgbClr val="111111"/>
                              </a:solidFill>
                              <a:latin typeface="Cambria Math"/>
                              <a:cs typeface="Cambria Math"/>
                            </a:rPr>
                            <m:t>k</m:t>
                          </m:r>
                          <m:r>
                            <m:rPr>
                              <m:sty m:val="p"/>
                            </m:rPr>
                            <a:rPr lang="en-US" i="1" sz="1600">
                              <a:solidFill>
                                <a:srgbClr val="111111"/>
                              </a:solidFill>
                              <a:latin typeface="Cambria Math"/>
                              <a:cs typeface="Cambria Math"/>
                            </a:rPr>
                            <m:t>+</m:t>
                          </m:r>
                          <m:r>
                            <a:rPr lang="en-US" i="1" sz="1600">
                              <a:solidFill>
                                <a:srgbClr val="111111"/>
                              </a:solidFill>
                              <a:latin typeface="Cambria Math"/>
                              <a:cs typeface="Cambria Math"/>
                            </a:rPr>
                            <m:t>n</m:t>
                          </m:r>
                          <m:r>
                            <m:rPr>
                              <m:sty m:val="p"/>
                            </m:rPr>
                            <a:rPr lang="en-US" i="1" sz="1600">
                              <a:solidFill>
                                <a:srgbClr val="111111"/>
                              </a:solidFill>
                              <a:latin typeface="Cambria Math"/>
                              <a:cs typeface="Cambria Math"/>
                            </a:rPr>
                            <m:t>−</m:t>
                          </m:r>
                          <m:r>
                            <a:rPr lang="en-US" i="1" sz="1600">
                              <a:solidFill>
                                <a:srgbClr val="111111"/>
                              </a:solidFill>
                              <a:latin typeface="Cambria Math"/>
                              <a:cs typeface="Cambria Math"/>
                            </a:rPr>
                            <m:t>1</m:t>
                          </m:r>
                        </m:sub>
                      </m:sSub>
                      <m:d>
                        <m:dPr>
                          <m:begChr m:val="("/>
                          <m:endChr m:val=")"/>
                          <m:sepChr m:val=""/>
                          <m:grow/>
                        </m:dPr>
                        <m:e>
                          <m:r>
                            <a:rPr lang="en-US" i="1" sz="1600">
                              <a:solidFill>
                                <a:srgbClr val="111111"/>
                              </a:solidFill>
                              <a:latin typeface="Cambria Math"/>
                              <a:cs typeface="Cambria Math"/>
                            </a:rPr>
                            <m:t>s</m:t>
                          </m:r>
                        </m:e>
                      </m:d>
                      <m:r>
                        <m:rPr>
                          <m:sty m:val="p"/>
                        </m:rPr>
                        <a:rPr lang="en-US" i="1" sz="1600">
                          <a:solidFill>
                            <a:srgbClr val="111111"/>
                          </a:solidFill>
                          <a:latin typeface="Cambria Math"/>
                          <a:cs typeface="Cambria Math"/>
                        </a:rPr>
                        <m:t>=</m:t>
                      </m:r>
                      <m:sSup>
                        <m:e>
                          <m:r>
                            <a:rPr lang="en-US" i="1" sz="1600">
                              <a:solidFill>
                                <a:srgbClr val="111111"/>
                              </a:solidFill>
                              <a:latin typeface="Cambria Math"/>
                              <a:cs typeface="Cambria Math"/>
                            </a:rPr>
                            <m:t>s</m:t>
                          </m:r>
                        </m:e>
                        <m:sup>
                          <m:r>
                            <a:rPr lang="en-US" i="1" sz="1600">
                              <a:solidFill>
                                <a:srgbClr val="111111"/>
                              </a:solidFill>
                              <a:latin typeface="Cambria Math"/>
                              <a:cs typeface="Cambria Math"/>
                            </a:rPr>
                            <m:t>2</m:t>
                          </m:r>
                        </m:sup>
                      </m:sSup>
                      <m:sSup>
                        <m:e>
                          <m:r>
                            <a:rPr lang="en-US" i="1" sz="1600">
                              <a:solidFill>
                                <a:srgbClr val="111111"/>
                              </a:solidFill>
                              <a:latin typeface="Cambria Math"/>
                              <a:cs typeface="Cambria Math"/>
                            </a:rPr>
                            <m:t>ρ</m:t>
                          </m:r>
                        </m:e>
                        <m:sup>
                          <m:r>
                            <a:rPr lang="en-US" i="1" sz="1600">
                              <a:solidFill>
                                <a:srgbClr val="111111"/>
                              </a:solidFill>
                              <a:latin typeface="Cambria Math"/>
                              <a:cs typeface="Cambria Math"/>
                            </a:rPr>
                            <m:t>2</m:t>
                          </m:r>
                        </m:sup>
                      </m:sSup>
                      <m:r>
                        <a:rPr lang="en-US" i="1" sz="1600">
                          <a:solidFill>
                            <a:srgbClr val="111111"/>
                          </a:solidFill>
                          <a:latin typeface="Cambria Math"/>
                          <a:cs typeface="Cambria Math"/>
                        </a:rPr>
                        <m:t> </m:t>
                      </m:r>
                      <m:r>
                        <a:rPr lang="en-US" i="1" sz="1600">
                          <a:solidFill>
                            <a:srgbClr val="111111"/>
                          </a:solidFill>
                          <a:latin typeface="Cambria Math"/>
                          <a:cs typeface="Cambria Math"/>
                        </a:rPr>
                        <m:t>σ</m:t>
                      </m:r>
                      <m:sSup>
                        <m:e>
                          <m:r>
                            <a:rPr lang="en-US" i="1" sz="1600">
                              <a:solidFill>
                                <a:srgbClr val="111111"/>
                              </a:solidFill>
                              <a:latin typeface="Cambria Math"/>
                              <a:cs typeface="Cambria Math"/>
                            </a:rPr>
                            <m:t>σ</m:t>
                          </m:r>
                        </m:e>
                        <m:sup>
                          <m:r>
                            <m:rPr>
                              <m:sty m:val="p"/>
                            </m:rPr>
                            <a:rPr lang="en-US" i="1" sz="1600">
                              <a:solidFill>
                                <a:srgbClr val="111111"/>
                              </a:solidFill>
                              <a:latin typeface="Cambria Math"/>
                              <a:cs typeface="Cambria Math"/>
                            </a:rPr>
                            <m:t>T</m:t>
                          </m:r>
                        </m:sup>
                      </m:sSup>
                      <m:r>
                        <m:rPr>
                          <m:sty m:val="p"/>
                        </m:rPr>
                        <a:rPr lang="en-US" i="1" sz="1600">
                          <a:solidFill>
                            <a:srgbClr val="111111"/>
                          </a:solidFill>
                          <a:latin typeface="Cambria Math"/>
                          <a:cs typeface="Cambria Math"/>
                        </a:rPr>
                        <m:t>+</m:t>
                      </m:r>
                      <m:r>
                        <m:rPr>
                          <m:sty m:val="p"/>
                        </m:rPr>
                        <a:rPr lang="en-US" i="1" sz="1600">
                          <a:solidFill>
                            <a:srgbClr val="111111"/>
                          </a:solidFill>
                          <a:latin typeface="Cambria Math"/>
                          <a:cs typeface="Cambria Math"/>
                        </a:rPr>
                        <m:t>d</m:t>
                      </m:r>
                      <m:r>
                        <m:rPr>
                          <m:sty m:val="p"/>
                        </m:rPr>
                        <a:rPr lang="en-US" i="1" sz="1600">
                          <a:solidFill>
                            <a:srgbClr val="111111"/>
                          </a:solidFill>
                          <a:latin typeface="Cambria Math"/>
                          <a:cs typeface="Cambria Math"/>
                        </a:rPr>
                        <m:t>i</m:t>
                      </m:r>
                      <m:r>
                        <m:rPr>
                          <m:sty m:val="p"/>
                        </m:rPr>
                        <a:rPr lang="en-US" i="1" sz="1600">
                          <a:solidFill>
                            <a:srgbClr val="111111"/>
                          </a:solidFill>
                          <a:latin typeface="Cambria Math"/>
                          <a:cs typeface="Cambria Math"/>
                        </a:rPr>
                        <m:t>a</m:t>
                      </m:r>
                      <m:r>
                        <m:rPr>
                          <m:sty m:val="p"/>
                        </m:rPr>
                        <a:rPr lang="en-US" i="1" sz="1600">
                          <a:solidFill>
                            <a:srgbClr val="111111"/>
                          </a:solidFill>
                          <a:latin typeface="Cambria Math"/>
                          <a:cs typeface="Cambria Math"/>
                        </a:rPr>
                        <m:t>g</m:t>
                      </m:r>
                      <m:d>
                        <m:dPr>
                          <m:begChr m:val="("/>
                          <m:endChr m:val=")"/>
                          <m:sepChr m:val=""/>
                          <m:grow/>
                        </m:dPr>
                        <m:e>
                          <m:sSup>
                            <m:e>
                              <m:r>
                                <a:rPr lang="en-US" i="1" sz="1600">
                                  <a:solidFill>
                                    <a:srgbClr val="111111"/>
                                  </a:solidFill>
                                  <a:latin typeface="Cambria Math"/>
                                  <a:cs typeface="Cambria Math"/>
                                </a:rPr>
                                <m:t>s</m:t>
                              </m:r>
                            </m:e>
                            <m:sup>
                              <m:r>
                                <a:rPr lang="en-US" i="1" sz="1600">
                                  <a:solidFill>
                                    <a:srgbClr val="111111"/>
                                  </a:solidFill>
                                  <a:latin typeface="Cambria Math"/>
                                  <a:cs typeface="Cambria Math"/>
                                </a:rPr>
                                <m:t>2</m:t>
                              </m:r>
                            </m:sup>
                          </m:sSup>
                          <m:d>
                            <m:dPr>
                              <m:begChr m:val="("/>
                              <m:endChr m:val=")"/>
                              <m:sepChr m:val=""/>
                              <m:grow/>
                            </m:dPr>
                            <m:e>
                              <m:r>
                                <a:rPr lang="en-US" i="1" sz="1600">
                                  <a:solidFill>
                                    <a:srgbClr val="111111"/>
                                  </a:solidFill>
                                  <a:latin typeface="Cambria Math"/>
                                  <a:cs typeface="Cambria Math"/>
                                </a:rPr>
                                <m:t>1</m:t>
                              </m:r>
                              <m:r>
                                <m:rPr>
                                  <m:sty m:val="p"/>
                                </m:rPr>
                                <a:rPr lang="en-US" i="1" sz="1600">
                                  <a:solidFill>
                                    <a:srgbClr val="111111"/>
                                  </a:solidFill>
                                  <a:latin typeface="Cambria Math"/>
                                  <a:cs typeface="Cambria Math"/>
                                </a:rPr>
                                <m:t>−</m:t>
                              </m:r>
                              <m:sSup>
                                <m:e>
                                  <m:r>
                                    <a:rPr lang="en-US" i="1" sz="1600">
                                      <a:solidFill>
                                        <a:srgbClr val="111111"/>
                                      </a:solidFill>
                                      <a:latin typeface="Cambria Math"/>
                                      <a:cs typeface="Cambria Math"/>
                                    </a:rPr>
                                    <m:t>ρ</m:t>
                                  </m:r>
                                </m:e>
                                <m:sup>
                                  <m:r>
                                    <a:rPr lang="en-US" i="1" sz="1600">
                                      <a:solidFill>
                                        <a:srgbClr val="111111"/>
                                      </a:solidFill>
                                      <a:latin typeface="Cambria Math"/>
                                      <a:cs typeface="Cambria Math"/>
                                    </a:rPr>
                                    <m:t>2</m:t>
                                  </m:r>
                                </m:sup>
                              </m:sSup>
                            </m:e>
                          </m:d>
                          <m:r>
                            <a:rPr lang="en-US" i="1" sz="1600">
                              <a:solidFill>
                                <a:srgbClr val="111111"/>
                              </a:solidFill>
                              <a:latin typeface="Cambria Math"/>
                              <a:cs typeface="Cambria Math"/>
                            </a:rPr>
                            <m:t> </m:t>
                          </m:r>
                          <m:sSup>
                            <m:e>
                              <m:r>
                                <a:rPr lang="en-US" i="1" sz="1600">
                                  <a:solidFill>
                                    <a:srgbClr val="111111"/>
                                  </a:solidFill>
                                  <a:latin typeface="Cambria Math"/>
                                  <a:cs typeface="Cambria Math"/>
                                </a:rPr>
                                <m:t>σ</m:t>
                              </m:r>
                            </m:e>
                            <m:sup>
                              <m:r>
                                <a:rPr lang="en-US" i="1" sz="1600">
                                  <a:solidFill>
                                    <a:srgbClr val="111111"/>
                                  </a:solidFill>
                                  <a:latin typeface="Cambria Math"/>
                                  <a:cs typeface="Cambria Math"/>
                                </a:rPr>
                                <m:t>2</m:t>
                              </m:r>
                            </m:sup>
                          </m:sSup>
                          <m:r>
                            <m:rPr>
                              <m:sty m:val="p"/>
                            </m:rPr>
                            <a:rPr lang="en-US" i="1" sz="1600">
                              <a:solidFill>
                                <a:srgbClr val="111111"/>
                              </a:solidFill>
                              <a:latin typeface="Cambria Math"/>
                              <a:cs typeface="Cambria Math"/>
                            </a:rPr>
                            <m:t>+</m:t>
                          </m:r>
                          <m:sSubSup>
                            <m:e>
                              <m:r>
                                <a:rPr lang="en-US" i="1" sz="1600">
                                  <a:solidFill>
                                    <a:srgbClr val="111111"/>
                                  </a:solidFill>
                                  <a:latin typeface="Cambria Math"/>
                                  <a:cs typeface="Cambria Math"/>
                                </a:rPr>
                                <m:t>σ</m:t>
                              </m:r>
                            </m:e>
                            <m:sub>
                              <m:r>
                                <m:rPr>
                                  <m:sty m:val="p"/>
                                </m:rPr>
                                <a:rPr lang="en-US" i="1" sz="1600">
                                  <a:solidFill>
                                    <a:srgbClr val="111111"/>
                                  </a:solidFill>
                                  <a:latin typeface="Cambria Math"/>
                                  <a:cs typeface="Cambria Math"/>
                                </a:rPr>
                                <m:t>e</m:t>
                              </m:r>
                              <m:r>
                                <m:rPr>
                                  <m:sty m:val="p"/>
                                </m:rPr>
                                <a:rPr lang="en-US" i="1" sz="1600">
                                  <a:solidFill>
                                    <a:srgbClr val="111111"/>
                                  </a:solidFill>
                                  <a:latin typeface="Cambria Math"/>
                                  <a:cs typeface="Cambria Math"/>
                                </a:rPr>
                                <m:t>r</m:t>
                              </m:r>
                              <m:r>
                                <m:rPr>
                                  <m:sty m:val="p"/>
                                </m:rPr>
                                <a:rPr lang="en-US" i="1" sz="1600">
                                  <a:solidFill>
                                    <a:srgbClr val="111111"/>
                                  </a:solidFill>
                                  <a:latin typeface="Cambria Math"/>
                                  <a:cs typeface="Cambria Math"/>
                                </a:rPr>
                                <m:t>r</m:t>
                              </m:r>
                            </m:sub>
                            <m:sup>
                              <m:r>
                                <a:rPr lang="en-US" i="1" sz="1600">
                                  <a:solidFill>
                                    <a:srgbClr val="111111"/>
                                  </a:solidFill>
                                  <a:latin typeface="Cambria Math"/>
                                  <a:cs typeface="Cambria Math"/>
                                </a:rPr>
                                <m:t>2</m:t>
                              </m:r>
                            </m:sup>
                          </m:sSubSup>
                        </m:e>
                      </m:d>
                    </m:oMath>
                  </m:oMathPara>
                </a14:m>
                <a:endParaRPr lang="en-US" sz="1600"/>
              </a:p>
            </p:txBody>
          </p:sp>
        </mc:Choice>
        <mc:Fallback>
          <p:sp>
            <p:nvSpPr>
              <p:cNvPr id="6" name="Equation: covariance" descr="LaTeX: \Sigma_{m,k:k+n-1}(s) = s^2 \rho^2\, \sigma \sigma^{\mathrm{T}} + \mathrm{diag}\left(s^2 (1-\rho^2)\, \sigma^2 + \sigma_{\mathrm{err}}^2\right)"/>
              <p:cNvSpPr txBox="1">
                <a:spLocks noRot="1" noChangeAspect="1" noMove="1" noResize="1" noEditPoints="1" noAdjustHandles="1" noChangeArrowheads="1" noChangeShapeType="1" noTextEdit="1"/>
              </p:cNvSpPr>
              <p:nvPr/>
            </p:nvSpPr>
            <p:spPr>
              <a:xfrm>
                <a:off x="548640" y="3682289"/>
                <a:ext cx="4949952" cy="310896"/>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 name="Equation: size" descr="LaTeX: \log s \sim \mathcal{N}(0,\, 0.07^2),\qquad \rho = 0.5,\qquad \sigma_{\mathrm{err}} = 1\ \mathrm{mm}"/>
              <p:cNvSpPr txBox="1"/>
              <p:nvPr/>
            </p:nvSpPr>
            <p:spPr>
              <a:xfrm>
                <a:off x="548640" y="4066337"/>
                <a:ext cx="4084320" cy="286512"/>
              </a:xfrm>
              <a:prstGeom prst="rect">
                <a:avLst/>
              </a:prstGeom>
              <a:noFill/>
            </p:spPr>
            <p:txBody>
              <a:bodyPr wrap="none" lIns="0" tIns="0" rIns="0" bIns="0" anchor="ctr">
                <a:noAutofit/>
              </a:bodyPr>
              <a:lstStyle/>
              <a:p>
                <a:pPr algn="l"/>
                <a14:m>
                  <m:oMathPara xmlns:m="http://schemas.openxmlformats.org/officeDocument/2006/math">
                    <m:oMathParaPr>
                      <m:jc m:val="left"/>
                    </m:oMathParaPr>
                    <m:oMath>
                      <m:r>
                        <m:rPr>
                          <m:sty m:val="p"/>
                        </m:rPr>
                        <a:rPr lang="en-US" i="1" sz="1500">
                          <a:solidFill>
                            <a:srgbClr val="111111"/>
                          </a:solidFill>
                          <a:latin typeface="Cambria Math"/>
                          <a:cs typeface="Cambria Math"/>
                        </a:rPr>
                        <m:t>log</m:t>
                      </m:r>
                      <m:r>
                        <a:rPr lang="en-US" i="1" sz="1500">
                          <a:solidFill>
                            <a:srgbClr val="111111"/>
                          </a:solidFill>
                          <a:latin typeface="Cambria Math"/>
                          <a:cs typeface="Cambria Math"/>
                        </a:rPr>
                        <m:t>s</m:t>
                      </m:r>
                      <m:r>
                        <m:rPr>
                          <m:sty m:val="p"/>
                        </m:rPr>
                        <a:rPr lang="en-US" i="1" sz="1500">
                          <a:solidFill>
                            <a:srgbClr val="111111"/>
                          </a:solidFill>
                          <a:latin typeface="Cambria Math"/>
                          <a:cs typeface="Cambria Math"/>
                        </a:rPr>
                        <m:t>∼</m:t>
                      </m:r>
                      <m:r>
                        <m:rPr>
                          <m:sty m:val="p"/>
                          <m:scr m:val="script"/>
                        </m:rPr>
                        <a:rPr lang="en-US" i="1" sz="1500">
                          <a:solidFill>
                            <a:srgbClr val="111111"/>
                          </a:solidFill>
                          <a:latin typeface="Cambria Math"/>
                          <a:cs typeface="Cambria Math"/>
                        </a:rPr>
                        <m:t>N</m:t>
                      </m:r>
                      <m:d>
                        <m:dPr>
                          <m:begChr m:val="("/>
                          <m:endChr m:val=")"/>
                          <m:sepChr m:val=""/>
                          <m:grow/>
                        </m:dPr>
                        <m:e>
                          <m:r>
                            <a:rPr lang="en-US" i="1" sz="1500">
                              <a:solidFill>
                                <a:srgbClr val="111111"/>
                              </a:solidFill>
                              <a:latin typeface="Cambria Math"/>
                              <a:cs typeface="Cambria Math"/>
                            </a:rPr>
                            <m:t>0</m:t>
                          </m:r>
                          <m:r>
                            <m:rPr>
                              <m:sty m:val="p"/>
                            </m:rPr>
                            <a:rPr lang="en-US" i="1" sz="1500">
                              <a:solidFill>
                                <a:srgbClr val="111111"/>
                              </a:solidFill>
                              <a:latin typeface="Cambria Math"/>
                              <a:cs typeface="Cambria Math"/>
                            </a:rPr>
                            <m:t>,</m:t>
                          </m:r>
                          <m:r>
                            <a:rPr lang="en-US" i="1" sz="1500">
                              <a:solidFill>
                                <a:srgbClr val="111111"/>
                              </a:solidFill>
                              <a:latin typeface="Cambria Math"/>
                              <a:cs typeface="Cambria Math"/>
                            </a:rPr>
                            <m:t> </m:t>
                          </m:r>
                          <m:sSup>
                            <m:e>
                              <m:r>
                                <a:rPr lang="en-US" i="1" sz="1500">
                                  <a:solidFill>
                                    <a:srgbClr val="111111"/>
                                  </a:solidFill>
                                  <a:latin typeface="Cambria Math"/>
                                  <a:cs typeface="Cambria Math"/>
                                </a:rPr>
                                <m:t>0.07</m:t>
                              </m:r>
                            </m:e>
                            <m:sup>
                              <m:r>
                                <a:rPr lang="en-US" i="1" sz="1500">
                                  <a:solidFill>
                                    <a:srgbClr val="111111"/>
                                  </a:solidFill>
                                  <a:latin typeface="Cambria Math"/>
                                  <a:cs typeface="Cambria Math"/>
                                </a:rPr>
                                <m:t>2</m:t>
                              </m:r>
                            </m:sup>
                          </m:sSup>
                        </m:e>
                      </m:d>
                      <m:r>
                        <m:rPr>
                          <m:sty m:val="p"/>
                        </m:rPr>
                        <a:rPr lang="en-US" i="1" sz="1500">
                          <a:solidFill>
                            <a:srgbClr val="111111"/>
                          </a:solidFill>
                          <a:latin typeface="Cambria Math"/>
                          <a:cs typeface="Cambria Math"/>
                        </a:rPr>
                        <m:t>,</m:t>
                      </m:r>
                      <m:r>
                        <a:rPr lang="en-US" i="1" sz="1500">
                          <a:solidFill>
                            <a:srgbClr val="111111"/>
                          </a:solidFill>
                          <a:latin typeface="Cambria Math"/>
                          <a:cs typeface="Cambria Math"/>
                        </a:rPr>
                        <m:t>  </m:t>
                      </m:r>
                      <m:r>
                        <a:rPr lang="en-US" i="1" sz="1500">
                          <a:solidFill>
                            <a:srgbClr val="111111"/>
                          </a:solidFill>
                          <a:latin typeface="Cambria Math"/>
                          <a:cs typeface="Cambria Math"/>
                        </a:rPr>
                        <m:t>ρ</m:t>
                      </m:r>
                      <m:r>
                        <m:rPr>
                          <m:sty m:val="p"/>
                        </m:rPr>
                        <a:rPr lang="en-US" i="1" sz="1500">
                          <a:solidFill>
                            <a:srgbClr val="111111"/>
                          </a:solidFill>
                          <a:latin typeface="Cambria Math"/>
                          <a:cs typeface="Cambria Math"/>
                        </a:rPr>
                        <m:t>=</m:t>
                      </m:r>
                      <m:r>
                        <a:rPr lang="en-US" i="1" sz="1500">
                          <a:solidFill>
                            <a:srgbClr val="111111"/>
                          </a:solidFill>
                          <a:latin typeface="Cambria Math"/>
                          <a:cs typeface="Cambria Math"/>
                        </a:rPr>
                        <m:t>0.5</m:t>
                      </m:r>
                      <m:r>
                        <m:rPr>
                          <m:sty m:val="p"/>
                        </m:rPr>
                        <a:rPr lang="en-US" i="1" sz="1500">
                          <a:solidFill>
                            <a:srgbClr val="111111"/>
                          </a:solidFill>
                          <a:latin typeface="Cambria Math"/>
                          <a:cs typeface="Cambria Math"/>
                        </a:rPr>
                        <m:t>,</m:t>
                      </m:r>
                      <m:r>
                        <a:rPr lang="en-US" i="1" sz="1500">
                          <a:solidFill>
                            <a:srgbClr val="111111"/>
                          </a:solidFill>
                          <a:latin typeface="Cambria Math"/>
                          <a:cs typeface="Cambria Math"/>
                        </a:rPr>
                        <m:t>  </m:t>
                      </m:r>
                      <m:sSub>
                        <m:e>
                          <m:r>
                            <a:rPr lang="en-US" i="1" sz="1500">
                              <a:solidFill>
                                <a:srgbClr val="111111"/>
                              </a:solidFill>
                              <a:latin typeface="Cambria Math"/>
                              <a:cs typeface="Cambria Math"/>
                            </a:rPr>
                            <m:t>σ</m:t>
                          </m:r>
                        </m:e>
                        <m:sub>
                          <m:r>
                            <m:rPr>
                              <m:sty m:val="p"/>
                            </m:rPr>
                            <a:rPr lang="en-US" i="1" sz="1500">
                              <a:solidFill>
                                <a:srgbClr val="111111"/>
                              </a:solidFill>
                              <a:latin typeface="Cambria Math"/>
                              <a:cs typeface="Cambria Math"/>
                            </a:rPr>
                            <m:t>e</m:t>
                          </m:r>
                          <m:r>
                            <m:rPr>
                              <m:sty m:val="p"/>
                            </m:rPr>
                            <a:rPr lang="en-US" i="1" sz="1500">
                              <a:solidFill>
                                <a:srgbClr val="111111"/>
                              </a:solidFill>
                              <a:latin typeface="Cambria Math"/>
                              <a:cs typeface="Cambria Math"/>
                            </a:rPr>
                            <m:t>r</m:t>
                          </m:r>
                          <m:r>
                            <m:rPr>
                              <m:sty m:val="p"/>
                            </m:rPr>
                            <a:rPr lang="en-US" i="1" sz="1500">
                              <a:solidFill>
                                <a:srgbClr val="111111"/>
                              </a:solidFill>
                              <a:latin typeface="Cambria Math"/>
                              <a:cs typeface="Cambria Math"/>
                            </a:rPr>
                            <m:t>r</m:t>
                          </m:r>
                        </m:sub>
                      </m:sSub>
                      <m:r>
                        <m:rPr>
                          <m:sty m:val="p"/>
                        </m:rPr>
                        <a:rPr lang="en-US" i="1" sz="1500">
                          <a:solidFill>
                            <a:srgbClr val="111111"/>
                          </a:solidFill>
                          <a:latin typeface="Cambria Math"/>
                          <a:cs typeface="Cambria Math"/>
                        </a:rPr>
                        <m:t>=</m:t>
                      </m:r>
                      <m:r>
                        <a:rPr lang="en-US" i="1" sz="1500">
                          <a:solidFill>
                            <a:srgbClr val="111111"/>
                          </a:solidFill>
                          <a:latin typeface="Cambria Math"/>
                          <a:cs typeface="Cambria Math"/>
                        </a:rPr>
                        <m:t>1</m:t>
                      </m:r>
                      <m:r>
                        <a:rPr lang="en-US" i="1" sz="1500">
                          <a:solidFill>
                            <a:srgbClr val="111111"/>
                          </a:solidFill>
                          <a:latin typeface="Cambria Math"/>
                          <a:cs typeface="Cambria Math"/>
                        </a:rPr>
                        <m:t> </m:t>
                      </m:r>
                      <m:r>
                        <m:rPr>
                          <m:sty m:val="p"/>
                        </m:rPr>
                        <a:rPr lang="en-US" i="1" sz="1500">
                          <a:solidFill>
                            <a:srgbClr val="111111"/>
                          </a:solidFill>
                          <a:latin typeface="Cambria Math"/>
                          <a:cs typeface="Cambria Math"/>
                        </a:rPr>
                        <m:t>m</m:t>
                      </m:r>
                      <m:r>
                        <m:rPr>
                          <m:sty m:val="p"/>
                        </m:rPr>
                        <a:rPr lang="en-US" i="1" sz="1500">
                          <a:solidFill>
                            <a:srgbClr val="111111"/>
                          </a:solidFill>
                          <a:latin typeface="Cambria Math"/>
                          <a:cs typeface="Cambria Math"/>
                        </a:rPr>
                        <m:t>m</m:t>
                      </m:r>
                    </m:oMath>
                  </m:oMathPara>
                </a14:m>
                <a:endParaRPr lang="en-US" sz="1500"/>
              </a:p>
            </p:txBody>
          </p:sp>
        </mc:Choice>
        <mc:Fallback>
          <p:sp>
            <p:nvSpPr>
              <p:cNvPr id="7" name="Equation: size" descr="LaTeX: \log s \sim \mathcal{N}(0,\, 0.07^2),\qquad \rho = 0.5,\qquad \sigma_{\mathrm{err}} = 1\ \mathrm{mm}"/>
              <p:cNvSpPr txBox="1">
                <a:spLocks noRot="1" noChangeAspect="1" noMove="1" noResize="1" noEditPoints="1" noAdjustHandles="1" noChangeArrowheads="1" noChangeShapeType="1" noTextEdit="1"/>
              </p:cNvSpPr>
              <p:nvPr/>
            </p:nvSpPr>
            <p:spPr>
              <a:xfrm>
                <a:off x="548640" y="4066337"/>
                <a:ext cx="4084320" cy="286512"/>
              </a:xfrm>
              <a:prstGeom prst="rect">
                <a:avLst/>
              </a:prstGeom>
              <a:blipFill>
                <a:blip r:embed="rId5"/>
                <a:stretch>
                  <a:fillRect/>
                </a:stretch>
              </a:blipFill>
            </p:spPr>
            <p:txBody>
              <a:bodyPr/>
              <a:lstStyle/>
              <a:p>
                <a:r>
                  <a:rPr lang="en-US">
                    <a:noFill/>
                  </a:rPr>
                  <a:t> </a:t>
                </a:r>
              </a:p>
            </p:txBody>
          </p:sp>
        </mc:Fallback>
      </mc:AlternateContent>
      <p:sp>
        <p:nvSpPr>
          <p:cNvPr id="8" name="Text: how"/>
          <p:cNvSpPr txBox="1"/>
          <p:nvPr/>
        </p:nvSpPr>
        <p:spPr>
          <a:xfrm>
            <a:off x="548640" y="4462577"/>
            <a:ext cx="5257800" cy="1755342"/>
          </a:xfrm>
          <a:prstGeom prst="rect">
            <a:avLst/>
          </a:prstGeom>
          <a:noFill/>
        </p:spPr>
        <p:txBody>
          <a:bodyPr wrap="square" anchor="t" lIns="18288" rIns="18288" tIns="18288" bIns="18288">
            <a:spAutoFit/>
          </a:bodyPr>
          <a:lstStyle/>
          <a:p>
            <a:pPr algn="l">
              <a:spcAft>
                <a:spcPts val="600"/>
              </a:spcAft>
            </a:pPr>
            <a:r>
              <a:rPr sz="1400" b="0" i="0">
                <a:solidFill>
                  <a:srgbClr val="111111"/>
                </a:solidFill>
                <a:latin typeface="Cambria"/>
              </a:rPr>
              <a:t>Every one of the 23 − </a:t>
            </a:r>
            <a:r>
              <a:rPr sz="1400" b="0" i="1">
                <a:solidFill>
                  <a:srgbClr val="111111"/>
                </a:solidFill>
                <a:latin typeface="Cambria"/>
              </a:rPr>
              <a:t>n</a:t>
            </a:r>
            <a:r>
              <a:rPr sz="1400" b="0" i="0">
                <a:solidFill>
                  <a:srgbClr val="111111"/>
                </a:solidFill>
                <a:latin typeface="Cambria"/>
              </a:rPr>
              <a:t> places is scored under the prior </a:t>
            </a:r>
            <a:r>
              <a:rPr sz="1400" b="0" i="1">
                <a:solidFill>
                  <a:srgbClr val="111111"/>
                </a:solidFill>
                <a:latin typeface="Cambria"/>
              </a:rPr>
              <a:t>p</a:t>
            </a:r>
            <a:r>
              <a:rPr sz="1400" b="0" i="0">
                <a:solidFill>
                  <a:srgbClr val="111111"/>
                </a:solidFill>
                <a:latin typeface="Cambria"/>
              </a:rPr>
              <a:t>(</a:t>
            </a:r>
            <a:r>
              <a:rPr sz="1400" b="0" i="1">
                <a:solidFill>
                  <a:srgbClr val="111111"/>
                </a:solidFill>
                <a:latin typeface="Cambria"/>
              </a:rPr>
              <a:t>k</a:t>
            </a:r>
            <a:r>
              <a:rPr sz="1400" b="0" i="0">
                <a:solidFill>
                  <a:srgbClr val="111111"/>
                </a:solidFill>
                <a:latin typeface="Cambria"/>
              </a:rPr>
              <a:t>) = 1/(23 − </a:t>
            </a:r>
            <a:r>
              <a:rPr sz="1400" b="0" i="1">
                <a:solidFill>
                  <a:srgbClr val="111111"/>
                </a:solidFill>
                <a:latin typeface="Cambria"/>
              </a:rPr>
              <a:t>n</a:t>
            </a:r>
            <a:r>
              <a:rPr sz="1400" b="0" i="0">
                <a:solidFill>
                  <a:srgbClr val="111111"/>
                </a:solidFill>
                <a:latin typeface="Cambria"/>
              </a:rPr>
              <a:t>); nothing is fitted.</a:t>
            </a:r>
          </a:p>
          <a:p>
            <a:pPr algn="l">
              <a:spcAft>
                <a:spcPts val="600"/>
              </a:spcAft>
            </a:pPr>
            <a:r>
              <a:rPr sz="1400" b="0" i="1">
                <a:solidFill>
                  <a:srgbClr val="111111"/>
                </a:solidFill>
                <a:latin typeface="Cambria"/>
              </a:rPr>
              <a:t>σ</a:t>
            </a:r>
            <a:r>
              <a:rPr sz="1400" b="0" i="0">
                <a:solidFill>
                  <a:srgbClr val="111111"/>
                </a:solidFill>
                <a:latin typeface="Cambria"/>
              </a:rPr>
              <a:t>: the table's spreads at levels </a:t>
            </a:r>
            <a:r>
              <a:rPr sz="1400" b="0" i="1">
                <a:solidFill>
                  <a:srgbClr val="111111"/>
                </a:solidFill>
                <a:latin typeface="Cambria"/>
              </a:rPr>
              <a:t>k</a:t>
            </a:r>
            <a:r>
              <a:rPr sz="1400" b="0" i="0">
                <a:solidFill>
                  <a:srgbClr val="111111"/>
                </a:solidFill>
                <a:latin typeface="Cambria"/>
              </a:rPr>
              <a:t> to </a:t>
            </a:r>
            <a:r>
              <a:rPr sz="1400" b="0" i="1">
                <a:solidFill>
                  <a:srgbClr val="111111"/>
                </a:solidFill>
                <a:latin typeface="Cambria"/>
              </a:rPr>
              <a:t>k</a:t>
            </a:r>
            <a:r>
              <a:rPr sz="1400" b="0" i="0">
                <a:solidFill>
                  <a:srgbClr val="111111"/>
                </a:solidFill>
                <a:latin typeface="Cambria"/>
              </a:rPr>
              <a:t> + </a:t>
            </a:r>
            <a:r>
              <a:rPr sz="1400" b="0" i="1">
                <a:solidFill>
                  <a:srgbClr val="111111"/>
                </a:solidFill>
                <a:latin typeface="Cambria"/>
              </a:rPr>
              <a:t>n</a:t>
            </a:r>
            <a:r>
              <a:rPr sz="1400" b="0" i="0">
                <a:solidFill>
                  <a:srgbClr val="111111"/>
                </a:solidFill>
                <a:latin typeface="Cambria"/>
              </a:rPr>
              <a:t> − 1, scaled by the column's size </a:t>
            </a:r>
            <a:r>
              <a:rPr sz="1400" b="0" i="1">
                <a:solidFill>
                  <a:srgbClr val="111111"/>
                </a:solidFill>
                <a:latin typeface="Cambria"/>
              </a:rPr>
              <a:t>s</a:t>
            </a:r>
            <a:r>
              <a:rPr sz="1400" b="0" i="0">
                <a:solidFill>
                  <a:srgbClr val="111111"/>
                </a:solidFill>
                <a:latin typeface="Cambria"/>
              </a:rPr>
              <a:t>; the covariance is inverted in closed form and </a:t>
            </a:r>
            <a:r>
              <a:rPr sz="1400" b="0" i="1">
                <a:solidFill>
                  <a:srgbClr val="111111"/>
                </a:solidFill>
                <a:latin typeface="Cambria"/>
              </a:rPr>
              <a:t>log s</a:t>
            </a:r>
            <a:r>
              <a:rPr sz="1400" b="0" i="0">
                <a:solidFill>
                  <a:srgbClr val="111111"/>
                </a:solidFill>
                <a:latin typeface="Cambria"/>
              </a:rPr>
              <a:t> is integrated by Gauss–Hermite quadrature on 161 nodes.</a:t>
            </a:r>
          </a:p>
          <a:p>
            <a:pPr algn="l">
              <a:spcAft>
                <a:spcPts val="600"/>
              </a:spcAft>
            </a:pPr>
            <a:r>
              <a:rPr sz="1400" b="0" i="0">
                <a:solidFill>
                  <a:srgbClr val="111111"/>
                </a:solidFill>
                <a:latin typeface="Cambria"/>
              </a:rPr>
              <a:t>So it is the Bayes rule for this generator: no formula or network on the same measures names more fields correctly on average.</a:t>
            </a:r>
          </a:p>
        </p:txBody>
      </p:sp>
      <p:pic>
        <p:nvPicPr>
          <p:cNvPr id="9" name="Figure: exact_slide_posterior" descr="Bayes' rule over every place. Top, the prior over the middle body's level for one body (for n bodies, uniform over the 23 - n places); below, its posterior from one, three and nine bodies centred on T12, for the scoring column nearest the median of 2,000 at all three widths. Uniform prior, so the posterior is the normalised likelihood."/>
          <p:cNvPicPr>
            <a:picLocks noChangeAspect="1"/>
          </p:cNvPicPr>
          <p:nvPr/>
        </p:nvPicPr>
        <p:blipFill>
          <a:blip r:embed="rId6"/>
          <a:stretch>
            <a:fillRect/>
          </a:stretch>
        </p:blipFill>
        <p:spPr>
          <a:xfrm>
            <a:off x="5897880" y="1371600"/>
            <a:ext cx="5760720" cy="4800600"/>
          </a:xfrm>
          <a:prstGeom prst="rect">
            <a:avLst/>
          </a:prstGeom>
        </p:spPr>
      </p:pic>
      <p:sp>
        <p:nvSpPr>
          <p:cNvPr id="10" name="Text: footer"/>
          <p:cNvSpPr txBox="1"/>
          <p:nvPr/>
        </p:nvSpPr>
        <p:spPr>
          <a:xfrm>
            <a:off x="548640" y="6272784"/>
            <a:ext cx="9966960" cy="411480"/>
          </a:xfrm>
          <a:prstGeom prst="rect">
            <a:avLst/>
          </a:prstGeom>
          <a:noFill/>
        </p:spPr>
        <p:txBody>
          <a:bodyPr wrap="square" anchor="t" lIns="18288" rIns="18288" tIns="18288" bIns="18288">
            <a:spAutoFit/>
          </a:bodyPr>
          <a:lstStyle/>
          <a:p>
            <a:pPr algn="l">
              <a:spcAft>
                <a:spcPts val="0"/>
              </a:spcAft>
            </a:pPr>
            <a:r>
              <a:rPr sz="1100" b="0" i="0">
                <a:solidFill>
                  <a:srgbClr val="595959"/>
                </a:solidFill>
                <a:latin typeface="Cambria"/>
              </a:rPr>
              <a:t>Synthetic columns from Panjabi's published tables (Spine 1991;16:861, 888; 1992;17:299); no patient data.</a:t>
            </a:r>
          </a:p>
          <a:p>
            <a:pPr algn="l">
              <a:spcAft>
                <a:spcPts val="0"/>
              </a:spcAft>
            </a:pPr>
            <a:r>
              <a:rPr sz="1100" b="1" i="0">
                <a:solidFill>
                  <a:srgbClr val="111111"/>
                </a:solidFill>
                <a:latin typeface="Cambria"/>
              </a:rPr>
              <a:t>Confidential: pre-filing draft, not for distribution</a:t>
            </a:r>
          </a:p>
        </p:txBody>
      </p:sp>
      <p:sp>
        <p:nvSpPr>
          <p:cNvPr id="11" name="Text: slide number"/>
          <p:cNvSpPr txBox="1"/>
          <p:nvPr/>
        </p:nvSpPr>
        <p:spPr>
          <a:xfrm>
            <a:off x="10725912" y="6272784"/>
            <a:ext cx="914400" cy="274320"/>
          </a:xfrm>
          <a:prstGeom prst="rect">
            <a:avLst/>
          </a:prstGeom>
          <a:noFill/>
        </p:spPr>
        <p:txBody>
          <a:bodyPr wrap="square" anchor="t" lIns="18288" rIns="18288" tIns="18288" bIns="18288">
            <a:spAutoFit/>
          </a:bodyPr>
          <a:lstStyle/>
          <a:p>
            <a:pPr algn="r">
              <a:spcAft>
                <a:spcPts val="0"/>
              </a:spcAft>
            </a:pPr>
            <a:r>
              <a:rPr sz="1100" b="0" i="0">
                <a:solidFill>
                  <a:srgbClr val="595959"/>
                </a:solidFill>
                <a:latin typeface="Cambria"/>
              </a:rPr>
              <a:t>2 / 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74320"/>
            <a:ext cx="11091672" cy="960120"/>
          </a:xfrm>
        </p:spPr>
        <p:txBody>
          <a:bodyPr wrap="square" anchor="b"/>
          <a:lstStyle/>
          <a:p>
            <a:pPr algn="l"/>
            <a:r>
              <a:rPr sz="2800" b="1">
                <a:solidFill>
                  <a:srgbClr val="111111"/>
                </a:solidFill>
                <a:latin typeface="Cambria"/>
              </a:rPr>
              <a:t>Three bodies name 73%; when sure, 99.8% are right</a:t>
            </a:r>
          </a:p>
        </p:txBody>
      </p:sp>
      <p:pic>
        <p:nvPicPr>
          <p:cNvPr id="3" name="Figure: exact_slide_ceiling" descr="Share of fields named exactly by the exact rule (solid) and named at posterior 0.99 (dashed), both planes, by consecutive bodies in view; crosses, a linear classifier fitted on other synthetic columns, scored on the first 1,000. 2,000 synthetic columns."/>
          <p:cNvPicPr>
            <a:picLocks noChangeAspect="1"/>
          </p:cNvPicPr>
          <p:nvPr/>
        </p:nvPicPr>
        <p:blipFill>
          <a:blip r:embed="rId2"/>
          <a:stretch>
            <a:fillRect/>
          </a:stretch>
        </p:blipFill>
        <p:spPr>
          <a:xfrm>
            <a:off x="548640" y="1325880"/>
            <a:ext cx="5120640" cy="3794760"/>
          </a:xfrm>
          <a:prstGeom prst="rect">
            <a:avLst/>
          </a:prstGeom>
        </p:spPr>
      </p:pic>
      <p:pic>
        <p:nvPicPr>
          <p:cNvPr id="4" name="Figure: exact_slide_calibration" descr="The posterior is the chance of being right: error the posterior predicts against error counted, by posterior bin, one, three and nine bodies, both planes; dotted, exact agreement; a bin with no error counted sits on the floor. 2,000 synthetic columns."/>
          <p:cNvPicPr>
            <a:picLocks noChangeAspect="1"/>
          </p:cNvPicPr>
          <p:nvPr/>
        </p:nvPicPr>
        <p:blipFill>
          <a:blip r:embed="rId3"/>
          <a:stretch>
            <a:fillRect/>
          </a:stretch>
        </p:blipFill>
        <p:spPr>
          <a:xfrm>
            <a:off x="5715000" y="1371600"/>
            <a:ext cx="3337560" cy="3291840"/>
          </a:xfrm>
          <a:prstGeom prst="rect">
            <a:avLst/>
          </a:prstGeom>
        </p:spPr>
      </p:pic>
      <p:sp>
        <p:nvSpPr>
          <p:cNvPr id="5" name="Text: stat three bodies"/>
          <p:cNvSpPr txBox="1"/>
          <p:nvPr/>
        </p:nvSpPr>
        <p:spPr>
          <a:xfrm>
            <a:off x="9189720" y="1371600"/>
            <a:ext cx="2450592" cy="1325880"/>
          </a:xfrm>
          <a:prstGeom prst="rect">
            <a:avLst/>
          </a:prstGeom>
          <a:noFill/>
        </p:spPr>
        <p:txBody>
          <a:bodyPr wrap="square" anchor="t" lIns="18288" rIns="18288" tIns="18288" bIns="18288">
            <a:spAutoFit/>
          </a:bodyPr>
          <a:lstStyle/>
          <a:p>
            <a:pPr algn="l">
              <a:lnSpc>
                <a:spcPct val="95000"/>
              </a:lnSpc>
              <a:spcAft>
                <a:spcPts val="100"/>
              </a:spcAft>
            </a:pPr>
            <a:r>
              <a:rPr sz="3600" b="1" i="0">
                <a:solidFill>
                  <a:srgbClr val="1B4F8C"/>
                </a:solidFill>
                <a:latin typeface="Cambria"/>
              </a:rPr>
              <a:t>73%</a:t>
            </a:r>
          </a:p>
          <a:p>
            <a:pPr algn="l">
              <a:lnSpc>
                <a:spcPct val="95000"/>
              </a:lnSpc>
              <a:spcAft>
                <a:spcPts val="100"/>
              </a:spcAft>
            </a:pPr>
            <a:r>
              <a:rPr sz="1300" b="0" i="0">
                <a:solidFill>
                  <a:srgbClr val="111111"/>
                </a:solidFill>
                <a:latin typeface="Cambria"/>
              </a:rPr>
              <a:t>of three-body fields named exactly (a linear classifier: 58.2%; a fitted network: 71.6%)</a:t>
            </a:r>
          </a:p>
        </p:txBody>
      </p:sp>
      <p:sp>
        <p:nvSpPr>
          <p:cNvPr id="6" name="Text: stat precision"/>
          <p:cNvSpPr txBox="1"/>
          <p:nvPr/>
        </p:nvSpPr>
        <p:spPr>
          <a:xfrm>
            <a:off x="9189720" y="2743200"/>
            <a:ext cx="2450592" cy="1371600"/>
          </a:xfrm>
          <a:prstGeom prst="rect">
            <a:avLst/>
          </a:prstGeom>
          <a:noFill/>
        </p:spPr>
        <p:txBody>
          <a:bodyPr wrap="square" anchor="t" lIns="18288" rIns="18288" tIns="18288" bIns="18288">
            <a:spAutoFit/>
          </a:bodyPr>
          <a:lstStyle/>
          <a:p>
            <a:pPr algn="l">
              <a:lnSpc>
                <a:spcPct val="95000"/>
              </a:lnSpc>
              <a:spcAft>
                <a:spcPts val="100"/>
              </a:spcAft>
            </a:pPr>
            <a:r>
              <a:rPr sz="3600" b="1" i="0">
                <a:solidFill>
                  <a:srgbClr val="1B4F8C"/>
                </a:solidFill>
                <a:latin typeface="Cambria"/>
              </a:rPr>
              <a:t>99.8%</a:t>
            </a:r>
          </a:p>
          <a:p>
            <a:pPr algn="l">
              <a:lnSpc>
                <a:spcPct val="95000"/>
              </a:lnSpc>
              <a:spcAft>
                <a:spcPts val="100"/>
              </a:spcAft>
            </a:pPr>
            <a:r>
              <a:rPr sz="1300" b="0" i="0">
                <a:solidFill>
                  <a:srgbClr val="111111"/>
                </a:solidFill>
                <a:latin typeface="Cambria"/>
              </a:rPr>
              <a:t>of three-body names given at posterior 0.99 right (15 wrong of 6,848; named for 17% of fields)</a:t>
            </a:r>
          </a:p>
        </p:txBody>
      </p:sp>
      <p:sp>
        <p:nvSpPr>
          <p:cNvPr id="7" name="Text: stat nine bodies"/>
          <p:cNvSpPr txBox="1"/>
          <p:nvPr/>
        </p:nvSpPr>
        <p:spPr>
          <a:xfrm>
            <a:off x="9189720" y="4160520"/>
            <a:ext cx="2450592" cy="868680"/>
          </a:xfrm>
          <a:prstGeom prst="rect">
            <a:avLst/>
          </a:prstGeom>
          <a:noFill/>
        </p:spPr>
        <p:txBody>
          <a:bodyPr wrap="square" anchor="t" lIns="18288" rIns="18288" tIns="18288" bIns="18288">
            <a:spAutoFit/>
          </a:bodyPr>
          <a:lstStyle/>
          <a:p>
            <a:pPr algn="l">
              <a:lnSpc>
                <a:spcPct val="95000"/>
              </a:lnSpc>
              <a:spcAft>
                <a:spcPts val="100"/>
              </a:spcAft>
            </a:pPr>
            <a:r>
              <a:rPr sz="3600" b="1" i="0">
                <a:solidFill>
                  <a:srgbClr val="1B4F8C"/>
                </a:solidFill>
                <a:latin typeface="Cambria"/>
              </a:rPr>
              <a:t>96%</a:t>
            </a:r>
          </a:p>
          <a:p>
            <a:pPr algn="l">
              <a:lnSpc>
                <a:spcPct val="95000"/>
              </a:lnSpc>
              <a:spcAft>
                <a:spcPts val="100"/>
              </a:spcAft>
            </a:pPr>
            <a:r>
              <a:rPr sz="1300" b="0" i="0">
                <a:solidFill>
                  <a:srgbClr val="111111"/>
                </a:solidFill>
                <a:latin typeface="Cambria"/>
              </a:rPr>
              <a:t>named exactly from nine bodies</a:t>
            </a:r>
          </a:p>
        </p:txBody>
      </p:sp>
      <p:sp>
        <p:nvSpPr>
          <p:cNvPr id="8" name="Text: guarantee"/>
          <p:cNvSpPr txBox="1"/>
          <p:nvPr/>
        </p:nvSpPr>
        <p:spPr>
          <a:xfrm>
            <a:off x="548640" y="5230368"/>
            <a:ext cx="5029200" cy="960120"/>
          </a:xfrm>
          <a:prstGeom prst="rect">
            <a:avLst/>
          </a:prstGeom>
          <a:noFill/>
        </p:spPr>
        <p:txBody>
          <a:bodyPr wrap="square" anchor="t" lIns="18288" rIns="18288" tIns="18288" bIns="18288">
            <a:spAutoFit/>
          </a:bodyPr>
          <a:lstStyle/>
          <a:p>
            <a:pPr algn="l">
              <a:spcAft>
                <a:spcPts val="600"/>
              </a:spcAft>
            </a:pPr>
            <a:r>
              <a:rPr sz="1400" b="0" i="0">
                <a:solidFill>
                  <a:srgbClr val="111111"/>
                </a:solidFill>
                <a:latin typeface="Cambria"/>
              </a:rPr>
              <a:t>Answer only when </a:t>
            </a:r>
            <a:r>
              <a:rPr sz="1400" b="0" i="1">
                <a:solidFill>
                  <a:srgbClr val="111111"/>
                </a:solidFill>
                <a:latin typeface="Cambria"/>
              </a:rPr>
              <a:t>p̂</a:t>
            </a:r>
            <a:r>
              <a:rPr sz="1400" b="0" i="0">
                <a:solidFill>
                  <a:srgbClr val="111111"/>
                </a:solidFill>
                <a:latin typeface="Cambria"/>
              </a:rPr>
              <a:t> reaches 0.99, and the name is right at least 99% of the times it is given, in expectation, while the generator is the truth.</a:t>
            </a:r>
          </a:p>
        </p:txBody>
      </p:sp>
      <mc:AlternateContent xmlns:mc="http://schemas.openxmlformats.org/markup-compatibility/2006">
        <mc:Choice xmlns:a14="http://schemas.microsoft.com/office/drawing/2010/main" Requires="a14">
          <p:sp>
            <p:nvSpPr>
              <p:cNvPr id="9" name="Equation: selective" descr="LaTeX: \Pr\left(\hat{k} = k \mid \hat{p} \geq 1-\varepsilon\right) = \mathbb{E}\left[\hat{p} \mid \hat{p} \geq 1-\varepsilon\right] \geq 1-\varepsilon"/>
              <p:cNvSpPr txBox="1"/>
              <p:nvPr/>
            </p:nvSpPr>
            <p:spPr>
              <a:xfrm>
                <a:off x="5715000" y="5193792"/>
                <a:ext cx="4282440" cy="323088"/>
              </a:xfrm>
              <a:prstGeom prst="rect">
                <a:avLst/>
              </a:prstGeom>
              <a:noFill/>
            </p:spPr>
            <p:txBody>
              <a:bodyPr wrap="none" lIns="0" tIns="0" rIns="0" bIns="0" anchor="ctr">
                <a:noAutofit/>
              </a:bodyPr>
              <a:lstStyle/>
              <a:p>
                <a:pPr algn="l"/>
                <a14:m>
                  <m:oMathPara xmlns:m="http://schemas.openxmlformats.org/officeDocument/2006/math">
                    <m:oMathParaPr>
                      <m:jc m:val="left"/>
                    </m:oMathParaPr>
                    <m:oMath>
                      <m:r>
                        <m:rPr>
                          <m:sty m:val="p"/>
                        </m:rPr>
                        <a:rPr lang="en-US" i="1" sz="1700">
                          <a:solidFill>
                            <a:srgbClr val="111111"/>
                          </a:solidFill>
                          <a:latin typeface="Cambria Math"/>
                          <a:cs typeface="Cambria Math"/>
                        </a:rPr>
                        <m:t>Pr</m:t>
                      </m:r>
                      <m:d>
                        <m:dPr>
                          <m:begChr m:val="("/>
                          <m:endChr m:val=")"/>
                          <m:sepChr m:val=""/>
                          <m:grow/>
                        </m:dPr>
                        <m:e>
                          <m:acc>
                            <m:accPr>
                              <m:chr m:val="̂"/>
                            </m:accPr>
                            <m:e>
                              <m:r>
                                <a:rPr lang="en-US" i="1" sz="1700">
                                  <a:solidFill>
                                    <a:srgbClr val="111111"/>
                                  </a:solidFill>
                                  <a:latin typeface="Cambria Math"/>
                                  <a:cs typeface="Cambria Math"/>
                                </a:rPr>
                                <m:t>k</m:t>
                              </m:r>
                            </m:e>
                          </m:acc>
                          <m:r>
                            <m:rPr>
                              <m:sty m:val="p"/>
                            </m:rPr>
                            <a:rPr lang="en-US" i="1" sz="1700">
                              <a:solidFill>
                                <a:srgbClr val="111111"/>
                              </a:solidFill>
                              <a:latin typeface="Cambria Math"/>
                              <a:cs typeface="Cambria Math"/>
                            </a:rPr>
                            <m:t>=</m:t>
                          </m:r>
                          <m:r>
                            <a:rPr lang="en-US" i="1" sz="1700">
                              <a:solidFill>
                                <a:srgbClr val="111111"/>
                              </a:solidFill>
                              <a:latin typeface="Cambria Math"/>
                              <a:cs typeface="Cambria Math"/>
                            </a:rPr>
                            <m:t>k</m:t>
                          </m:r>
                          <m:r>
                            <m:rPr>
                              <m:sty m:val="p"/>
                            </m:rPr>
                            <a:rPr lang="en-US" i="1" sz="1700">
                              <a:solidFill>
                                <a:srgbClr val="111111"/>
                              </a:solidFill>
                              <a:latin typeface="Cambria Math"/>
                              <a:cs typeface="Cambria Math"/>
                            </a:rPr>
                            <m:t>∣</m:t>
                          </m:r>
                          <m:acc>
                            <m:accPr>
                              <m:chr m:val="̂"/>
                            </m:accPr>
                            <m:e>
                              <m:r>
                                <a:rPr lang="en-US" i="1" sz="1700">
                                  <a:solidFill>
                                    <a:srgbClr val="111111"/>
                                  </a:solidFill>
                                  <a:latin typeface="Cambria Math"/>
                                  <a:cs typeface="Cambria Math"/>
                                </a:rPr>
                                <m:t>p</m:t>
                              </m:r>
                            </m:e>
                          </m:acc>
                          <m:r>
                            <m:rPr>
                              <m:sty m:val="p"/>
                            </m:rPr>
                            <a:rPr lang="en-US" i="1" sz="1700">
                              <a:solidFill>
                                <a:srgbClr val="111111"/>
                              </a:solidFill>
                              <a:latin typeface="Cambria Math"/>
                              <a:cs typeface="Cambria Math"/>
                            </a:rPr>
                            <m:t>≥</m:t>
                          </m:r>
                          <m:r>
                            <a:rPr lang="en-US" i="1" sz="1700">
                              <a:solidFill>
                                <a:srgbClr val="111111"/>
                              </a:solidFill>
                              <a:latin typeface="Cambria Math"/>
                              <a:cs typeface="Cambria Math"/>
                            </a:rPr>
                            <m:t>1</m:t>
                          </m:r>
                          <m:r>
                            <m:rPr>
                              <m:sty m:val="p"/>
                            </m:rPr>
                            <a:rPr lang="en-US" i="1" sz="1700">
                              <a:solidFill>
                                <a:srgbClr val="111111"/>
                              </a:solidFill>
                              <a:latin typeface="Cambria Math"/>
                              <a:cs typeface="Cambria Math"/>
                            </a:rPr>
                            <m:t>−</m:t>
                          </m:r>
                          <m:r>
                            <a:rPr lang="en-US" i="1" sz="1700">
                              <a:solidFill>
                                <a:srgbClr val="111111"/>
                              </a:solidFill>
                              <a:latin typeface="Cambria Math"/>
                              <a:cs typeface="Cambria Math"/>
                            </a:rPr>
                            <m:t>ε</m:t>
                          </m:r>
                        </m:e>
                      </m:d>
                      <m:r>
                        <m:rPr>
                          <m:sty m:val="p"/>
                        </m:rPr>
                        <a:rPr lang="en-US" i="1" sz="1700">
                          <a:solidFill>
                            <a:srgbClr val="111111"/>
                          </a:solidFill>
                          <a:latin typeface="Cambria Math"/>
                          <a:cs typeface="Cambria Math"/>
                        </a:rPr>
                        <m:t>=</m:t>
                      </m:r>
                      <m:r>
                        <m:rPr>
                          <m:sty m:val="p"/>
                          <m:scr m:val="double-struck"/>
                        </m:rPr>
                        <a:rPr lang="en-US" i="1" sz="1700">
                          <a:solidFill>
                            <a:srgbClr val="111111"/>
                          </a:solidFill>
                          <a:latin typeface="Cambria Math"/>
                          <a:cs typeface="Cambria Math"/>
                        </a:rPr>
                        <m:t>E</m:t>
                      </m:r>
                      <m:d>
                        <m:dPr>
                          <m:begChr m:val="["/>
                          <m:endChr m:val="]"/>
                          <m:sepChr m:val=""/>
                          <m:grow/>
                        </m:dPr>
                        <m:e>
                          <m:acc>
                            <m:accPr>
                              <m:chr m:val="̂"/>
                            </m:accPr>
                            <m:e>
                              <m:r>
                                <a:rPr lang="en-US" i="1" sz="1700">
                                  <a:solidFill>
                                    <a:srgbClr val="111111"/>
                                  </a:solidFill>
                                  <a:latin typeface="Cambria Math"/>
                                  <a:cs typeface="Cambria Math"/>
                                </a:rPr>
                                <m:t>p</m:t>
                              </m:r>
                            </m:e>
                          </m:acc>
                          <m:r>
                            <m:rPr>
                              <m:sty m:val="p"/>
                            </m:rPr>
                            <a:rPr lang="en-US" i="1" sz="1700">
                              <a:solidFill>
                                <a:srgbClr val="111111"/>
                              </a:solidFill>
                              <a:latin typeface="Cambria Math"/>
                              <a:cs typeface="Cambria Math"/>
                            </a:rPr>
                            <m:t>∣</m:t>
                          </m:r>
                          <m:acc>
                            <m:accPr>
                              <m:chr m:val="̂"/>
                            </m:accPr>
                            <m:e>
                              <m:r>
                                <a:rPr lang="en-US" i="1" sz="1700">
                                  <a:solidFill>
                                    <a:srgbClr val="111111"/>
                                  </a:solidFill>
                                  <a:latin typeface="Cambria Math"/>
                                  <a:cs typeface="Cambria Math"/>
                                </a:rPr>
                                <m:t>p</m:t>
                              </m:r>
                            </m:e>
                          </m:acc>
                          <m:r>
                            <m:rPr>
                              <m:sty m:val="p"/>
                            </m:rPr>
                            <a:rPr lang="en-US" i="1" sz="1700">
                              <a:solidFill>
                                <a:srgbClr val="111111"/>
                              </a:solidFill>
                              <a:latin typeface="Cambria Math"/>
                              <a:cs typeface="Cambria Math"/>
                            </a:rPr>
                            <m:t>≥</m:t>
                          </m:r>
                          <m:r>
                            <a:rPr lang="en-US" i="1" sz="1700">
                              <a:solidFill>
                                <a:srgbClr val="111111"/>
                              </a:solidFill>
                              <a:latin typeface="Cambria Math"/>
                              <a:cs typeface="Cambria Math"/>
                            </a:rPr>
                            <m:t>1</m:t>
                          </m:r>
                          <m:r>
                            <m:rPr>
                              <m:sty m:val="p"/>
                            </m:rPr>
                            <a:rPr lang="en-US" i="1" sz="1700">
                              <a:solidFill>
                                <a:srgbClr val="111111"/>
                              </a:solidFill>
                              <a:latin typeface="Cambria Math"/>
                              <a:cs typeface="Cambria Math"/>
                            </a:rPr>
                            <m:t>−</m:t>
                          </m:r>
                          <m:r>
                            <a:rPr lang="en-US" i="1" sz="1700">
                              <a:solidFill>
                                <a:srgbClr val="111111"/>
                              </a:solidFill>
                              <a:latin typeface="Cambria Math"/>
                              <a:cs typeface="Cambria Math"/>
                            </a:rPr>
                            <m:t>ε</m:t>
                          </m:r>
                        </m:e>
                      </m:d>
                      <m:r>
                        <m:rPr>
                          <m:sty m:val="p"/>
                        </m:rPr>
                        <a:rPr lang="en-US" i="1" sz="1700">
                          <a:solidFill>
                            <a:srgbClr val="111111"/>
                          </a:solidFill>
                          <a:latin typeface="Cambria Math"/>
                          <a:cs typeface="Cambria Math"/>
                        </a:rPr>
                        <m:t>≥</m:t>
                      </m:r>
                      <m:r>
                        <a:rPr lang="en-US" i="1" sz="1700">
                          <a:solidFill>
                            <a:srgbClr val="111111"/>
                          </a:solidFill>
                          <a:latin typeface="Cambria Math"/>
                          <a:cs typeface="Cambria Math"/>
                        </a:rPr>
                        <m:t>1</m:t>
                      </m:r>
                      <m:r>
                        <m:rPr>
                          <m:sty m:val="p"/>
                        </m:rPr>
                        <a:rPr lang="en-US" i="1" sz="1700">
                          <a:solidFill>
                            <a:srgbClr val="111111"/>
                          </a:solidFill>
                          <a:latin typeface="Cambria Math"/>
                          <a:cs typeface="Cambria Math"/>
                        </a:rPr>
                        <m:t>−</m:t>
                      </m:r>
                      <m:r>
                        <a:rPr lang="en-US" i="1" sz="1700">
                          <a:solidFill>
                            <a:srgbClr val="111111"/>
                          </a:solidFill>
                          <a:latin typeface="Cambria Math"/>
                          <a:cs typeface="Cambria Math"/>
                        </a:rPr>
                        <m:t>ε</m:t>
                      </m:r>
                    </m:oMath>
                  </m:oMathPara>
                </a14:m>
                <a:endParaRPr lang="en-US" sz="1700"/>
              </a:p>
            </p:txBody>
          </p:sp>
        </mc:Choice>
        <mc:Fallback>
          <p:sp>
            <p:nvSpPr>
              <p:cNvPr id="9" name="Equation: selective" descr="LaTeX: \Pr\left(\hat{k} = k \mid \hat{p} \geq 1-\varepsilon\right) = \mathbb{E}\left[\hat{p} \mid \hat{p} \geq 1-\varepsilon\right] \geq 1-\varepsilon"/>
              <p:cNvSpPr txBox="1">
                <a:spLocks noRot="1" noChangeAspect="1" noMove="1" noResize="1" noEditPoints="1" noAdjustHandles="1" noChangeArrowheads="1" noChangeShapeType="1" noTextEdit="1"/>
              </p:cNvSpPr>
              <p:nvPr/>
            </p:nvSpPr>
            <p:spPr>
              <a:xfrm>
                <a:off x="5715000" y="5193792"/>
                <a:ext cx="4282440" cy="323088"/>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0" name="Equation: estimate" descr="LaTeX: \hat{k} = \arg\max_{k}\, p(k \mid x_{1:n}),\qquad \hat{p} = p(\hat{k} \mid x_{1:n})"/>
              <p:cNvSpPr txBox="1"/>
              <p:nvPr/>
            </p:nvSpPr>
            <p:spPr>
              <a:xfrm>
                <a:off x="5715000" y="5590032"/>
                <a:ext cx="3541776" cy="374904"/>
              </a:xfrm>
              <a:prstGeom prst="rect">
                <a:avLst/>
              </a:prstGeom>
              <a:noFill/>
            </p:spPr>
            <p:txBody>
              <a:bodyPr wrap="none" lIns="0" tIns="0" rIns="0" bIns="0" anchor="ctr">
                <a:noAutofit/>
              </a:bodyPr>
              <a:lstStyle/>
              <a:p>
                <a:pPr algn="l"/>
                <a14:m>
                  <m:oMathPara xmlns:m="http://schemas.openxmlformats.org/officeDocument/2006/math">
                    <m:oMathParaPr>
                      <m:jc m:val="left"/>
                    </m:oMathParaPr>
                    <m:oMath>
                      <m:acc>
                        <m:accPr>
                          <m:chr m:val="̂"/>
                        </m:accPr>
                        <m:e>
                          <m:r>
                            <a:rPr lang="en-US" i="1" sz="1500">
                              <a:solidFill>
                                <a:srgbClr val="111111"/>
                              </a:solidFill>
                              <a:latin typeface="Cambria Math"/>
                              <a:cs typeface="Cambria Math"/>
                            </a:rPr>
                            <m:t>k</m:t>
                          </m:r>
                        </m:e>
                      </m:acc>
                      <m:r>
                        <m:rPr>
                          <m:sty m:val="p"/>
                        </m:rPr>
                        <a:rPr lang="en-US" i="1" sz="1500">
                          <a:solidFill>
                            <a:srgbClr val="111111"/>
                          </a:solidFill>
                          <a:latin typeface="Cambria Math"/>
                          <a:cs typeface="Cambria Math"/>
                        </a:rPr>
                        <m:t>=</m:t>
                      </m:r>
                      <m:r>
                        <m:rPr>
                          <m:sty m:val="p"/>
                        </m:rPr>
                        <a:rPr lang="en-US" i="1" sz="1500">
                          <a:solidFill>
                            <a:srgbClr val="111111"/>
                          </a:solidFill>
                          <a:latin typeface="Cambria Math"/>
                          <a:cs typeface="Cambria Math"/>
                        </a:rPr>
                        <m:t>arg</m:t>
                      </m:r>
                      <m:limLow>
                        <m:e>
                          <m:r>
                            <m:rPr>
                              <m:sty m:val="p"/>
                            </m:rPr>
                            <a:rPr lang="en-US" i="1" sz="1500">
                              <a:solidFill>
                                <a:srgbClr val="111111"/>
                              </a:solidFill>
                              <a:latin typeface="Cambria Math"/>
                              <a:cs typeface="Cambria Math"/>
                            </a:rPr>
                            <m:t>max</m:t>
                          </m:r>
                        </m:e>
                        <m:lim>
                          <m:r>
                            <a:rPr lang="en-US" i="1" sz="1500">
                              <a:solidFill>
                                <a:srgbClr val="111111"/>
                              </a:solidFill>
                              <a:latin typeface="Cambria Math"/>
                              <a:cs typeface="Cambria Math"/>
                            </a:rPr>
                            <m:t>k</m:t>
                          </m:r>
                        </m:lim>
                      </m:limLow>
                      <m:r>
                        <a:rPr lang="en-US" i="1" sz="1500">
                          <a:solidFill>
                            <a:srgbClr val="111111"/>
                          </a:solidFill>
                          <a:latin typeface="Cambria Math"/>
                          <a:cs typeface="Cambria Math"/>
                        </a:rPr>
                        <m:t> </m:t>
                      </m:r>
                      <m:r>
                        <a:rPr lang="en-US" i="1" sz="1500">
                          <a:solidFill>
                            <a:srgbClr val="111111"/>
                          </a:solidFill>
                          <a:latin typeface="Cambria Math"/>
                          <a:cs typeface="Cambria Math"/>
                        </a:rPr>
                        <m:t>p</m:t>
                      </m:r>
                      <m:d>
                        <m:dPr>
                          <m:begChr m:val="("/>
                          <m:endChr m:val=")"/>
                          <m:sepChr m:val=""/>
                          <m:grow/>
                        </m:dPr>
                        <m:e>
                          <m:r>
                            <a:rPr lang="en-US" i="1" sz="1500">
                              <a:solidFill>
                                <a:srgbClr val="111111"/>
                              </a:solidFill>
                              <a:latin typeface="Cambria Math"/>
                              <a:cs typeface="Cambria Math"/>
                            </a:rPr>
                            <m:t>k</m:t>
                          </m:r>
                          <m:r>
                            <m:rPr>
                              <m:sty m:val="p"/>
                            </m:rPr>
                            <a:rPr lang="en-US" i="1" sz="1500">
                              <a:solidFill>
                                <a:srgbClr val="111111"/>
                              </a:solidFill>
                              <a:latin typeface="Cambria Math"/>
                              <a:cs typeface="Cambria Math"/>
                            </a:rPr>
                            <m:t>∣</m:t>
                          </m:r>
                          <m:sSub>
                            <m:e>
                              <m:r>
                                <a:rPr lang="en-US" i="1" sz="1500">
                                  <a:solidFill>
                                    <a:srgbClr val="111111"/>
                                  </a:solidFill>
                                  <a:latin typeface="Cambria Math"/>
                                  <a:cs typeface="Cambria Math"/>
                                </a:rPr>
                                <m:t>x</m:t>
                              </m:r>
                            </m:e>
                            <m:sub>
                              <m:r>
                                <a:rPr lang="en-US" i="1" sz="1500">
                                  <a:solidFill>
                                    <a:srgbClr val="111111"/>
                                  </a:solidFill>
                                  <a:latin typeface="Cambria Math"/>
                                  <a:cs typeface="Cambria Math"/>
                                </a:rPr>
                                <m:t>1</m:t>
                              </m:r>
                              <m:r>
                                <m:rPr>
                                  <m:sty m:val="p"/>
                                </m:rPr>
                                <a:rPr lang="en-US" i="1" sz="1500">
                                  <a:solidFill>
                                    <a:srgbClr val="111111"/>
                                  </a:solidFill>
                                  <a:latin typeface="Cambria Math"/>
                                  <a:cs typeface="Cambria Math"/>
                                </a:rPr>
                                <m:t>:</m:t>
                              </m:r>
                              <m:r>
                                <a:rPr lang="en-US" i="1" sz="1500">
                                  <a:solidFill>
                                    <a:srgbClr val="111111"/>
                                  </a:solidFill>
                                  <a:latin typeface="Cambria Math"/>
                                  <a:cs typeface="Cambria Math"/>
                                </a:rPr>
                                <m:t>n</m:t>
                              </m:r>
                            </m:sub>
                          </m:sSub>
                        </m:e>
                      </m:d>
                      <m:r>
                        <m:rPr>
                          <m:sty m:val="p"/>
                        </m:rPr>
                        <a:rPr lang="en-US" i="1" sz="1500">
                          <a:solidFill>
                            <a:srgbClr val="111111"/>
                          </a:solidFill>
                          <a:latin typeface="Cambria Math"/>
                          <a:cs typeface="Cambria Math"/>
                        </a:rPr>
                        <m:t>,</m:t>
                      </m:r>
                      <m:r>
                        <a:rPr lang="en-US" i="1" sz="1500">
                          <a:solidFill>
                            <a:srgbClr val="111111"/>
                          </a:solidFill>
                          <a:latin typeface="Cambria Math"/>
                          <a:cs typeface="Cambria Math"/>
                        </a:rPr>
                        <m:t>  </m:t>
                      </m:r>
                      <m:acc>
                        <m:accPr>
                          <m:chr m:val="̂"/>
                        </m:accPr>
                        <m:e>
                          <m:r>
                            <a:rPr lang="en-US" i="1" sz="1500">
                              <a:solidFill>
                                <a:srgbClr val="111111"/>
                              </a:solidFill>
                              <a:latin typeface="Cambria Math"/>
                              <a:cs typeface="Cambria Math"/>
                            </a:rPr>
                            <m:t>p</m:t>
                          </m:r>
                        </m:e>
                      </m:acc>
                      <m:r>
                        <m:rPr>
                          <m:sty m:val="p"/>
                        </m:rPr>
                        <a:rPr lang="en-US" i="1" sz="1500">
                          <a:solidFill>
                            <a:srgbClr val="111111"/>
                          </a:solidFill>
                          <a:latin typeface="Cambria Math"/>
                          <a:cs typeface="Cambria Math"/>
                        </a:rPr>
                        <m:t>=</m:t>
                      </m:r>
                      <m:r>
                        <a:rPr lang="en-US" i="1" sz="1500">
                          <a:solidFill>
                            <a:srgbClr val="111111"/>
                          </a:solidFill>
                          <a:latin typeface="Cambria Math"/>
                          <a:cs typeface="Cambria Math"/>
                        </a:rPr>
                        <m:t>p</m:t>
                      </m:r>
                      <m:d>
                        <m:dPr>
                          <m:begChr m:val="("/>
                          <m:endChr m:val=")"/>
                          <m:sepChr m:val=""/>
                          <m:grow/>
                        </m:dPr>
                        <m:e>
                          <m:acc>
                            <m:accPr>
                              <m:chr m:val="̂"/>
                            </m:accPr>
                            <m:e>
                              <m:r>
                                <a:rPr lang="en-US" i="1" sz="1500">
                                  <a:solidFill>
                                    <a:srgbClr val="111111"/>
                                  </a:solidFill>
                                  <a:latin typeface="Cambria Math"/>
                                  <a:cs typeface="Cambria Math"/>
                                </a:rPr>
                                <m:t>k</m:t>
                              </m:r>
                            </m:e>
                          </m:acc>
                          <m:r>
                            <m:rPr>
                              <m:sty m:val="p"/>
                            </m:rPr>
                            <a:rPr lang="en-US" i="1" sz="1500">
                              <a:solidFill>
                                <a:srgbClr val="111111"/>
                              </a:solidFill>
                              <a:latin typeface="Cambria Math"/>
                              <a:cs typeface="Cambria Math"/>
                            </a:rPr>
                            <m:t>∣</m:t>
                          </m:r>
                          <m:sSub>
                            <m:e>
                              <m:r>
                                <a:rPr lang="en-US" i="1" sz="1500">
                                  <a:solidFill>
                                    <a:srgbClr val="111111"/>
                                  </a:solidFill>
                                  <a:latin typeface="Cambria Math"/>
                                  <a:cs typeface="Cambria Math"/>
                                </a:rPr>
                                <m:t>x</m:t>
                              </m:r>
                            </m:e>
                            <m:sub>
                              <m:r>
                                <a:rPr lang="en-US" i="1" sz="1500">
                                  <a:solidFill>
                                    <a:srgbClr val="111111"/>
                                  </a:solidFill>
                                  <a:latin typeface="Cambria Math"/>
                                  <a:cs typeface="Cambria Math"/>
                                </a:rPr>
                                <m:t>1</m:t>
                              </m:r>
                              <m:r>
                                <m:rPr>
                                  <m:sty m:val="p"/>
                                </m:rPr>
                                <a:rPr lang="en-US" i="1" sz="1500">
                                  <a:solidFill>
                                    <a:srgbClr val="111111"/>
                                  </a:solidFill>
                                  <a:latin typeface="Cambria Math"/>
                                  <a:cs typeface="Cambria Math"/>
                                </a:rPr>
                                <m:t>:</m:t>
                              </m:r>
                              <m:r>
                                <a:rPr lang="en-US" i="1" sz="1500">
                                  <a:solidFill>
                                    <a:srgbClr val="111111"/>
                                  </a:solidFill>
                                  <a:latin typeface="Cambria Math"/>
                                  <a:cs typeface="Cambria Math"/>
                                </a:rPr>
                                <m:t>n</m:t>
                              </m:r>
                            </m:sub>
                          </m:sSub>
                        </m:e>
                      </m:d>
                    </m:oMath>
                  </m:oMathPara>
                </a14:m>
                <a:endParaRPr lang="en-US" sz="1500"/>
              </a:p>
            </p:txBody>
          </p:sp>
        </mc:Choice>
        <mc:Fallback>
          <p:sp>
            <p:nvSpPr>
              <p:cNvPr id="10" name="Equation: estimate" descr="LaTeX: \hat{k} = \arg\max_{k}\, p(k \mid x_{1:n}),\qquad \hat{p} = p(\hat{k} \mid x_{1:n})"/>
              <p:cNvSpPr txBox="1">
                <a:spLocks noRot="1" noChangeAspect="1" noMove="1" noResize="1" noEditPoints="1" noAdjustHandles="1" noChangeArrowheads="1" noChangeShapeType="1" noTextEdit="1"/>
              </p:cNvSpPr>
              <p:nvPr/>
            </p:nvSpPr>
            <p:spPr>
              <a:xfrm>
                <a:off x="5715000" y="5590032"/>
                <a:ext cx="3541776" cy="374904"/>
              </a:xfrm>
              <a:prstGeom prst="rect">
                <a:avLst/>
              </a:prstGeom>
              <a:blipFill>
                <a:blip r:embed="rId5"/>
                <a:stretch>
                  <a:fillRect/>
                </a:stretch>
              </a:blipFill>
            </p:spPr>
            <p:txBody>
              <a:bodyPr/>
              <a:lstStyle/>
              <a:p>
                <a:r>
                  <a:rPr lang="en-US">
                    <a:noFill/>
                  </a:rPr>
                  <a:t> </a:t>
                </a:r>
              </a:p>
            </p:txBody>
          </p:sp>
        </mc:Fallback>
      </mc:AlternateContent>
      <p:sp>
        <p:nvSpPr>
          <p:cNvPr id="11" name="Text: footer"/>
          <p:cNvSpPr txBox="1"/>
          <p:nvPr/>
        </p:nvSpPr>
        <p:spPr>
          <a:xfrm>
            <a:off x="548640" y="6272784"/>
            <a:ext cx="9966960" cy="411480"/>
          </a:xfrm>
          <a:prstGeom prst="rect">
            <a:avLst/>
          </a:prstGeom>
          <a:noFill/>
        </p:spPr>
        <p:txBody>
          <a:bodyPr wrap="square" anchor="t" lIns="18288" rIns="18288" tIns="18288" bIns="18288">
            <a:spAutoFit/>
          </a:bodyPr>
          <a:lstStyle/>
          <a:p>
            <a:pPr algn="l">
              <a:spcAft>
                <a:spcPts val="0"/>
              </a:spcAft>
            </a:pPr>
            <a:r>
              <a:rPr sz="1100" b="0" i="0">
                <a:solidFill>
                  <a:srgbClr val="595959"/>
                </a:solidFill>
                <a:latin typeface="Cambria"/>
              </a:rPr>
              <a:t>Synthetic columns from Panjabi's published tables (Spine 1991;16:861, 888; 1992;17:299); no patient data.</a:t>
            </a:r>
          </a:p>
          <a:p>
            <a:pPr algn="l">
              <a:spcAft>
                <a:spcPts val="0"/>
              </a:spcAft>
            </a:pPr>
            <a:r>
              <a:rPr sz="1100" b="1" i="0">
                <a:solidFill>
                  <a:srgbClr val="111111"/>
                </a:solidFill>
                <a:latin typeface="Cambria"/>
              </a:rPr>
              <a:t>Confidential: pre-filing draft, not for distribution</a:t>
            </a:r>
          </a:p>
        </p:txBody>
      </p:sp>
      <p:sp>
        <p:nvSpPr>
          <p:cNvPr id="12" name="Text: slide number"/>
          <p:cNvSpPr txBox="1"/>
          <p:nvPr/>
        </p:nvSpPr>
        <p:spPr>
          <a:xfrm>
            <a:off x="10725912" y="6272784"/>
            <a:ext cx="914400" cy="274320"/>
          </a:xfrm>
          <a:prstGeom prst="rect">
            <a:avLst/>
          </a:prstGeom>
          <a:noFill/>
        </p:spPr>
        <p:txBody>
          <a:bodyPr wrap="square" anchor="t" lIns="18288" rIns="18288" tIns="18288" bIns="18288">
            <a:spAutoFit/>
          </a:bodyPr>
          <a:lstStyle/>
          <a:p>
            <a:pPr algn="r">
              <a:spcAft>
                <a:spcPts val="0"/>
              </a:spcAft>
            </a:pPr>
            <a:r>
              <a:rPr sz="1100" b="0" i="0">
                <a:solidFill>
                  <a:srgbClr val="595959"/>
                </a:solidFill>
                <a:latin typeface="Cambria"/>
              </a:rPr>
              <a:t>3 / 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74320"/>
            <a:ext cx="11091672" cy="960120"/>
          </a:xfrm>
        </p:spPr>
        <p:txBody>
          <a:bodyPr wrap="square" anchor="b"/>
          <a:lstStyle/>
          <a:p>
            <a:pPr algn="l"/>
            <a:r>
              <a:rPr sz="2800" b="1">
                <a:solidFill>
                  <a:srgbClr val="111111"/>
                </a:solidFill>
                <a:latin typeface="Cambria"/>
              </a:rPr>
              <a:t>One body tells its region and its side of C7/T1, rarely of T12/L1</a:t>
            </a:r>
          </a:p>
        </p:txBody>
      </p:sp>
      <p:pic>
        <p:nvPicPr>
          <p:cNvPr id="3" name="Figure: exact_slide_claims" descr="What a field says for certain about its middle body: at each border, the share of fields whose middle body lies within two levels of it that say which side at probability 0.99, by bodies in view, both planes. 2,000 synthetic columns."/>
          <p:cNvPicPr>
            <a:picLocks noChangeAspect="1"/>
          </p:cNvPicPr>
          <p:nvPr/>
        </p:nvPicPr>
        <p:blipFill>
          <a:blip r:embed="rId2"/>
          <a:stretch>
            <a:fillRect/>
          </a:stretch>
        </p:blipFill>
        <p:spPr>
          <a:xfrm>
            <a:off x="548640" y="1325880"/>
            <a:ext cx="4983480" cy="4846320"/>
          </a:xfrm>
          <a:prstGeom prst="rect">
            <a:avLst/>
          </a:prstGeom>
        </p:spPr>
      </p:pic>
      <mc:AlternateContent xmlns:mc="http://schemas.openxmlformats.org/markup-compatibility/2006">
        <mc:Choice xmlns:a14="http://schemas.microsoft.com/office/drawing/2010/main" Requires="a14">
          <p:sp>
            <p:nvSpPr>
              <p:cNvPr id="4" name="Equation: claim" descr="LaTeX: \Pr(\ell \geq c \mid x_{1:n}) = \sum_{k:\, \ell \geq c} p(k \mid x_{1:n})"/>
              <p:cNvSpPr txBox="1"/>
              <p:nvPr/>
            </p:nvSpPr>
            <p:spPr>
              <a:xfrm>
                <a:off x="5715000" y="1417320"/>
                <a:ext cx="3328416" cy="554736"/>
              </a:xfrm>
              <a:prstGeom prst="rect">
                <a:avLst/>
              </a:prstGeom>
              <a:noFill/>
            </p:spPr>
            <p:txBody>
              <a:bodyPr wrap="none" lIns="0" tIns="0" rIns="0" bIns="0" anchor="ctr">
                <a:noAutofit/>
              </a:bodyPr>
              <a:lstStyle/>
              <a:p>
                <a:pPr algn="l"/>
                <a14:m>
                  <m:oMathPara xmlns:m="http://schemas.openxmlformats.org/officeDocument/2006/math">
                    <m:oMathParaPr>
                      <m:jc m:val="left"/>
                    </m:oMathParaPr>
                    <m:oMath>
                      <m:r>
                        <m:rPr>
                          <m:sty m:val="p"/>
                        </m:rPr>
                        <a:rPr lang="en-US" i="1" sz="1800">
                          <a:solidFill>
                            <a:srgbClr val="111111"/>
                          </a:solidFill>
                          <a:latin typeface="Cambria Math"/>
                          <a:cs typeface="Cambria Math"/>
                        </a:rPr>
                        <m:t>Pr</m:t>
                      </m:r>
                      <m:d>
                        <m:dPr>
                          <m:begChr m:val="("/>
                          <m:endChr m:val=")"/>
                          <m:sepChr m:val=""/>
                          <m:grow/>
                        </m:dPr>
                        <m:e>
                          <m:r>
                            <m:rPr>
                              <m:sty m:val="p"/>
                            </m:rPr>
                            <a:rPr lang="en-US" i="1" sz="1800">
                              <a:solidFill>
                                <a:srgbClr val="111111"/>
                              </a:solidFill>
                              <a:latin typeface="Cambria Math"/>
                              <a:cs typeface="Cambria Math"/>
                            </a:rPr>
                            <m:t>ℓ</m:t>
                          </m:r>
                          <m:r>
                            <m:rPr>
                              <m:sty m:val="p"/>
                            </m:rPr>
                            <a:rPr lang="en-US" i="1" sz="1800">
                              <a:solidFill>
                                <a:srgbClr val="111111"/>
                              </a:solidFill>
                              <a:latin typeface="Cambria Math"/>
                              <a:cs typeface="Cambria Math"/>
                            </a:rPr>
                            <m:t>≥</m:t>
                          </m:r>
                          <m:r>
                            <a:rPr lang="en-US" i="1" sz="1800">
                              <a:solidFill>
                                <a:srgbClr val="111111"/>
                              </a:solidFill>
                              <a:latin typeface="Cambria Math"/>
                              <a:cs typeface="Cambria Math"/>
                            </a:rPr>
                            <m:t>c</m:t>
                          </m:r>
                          <m:r>
                            <m:rPr>
                              <m:sty m:val="p"/>
                            </m:rPr>
                            <a:rPr lang="en-US" i="1" sz="1800">
                              <a:solidFill>
                                <a:srgbClr val="111111"/>
                              </a:solidFill>
                              <a:latin typeface="Cambria Math"/>
                              <a:cs typeface="Cambria Math"/>
                            </a:rPr>
                            <m:t>∣</m:t>
                          </m:r>
                          <m:sSub>
                            <m:e>
                              <m:r>
                                <a:rPr lang="en-US" i="1" sz="1800">
                                  <a:solidFill>
                                    <a:srgbClr val="111111"/>
                                  </a:solidFill>
                                  <a:latin typeface="Cambria Math"/>
                                  <a:cs typeface="Cambria Math"/>
                                </a:rPr>
                                <m:t>x</m:t>
                              </m:r>
                            </m:e>
                            <m:sub>
                              <m:r>
                                <a:rPr lang="en-US" i="1" sz="1800">
                                  <a:solidFill>
                                    <a:srgbClr val="111111"/>
                                  </a:solidFill>
                                  <a:latin typeface="Cambria Math"/>
                                  <a:cs typeface="Cambria Math"/>
                                </a:rPr>
                                <m:t>1</m:t>
                              </m:r>
                              <m:r>
                                <m:rPr>
                                  <m:sty m:val="p"/>
                                </m:rPr>
                                <a:rPr lang="en-US" i="1" sz="1800">
                                  <a:solidFill>
                                    <a:srgbClr val="111111"/>
                                  </a:solidFill>
                                  <a:latin typeface="Cambria Math"/>
                                  <a:cs typeface="Cambria Math"/>
                                </a:rPr>
                                <m:t>:</m:t>
                              </m:r>
                              <m:r>
                                <a:rPr lang="en-US" i="1" sz="1800">
                                  <a:solidFill>
                                    <a:srgbClr val="111111"/>
                                  </a:solidFill>
                                  <a:latin typeface="Cambria Math"/>
                                  <a:cs typeface="Cambria Math"/>
                                </a:rPr>
                                <m:t>n</m:t>
                              </m:r>
                            </m:sub>
                          </m:sSub>
                        </m:e>
                      </m:d>
                      <m:r>
                        <m:rPr>
                          <m:sty m:val="p"/>
                        </m:rPr>
                        <a:rPr lang="en-US" i="1" sz="1800">
                          <a:solidFill>
                            <a:srgbClr val="111111"/>
                          </a:solidFill>
                          <a:latin typeface="Cambria Math"/>
                          <a:cs typeface="Cambria Math"/>
                        </a:rPr>
                        <m:t>=</m:t>
                      </m:r>
                      <m:nary>
                        <m:naryPr>
                          <m:chr m:val="∑"/>
                          <m:limLoc m:val="undOvr"/>
                          <m:subHide m:val="off"/>
                          <m:supHide m:val="on"/>
                        </m:naryPr>
                        <m:sub>
                          <m:r>
                            <a:rPr lang="en-US" i="1" sz="1800">
                              <a:solidFill>
                                <a:srgbClr val="111111"/>
                              </a:solidFill>
                              <a:latin typeface="Cambria Math"/>
                              <a:cs typeface="Cambria Math"/>
                            </a:rPr>
                            <m:t>k</m:t>
                          </m:r>
                          <m:r>
                            <m:rPr>
                              <m:sty m:val="p"/>
                            </m:rPr>
                            <a:rPr lang="en-US" i="1" sz="1800">
                              <a:solidFill>
                                <a:srgbClr val="111111"/>
                              </a:solidFill>
                              <a:latin typeface="Cambria Math"/>
                              <a:cs typeface="Cambria Math"/>
                            </a:rPr>
                            <m:t>:</m:t>
                          </m:r>
                          <m:r>
                            <a:rPr lang="en-US" i="1" sz="1800">
                              <a:solidFill>
                                <a:srgbClr val="111111"/>
                              </a:solidFill>
                              <a:latin typeface="Cambria Math"/>
                              <a:cs typeface="Cambria Math"/>
                            </a:rPr>
                            <m:t> </m:t>
                          </m:r>
                          <m:r>
                            <m:rPr>
                              <m:sty m:val="p"/>
                            </m:rPr>
                            <a:rPr lang="en-US" i="1" sz="1800">
                              <a:solidFill>
                                <a:srgbClr val="111111"/>
                              </a:solidFill>
                              <a:latin typeface="Cambria Math"/>
                              <a:cs typeface="Cambria Math"/>
                            </a:rPr>
                            <m:t>ℓ</m:t>
                          </m:r>
                          <m:r>
                            <m:rPr>
                              <m:sty m:val="p"/>
                            </m:rPr>
                            <a:rPr lang="en-US" i="1" sz="1800">
                              <a:solidFill>
                                <a:srgbClr val="111111"/>
                              </a:solidFill>
                              <a:latin typeface="Cambria Math"/>
                              <a:cs typeface="Cambria Math"/>
                            </a:rPr>
                            <m:t>≥</m:t>
                          </m:r>
                          <m:r>
                            <a:rPr lang="en-US" i="1" sz="1800">
                              <a:solidFill>
                                <a:srgbClr val="111111"/>
                              </a:solidFill>
                              <a:latin typeface="Cambria Math"/>
                              <a:cs typeface="Cambria Math"/>
                            </a:rPr>
                            <m:t>c</m:t>
                          </m:r>
                        </m:sub>
                        <m:sup>
                          <m:r>
                            <a:rPr lang="en-US" i="1" sz="1800">
                              <a:solidFill>
                                <a:srgbClr val="111111"/>
                              </a:solidFill>
                              <a:latin typeface="Cambria Math"/>
                              <a:cs typeface="Cambria Math"/>
                            </a:rPr>
                            <m:t>​</m:t>
                          </m:r>
                        </m:sup>
                        <m:e>
                          <m:r>
                            <a:rPr lang="en-US" i="1" sz="1800">
                              <a:solidFill>
                                <a:srgbClr val="111111"/>
                              </a:solidFill>
                              <a:latin typeface="Cambria Math"/>
                              <a:cs typeface="Cambria Math"/>
                            </a:rPr>
                            <m:t>p</m:t>
                          </m:r>
                        </m:e>
                      </m:nary>
                      <m:d>
                        <m:dPr>
                          <m:begChr m:val="("/>
                          <m:endChr m:val=")"/>
                          <m:sepChr m:val=""/>
                          <m:grow/>
                        </m:dPr>
                        <m:e>
                          <m:r>
                            <a:rPr lang="en-US" i="1" sz="1800">
                              <a:solidFill>
                                <a:srgbClr val="111111"/>
                              </a:solidFill>
                              <a:latin typeface="Cambria Math"/>
                              <a:cs typeface="Cambria Math"/>
                            </a:rPr>
                            <m:t>k</m:t>
                          </m:r>
                          <m:r>
                            <m:rPr>
                              <m:sty m:val="p"/>
                            </m:rPr>
                            <a:rPr lang="en-US" i="1" sz="1800">
                              <a:solidFill>
                                <a:srgbClr val="111111"/>
                              </a:solidFill>
                              <a:latin typeface="Cambria Math"/>
                              <a:cs typeface="Cambria Math"/>
                            </a:rPr>
                            <m:t>∣</m:t>
                          </m:r>
                          <m:sSub>
                            <m:e>
                              <m:r>
                                <a:rPr lang="en-US" i="1" sz="1800">
                                  <a:solidFill>
                                    <a:srgbClr val="111111"/>
                                  </a:solidFill>
                                  <a:latin typeface="Cambria Math"/>
                                  <a:cs typeface="Cambria Math"/>
                                </a:rPr>
                                <m:t>x</m:t>
                              </m:r>
                            </m:e>
                            <m:sub>
                              <m:r>
                                <a:rPr lang="en-US" i="1" sz="1800">
                                  <a:solidFill>
                                    <a:srgbClr val="111111"/>
                                  </a:solidFill>
                                  <a:latin typeface="Cambria Math"/>
                                  <a:cs typeface="Cambria Math"/>
                                </a:rPr>
                                <m:t>1</m:t>
                              </m:r>
                              <m:r>
                                <m:rPr>
                                  <m:sty m:val="p"/>
                                </m:rPr>
                                <a:rPr lang="en-US" i="1" sz="1800">
                                  <a:solidFill>
                                    <a:srgbClr val="111111"/>
                                  </a:solidFill>
                                  <a:latin typeface="Cambria Math"/>
                                  <a:cs typeface="Cambria Math"/>
                                </a:rPr>
                                <m:t>:</m:t>
                              </m:r>
                              <m:r>
                                <a:rPr lang="en-US" i="1" sz="1800">
                                  <a:solidFill>
                                    <a:srgbClr val="111111"/>
                                  </a:solidFill>
                                  <a:latin typeface="Cambria Math"/>
                                  <a:cs typeface="Cambria Math"/>
                                </a:rPr>
                                <m:t>n</m:t>
                              </m:r>
                            </m:sub>
                          </m:sSub>
                        </m:e>
                      </m:d>
                    </m:oMath>
                  </m:oMathPara>
                </a14:m>
                <a:endParaRPr lang="en-US" sz="1800"/>
              </a:p>
            </p:txBody>
          </p:sp>
        </mc:Choice>
        <mc:Fallback>
          <p:sp>
            <p:nvSpPr>
              <p:cNvPr id="4" name="Equation: claim" descr="LaTeX: \Pr(\ell \geq c \mid x_{1:n}) = \sum_{k:\, \ell \geq c} p(k \mid x_{1:n})"/>
              <p:cNvSpPr txBox="1">
                <a:spLocks noRot="1" noChangeAspect="1" noMove="1" noResize="1" noEditPoints="1" noAdjustHandles="1" noChangeArrowheads="1" noChangeShapeType="1" noTextEdit="1"/>
              </p:cNvSpPr>
              <p:nvPr/>
            </p:nvSpPr>
            <p:spPr>
              <a:xfrm>
                <a:off x="5715000" y="1417320"/>
                <a:ext cx="3328416" cy="554736"/>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 name="Equation: middle" descr="LaTeX: \ell = k + \lfloor (n-1)/2 \rfloor"/>
              <p:cNvSpPr txBox="1"/>
              <p:nvPr/>
            </p:nvSpPr>
            <p:spPr>
              <a:xfrm>
                <a:off x="9454896" y="1557528"/>
                <a:ext cx="1728216" cy="301752"/>
              </a:xfrm>
              <a:prstGeom prst="rect">
                <a:avLst/>
              </a:prstGeom>
              <a:noFill/>
            </p:spPr>
            <p:txBody>
              <a:bodyPr wrap="none" lIns="0" tIns="0" rIns="0" bIns="0" anchor="ctr">
                <a:noAutofit/>
              </a:bodyPr>
              <a:lstStyle/>
              <a:p>
                <a:pPr algn="l"/>
                <a14:m>
                  <m:oMathPara xmlns:m="http://schemas.openxmlformats.org/officeDocument/2006/math">
                    <m:oMathParaPr>
                      <m:jc m:val="left"/>
                    </m:oMathParaPr>
                    <m:oMath>
                      <m:r>
                        <m:rPr>
                          <m:sty m:val="p"/>
                        </m:rPr>
                        <a:rPr lang="en-US" i="1" sz="1600">
                          <a:solidFill>
                            <a:srgbClr val="111111"/>
                          </a:solidFill>
                          <a:latin typeface="Cambria Math"/>
                          <a:cs typeface="Cambria Math"/>
                        </a:rPr>
                        <m:t>ℓ</m:t>
                      </m:r>
                      <m:r>
                        <m:rPr>
                          <m:sty m:val="p"/>
                        </m:rPr>
                        <a:rPr lang="en-US" i="1" sz="1600">
                          <a:solidFill>
                            <a:srgbClr val="111111"/>
                          </a:solidFill>
                          <a:latin typeface="Cambria Math"/>
                          <a:cs typeface="Cambria Math"/>
                        </a:rPr>
                        <m:t>=</m:t>
                      </m:r>
                      <m:r>
                        <a:rPr lang="en-US" i="1" sz="1600">
                          <a:solidFill>
                            <a:srgbClr val="111111"/>
                          </a:solidFill>
                          <a:latin typeface="Cambria Math"/>
                          <a:cs typeface="Cambria Math"/>
                        </a:rPr>
                        <m:t>k</m:t>
                      </m:r>
                      <m:r>
                        <m:rPr>
                          <m:sty m:val="p"/>
                        </m:rPr>
                        <a:rPr lang="en-US" i="1" sz="1600">
                          <a:solidFill>
                            <a:srgbClr val="111111"/>
                          </a:solidFill>
                          <a:latin typeface="Cambria Math"/>
                          <a:cs typeface="Cambria Math"/>
                        </a:rPr>
                        <m:t>+</m:t>
                      </m:r>
                      <m:r>
                        <m:rPr>
                          <m:sty m:val="p"/>
                        </m:rPr>
                        <a:rPr lang="en-US" i="1" sz="1600">
                          <a:solidFill>
                            <a:srgbClr val="111111"/>
                          </a:solidFill>
                          <a:latin typeface="Cambria Math"/>
                          <a:cs typeface="Cambria Math"/>
                        </a:rPr>
                        <m:t>⌊</m:t>
                      </m:r>
                      <m:d>
                        <m:dPr>
                          <m:begChr m:val="("/>
                          <m:endChr m:val=")"/>
                          <m:sepChr m:val=""/>
                          <m:grow/>
                        </m:dPr>
                        <m:e>
                          <m:r>
                            <a:rPr lang="en-US" i="1" sz="1600">
                              <a:solidFill>
                                <a:srgbClr val="111111"/>
                              </a:solidFill>
                              <a:latin typeface="Cambria Math"/>
                              <a:cs typeface="Cambria Math"/>
                            </a:rPr>
                            <m:t>n</m:t>
                          </m:r>
                          <m:r>
                            <m:rPr>
                              <m:sty m:val="p"/>
                            </m:rPr>
                            <a:rPr lang="en-US" i="1" sz="1600">
                              <a:solidFill>
                                <a:srgbClr val="111111"/>
                              </a:solidFill>
                              <a:latin typeface="Cambria Math"/>
                              <a:cs typeface="Cambria Math"/>
                            </a:rPr>
                            <m:t>−</m:t>
                          </m:r>
                          <m:r>
                            <a:rPr lang="en-US" i="1" sz="1600">
                              <a:solidFill>
                                <a:srgbClr val="111111"/>
                              </a:solidFill>
                              <a:latin typeface="Cambria Math"/>
                              <a:cs typeface="Cambria Math"/>
                            </a:rPr>
                            <m:t>1</m:t>
                          </m:r>
                        </m:e>
                      </m:d>
                      <m:r>
                        <m:rPr>
                          <m:sty m:val="p"/>
                        </m:rPr>
                        <a:rPr lang="en-US" i="1" sz="1600">
                          <a:solidFill>
                            <a:srgbClr val="111111"/>
                          </a:solidFill>
                          <a:latin typeface="Cambria Math"/>
                          <a:cs typeface="Cambria Math"/>
                        </a:rPr>
                        <m:t>/</m:t>
                      </m:r>
                      <m:r>
                        <a:rPr lang="en-US" i="1" sz="1600">
                          <a:solidFill>
                            <a:srgbClr val="111111"/>
                          </a:solidFill>
                          <a:latin typeface="Cambria Math"/>
                          <a:cs typeface="Cambria Math"/>
                        </a:rPr>
                        <m:t>2</m:t>
                      </m:r>
                      <m:r>
                        <m:rPr>
                          <m:sty m:val="p"/>
                        </m:rPr>
                        <a:rPr lang="en-US" i="1" sz="1600">
                          <a:solidFill>
                            <a:srgbClr val="111111"/>
                          </a:solidFill>
                          <a:latin typeface="Cambria Math"/>
                          <a:cs typeface="Cambria Math"/>
                        </a:rPr>
                        <m:t>⌋</m:t>
                      </m:r>
                    </m:oMath>
                  </m:oMathPara>
                </a14:m>
                <a:endParaRPr lang="en-US" sz="1600"/>
              </a:p>
            </p:txBody>
          </p:sp>
        </mc:Choice>
        <mc:Fallback>
          <p:sp>
            <p:nvSpPr>
              <p:cNvPr id="5" name="Equation: middle" descr="LaTeX: \ell = k + \lfloor (n-1)/2 \rfloor"/>
              <p:cNvSpPr txBox="1">
                <a:spLocks noRot="1" noChangeAspect="1" noMove="1" noResize="1" noEditPoints="1" noAdjustHandles="1" noChangeArrowheads="1" noChangeShapeType="1" noTextEdit="1"/>
              </p:cNvSpPr>
              <p:nvPr/>
            </p:nvSpPr>
            <p:spPr>
              <a:xfrm>
                <a:off x="9454896" y="1557528"/>
                <a:ext cx="1728216" cy="301752"/>
              </a:xfrm>
              <a:prstGeom prst="rect">
                <a:avLst/>
              </a:prstGeom>
              <a:blipFill>
                <a:blip r:embed="rId4"/>
                <a:stretch>
                  <a:fillRect/>
                </a:stretch>
              </a:blipFill>
            </p:spPr>
            <p:txBody>
              <a:bodyPr/>
              <a:lstStyle/>
              <a:p>
                <a:r>
                  <a:rPr lang="en-US">
                    <a:noFill/>
                  </a:rPr>
                  <a:t> </a:t>
                </a:r>
              </a:p>
            </p:txBody>
          </p:sp>
        </mc:Fallback>
      </mc:AlternateContent>
      <p:sp>
        <p:nvSpPr>
          <p:cNvPr id="6" name="Text: claim rule"/>
          <p:cNvSpPr txBox="1"/>
          <p:nvPr/>
        </p:nvSpPr>
        <p:spPr>
          <a:xfrm>
            <a:off x="5715000" y="2063496"/>
            <a:ext cx="5925312" cy="1143000"/>
          </a:xfrm>
          <a:prstGeom prst="rect">
            <a:avLst/>
          </a:prstGeom>
          <a:noFill/>
        </p:spPr>
        <p:txBody>
          <a:bodyPr wrap="square" anchor="t" lIns="18288" rIns="18288" tIns="18288" bIns="18288">
            <a:spAutoFit/>
          </a:bodyPr>
          <a:lstStyle/>
          <a:p>
            <a:pPr algn="l">
              <a:spcAft>
                <a:spcPts val="600"/>
              </a:spcAft>
            </a:pPr>
            <a:r>
              <a:rPr sz="1400" b="0" i="1">
                <a:solidFill>
                  <a:srgbClr val="111111"/>
                </a:solidFill>
                <a:latin typeface="Cambria"/>
              </a:rPr>
              <a:t>ℓ</a:t>
            </a:r>
            <a:r>
              <a:rPr sz="1400" b="0" i="0">
                <a:solidFill>
                  <a:srgbClr val="111111"/>
                </a:solidFill>
                <a:latin typeface="Cambria"/>
              </a:rPr>
              <a:t> is the middle body. Claim </a:t>
            </a:r>
            <a:r>
              <a:rPr sz="1400" b="0" i="1">
                <a:solidFill>
                  <a:srgbClr val="111111"/>
                </a:solidFill>
                <a:latin typeface="Cambria"/>
              </a:rPr>
              <a:t>ℓ ≥ c</a:t>
            </a:r>
            <a:r>
              <a:rPr sz="1400" b="0" i="0">
                <a:solidFill>
                  <a:srgbClr val="111111"/>
                </a:solidFill>
                <a:latin typeface="Cambria"/>
              </a:rPr>
              <a:t> when this reaches 0.99 and </a:t>
            </a:r>
            <a:r>
              <a:rPr sz="1400" b="0" i="1">
                <a:solidFill>
                  <a:srgbClr val="111111"/>
                </a:solidFill>
                <a:latin typeface="Cambria"/>
              </a:rPr>
              <a:t>ℓ &lt; c</a:t>
            </a:r>
            <a:r>
              <a:rPr sz="1400" b="0" i="0">
                <a:solidFill>
                  <a:srgbClr val="111111"/>
                </a:solidFill>
                <a:latin typeface="Cambria"/>
              </a:rPr>
              <a:t> when it falls to 0.01: right at least 99% of the times made, over all fields (T12/L1 from one body: 99.96%, 13 wrong of 30,943). Below, bodies within two levels of a border, a group chosen by the true level, where it need not hold.</a:t>
            </a:r>
          </a:p>
        </p:txBody>
      </p:sp>
      <p:sp>
        <p:nvSpPr>
          <p:cNvPr id="7" name="Text: stat C7/T1"/>
          <p:cNvSpPr txBox="1"/>
          <p:nvPr/>
        </p:nvSpPr>
        <p:spPr>
          <a:xfrm>
            <a:off x="5715000" y="3252216"/>
            <a:ext cx="2834640" cy="1325880"/>
          </a:xfrm>
          <a:prstGeom prst="rect">
            <a:avLst/>
          </a:prstGeom>
          <a:noFill/>
        </p:spPr>
        <p:txBody>
          <a:bodyPr wrap="square" anchor="t" lIns="18288" rIns="18288" tIns="18288" bIns="18288">
            <a:spAutoFit/>
          </a:bodyPr>
          <a:lstStyle/>
          <a:p>
            <a:pPr algn="l">
              <a:lnSpc>
                <a:spcPct val="95000"/>
              </a:lnSpc>
              <a:spcAft>
                <a:spcPts val="100"/>
              </a:spcAft>
            </a:pPr>
            <a:r>
              <a:rPr sz="3600" b="1" i="0">
                <a:solidFill>
                  <a:srgbClr val="1B4F8C"/>
                </a:solidFill>
                <a:latin typeface="Cambria"/>
              </a:rPr>
              <a:t>56%</a:t>
            </a:r>
          </a:p>
          <a:p>
            <a:pPr algn="l">
              <a:lnSpc>
                <a:spcPct val="95000"/>
              </a:lnSpc>
              <a:spcAft>
                <a:spcPts val="100"/>
              </a:spcAft>
            </a:pPr>
            <a:r>
              <a:rPr sz="1400" b="0" i="0">
                <a:solidFill>
                  <a:srgbClr val="111111"/>
                </a:solidFill>
                <a:latin typeface="Cambria"/>
              </a:rPr>
              <a:t>of single bodies within two levels of C7/T1 say which side; right 99.8% (7 wrong of 4,514)</a:t>
            </a:r>
          </a:p>
        </p:txBody>
      </p:sp>
      <p:sp>
        <p:nvSpPr>
          <p:cNvPr id="8" name="Text: stat T12/L1"/>
          <p:cNvSpPr txBox="1"/>
          <p:nvPr/>
        </p:nvSpPr>
        <p:spPr>
          <a:xfrm>
            <a:off x="8805672" y="3252216"/>
            <a:ext cx="2834640" cy="1325880"/>
          </a:xfrm>
          <a:prstGeom prst="rect">
            <a:avLst/>
          </a:prstGeom>
          <a:noFill/>
        </p:spPr>
        <p:txBody>
          <a:bodyPr wrap="square" anchor="t" lIns="18288" rIns="18288" tIns="18288" bIns="18288">
            <a:spAutoFit/>
          </a:bodyPr>
          <a:lstStyle/>
          <a:p>
            <a:pPr algn="l">
              <a:lnSpc>
                <a:spcPct val="95000"/>
              </a:lnSpc>
              <a:spcAft>
                <a:spcPts val="100"/>
              </a:spcAft>
            </a:pPr>
            <a:r>
              <a:rPr sz="3600" b="1" i="0">
                <a:solidFill>
                  <a:srgbClr val="1B4F8C"/>
                </a:solidFill>
                <a:latin typeface="Cambria"/>
              </a:rPr>
              <a:t>7%</a:t>
            </a:r>
          </a:p>
          <a:p>
            <a:pPr algn="l">
              <a:lnSpc>
                <a:spcPct val="95000"/>
              </a:lnSpc>
              <a:spcAft>
                <a:spcPts val="100"/>
              </a:spcAft>
            </a:pPr>
            <a:r>
              <a:rPr sz="1400" b="0" i="0">
                <a:solidFill>
                  <a:srgbClr val="111111"/>
                </a:solidFill>
                <a:latin typeface="Cambria"/>
              </a:rPr>
              <a:t>of single bodies within two levels of T12/L1 say which side; right </a:t>
            </a:r>
            <a:r>
              <a:rPr sz="1400" b="1" i="0">
                <a:solidFill>
                  <a:srgbClr val="A4262C"/>
                </a:solidFill>
                <a:latin typeface="Cambria"/>
              </a:rPr>
              <a:t>97.9% (12 wrong of 568), short of 99%</a:t>
            </a:r>
          </a:p>
        </p:txBody>
      </p:sp>
      <p:sp>
        <p:nvSpPr>
          <p:cNvPr id="9" name="Text: stat region"/>
          <p:cNvSpPr txBox="1"/>
          <p:nvPr/>
        </p:nvSpPr>
        <p:spPr>
          <a:xfrm>
            <a:off x="5715000" y="4669536"/>
            <a:ext cx="2834640" cy="1325880"/>
          </a:xfrm>
          <a:prstGeom prst="rect">
            <a:avLst/>
          </a:prstGeom>
          <a:noFill/>
        </p:spPr>
        <p:txBody>
          <a:bodyPr wrap="square" anchor="t" lIns="18288" rIns="18288" tIns="18288" bIns="18288">
            <a:spAutoFit/>
          </a:bodyPr>
          <a:lstStyle/>
          <a:p>
            <a:pPr algn="l">
              <a:lnSpc>
                <a:spcPct val="95000"/>
              </a:lnSpc>
              <a:spcAft>
                <a:spcPts val="100"/>
              </a:spcAft>
            </a:pPr>
            <a:r>
              <a:rPr sz="3600" b="1" i="0">
                <a:solidFill>
                  <a:srgbClr val="1B4F8C"/>
                </a:solidFill>
                <a:latin typeface="Cambria"/>
              </a:rPr>
              <a:t>61%</a:t>
            </a:r>
          </a:p>
          <a:p>
            <a:pPr algn="l">
              <a:lnSpc>
                <a:spcPct val="95000"/>
              </a:lnSpc>
              <a:spcAft>
                <a:spcPts val="100"/>
              </a:spcAft>
            </a:pPr>
            <a:r>
              <a:rPr sz="1400" b="0" i="0">
                <a:solidFill>
                  <a:srgbClr val="111111"/>
                </a:solidFill>
                <a:latin typeface="Cambria"/>
              </a:rPr>
              <a:t>of single bodies say their region; right 99.9% (21 wrong of 26,786), only 2 of them far from both junctions</a:t>
            </a:r>
          </a:p>
        </p:txBody>
      </p:sp>
      <p:sp>
        <p:nvSpPr>
          <p:cNvPr id="10" name="Text: stat nine bodies"/>
          <p:cNvSpPr txBox="1"/>
          <p:nvPr/>
        </p:nvSpPr>
        <p:spPr>
          <a:xfrm>
            <a:off x="8805672" y="4669536"/>
            <a:ext cx="2834640" cy="1325880"/>
          </a:xfrm>
          <a:prstGeom prst="rect">
            <a:avLst/>
          </a:prstGeom>
          <a:noFill/>
        </p:spPr>
        <p:txBody>
          <a:bodyPr wrap="square" anchor="t" lIns="18288" rIns="18288" tIns="18288" bIns="18288">
            <a:spAutoFit/>
          </a:bodyPr>
          <a:lstStyle/>
          <a:p>
            <a:pPr algn="l">
              <a:lnSpc>
                <a:spcPct val="95000"/>
              </a:lnSpc>
              <a:spcAft>
                <a:spcPts val="100"/>
              </a:spcAft>
            </a:pPr>
            <a:r>
              <a:rPr sz="3600" b="1" i="0">
                <a:solidFill>
                  <a:srgbClr val="1B4F8C"/>
                </a:solidFill>
                <a:latin typeface="Cambria"/>
              </a:rPr>
              <a:t>88%</a:t>
            </a:r>
          </a:p>
          <a:p>
            <a:pPr algn="l">
              <a:lnSpc>
                <a:spcPct val="95000"/>
              </a:lnSpc>
              <a:spcAft>
                <a:spcPts val="100"/>
              </a:spcAft>
            </a:pPr>
            <a:r>
              <a:rPr sz="1400" b="0" i="0">
                <a:solidFill>
                  <a:srgbClr val="111111"/>
                </a:solidFill>
                <a:latin typeface="Cambria"/>
              </a:rPr>
              <a:t>of fields with middle body T11 to L1 say which side of T12/L1 from nine bodies (1 wrong of 5,279)</a:t>
            </a:r>
          </a:p>
        </p:txBody>
      </p:sp>
      <p:sp>
        <p:nvSpPr>
          <p:cNvPr id="11" name="Text: footer"/>
          <p:cNvSpPr txBox="1"/>
          <p:nvPr/>
        </p:nvSpPr>
        <p:spPr>
          <a:xfrm>
            <a:off x="548640" y="6272784"/>
            <a:ext cx="9966960" cy="411480"/>
          </a:xfrm>
          <a:prstGeom prst="rect">
            <a:avLst/>
          </a:prstGeom>
          <a:noFill/>
        </p:spPr>
        <p:txBody>
          <a:bodyPr wrap="square" anchor="t" lIns="18288" rIns="18288" tIns="18288" bIns="18288">
            <a:spAutoFit/>
          </a:bodyPr>
          <a:lstStyle/>
          <a:p>
            <a:pPr algn="l">
              <a:spcAft>
                <a:spcPts val="0"/>
              </a:spcAft>
            </a:pPr>
            <a:r>
              <a:rPr sz="1100" b="0" i="0">
                <a:solidFill>
                  <a:srgbClr val="595959"/>
                </a:solidFill>
                <a:latin typeface="Cambria"/>
              </a:rPr>
              <a:t>Synthetic columns from Panjabi's published tables (Spine 1991;16:861, 888; 1992;17:299); no patient data.</a:t>
            </a:r>
          </a:p>
          <a:p>
            <a:pPr algn="l">
              <a:spcAft>
                <a:spcPts val="0"/>
              </a:spcAft>
            </a:pPr>
            <a:r>
              <a:rPr sz="1100" b="1" i="0">
                <a:solidFill>
                  <a:srgbClr val="111111"/>
                </a:solidFill>
                <a:latin typeface="Cambria"/>
              </a:rPr>
              <a:t>Confidential: pre-filing draft, not for distribution</a:t>
            </a:r>
          </a:p>
        </p:txBody>
      </p:sp>
      <p:sp>
        <p:nvSpPr>
          <p:cNvPr id="12" name="Text: slide number"/>
          <p:cNvSpPr txBox="1"/>
          <p:nvPr/>
        </p:nvSpPr>
        <p:spPr>
          <a:xfrm>
            <a:off x="10725912" y="6272784"/>
            <a:ext cx="914400" cy="274320"/>
          </a:xfrm>
          <a:prstGeom prst="rect">
            <a:avLst/>
          </a:prstGeom>
          <a:noFill/>
        </p:spPr>
        <p:txBody>
          <a:bodyPr wrap="square" anchor="t" lIns="18288" rIns="18288" tIns="18288" bIns="18288">
            <a:spAutoFit/>
          </a:bodyPr>
          <a:lstStyle/>
          <a:p>
            <a:pPr algn="r">
              <a:spcAft>
                <a:spcPts val="0"/>
              </a:spcAft>
            </a:pPr>
            <a:r>
              <a:rPr sz="1100" b="0" i="0">
                <a:solidFill>
                  <a:srgbClr val="595959"/>
                </a:solidFill>
                <a:latin typeface="Cambria"/>
              </a:rPr>
              <a:t>4 / 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74320"/>
            <a:ext cx="11091672" cy="960120"/>
          </a:xfrm>
        </p:spPr>
        <p:txBody>
          <a:bodyPr wrap="square" anchor="b"/>
          <a:lstStyle/>
          <a:p>
            <a:pPr algn="l"/>
            <a:r>
              <a:rPr sz="2800" b="1">
                <a:solidFill>
                  <a:srgbClr val="111111"/>
                </a:solidFill>
                <a:latin typeface="Cambria"/>
              </a:rPr>
              <a:t>The weak point is the table, not the mathematics</a:t>
            </a:r>
          </a:p>
        </p:txBody>
      </p:sp>
      <p:pic>
        <p:nvPicPr>
          <p:cNvPr id="3" name="Figure: exact_slide_robust" descr="Three bodies, when the table or error model is wrong: precision at posterior 0.99 (A) and share named (B), printed table and spreads widened by the root of 1 + 1/12 with 2 mm error (chosen on a pilot); combined, measures correlated 0.4. Separate columns: 500 per error world, 40 x 100 per table world. Bars, two SE."/>
          <p:cNvPicPr>
            <a:picLocks noChangeAspect="1"/>
          </p:cNvPicPr>
          <p:nvPr/>
        </p:nvPicPr>
        <p:blipFill>
          <a:blip r:embed="rId2"/>
          <a:stretch>
            <a:fillRect/>
          </a:stretch>
        </p:blipFill>
        <p:spPr>
          <a:xfrm>
            <a:off x="548640" y="1371600"/>
            <a:ext cx="6766560" cy="3657600"/>
          </a:xfrm>
          <a:prstGeom prst="rect">
            <a:avLst/>
          </a:prstGeom>
        </p:spPr>
      </p:pic>
      <p:sp>
        <p:nvSpPr>
          <p:cNvPr id="4" name="Text: stat twelve spines"/>
          <p:cNvSpPr txBox="1"/>
          <p:nvPr/>
        </p:nvSpPr>
        <p:spPr>
          <a:xfrm>
            <a:off x="7498079" y="1371600"/>
            <a:ext cx="4142232" cy="1188720"/>
          </a:xfrm>
          <a:prstGeom prst="rect">
            <a:avLst/>
          </a:prstGeom>
          <a:noFill/>
        </p:spPr>
        <p:txBody>
          <a:bodyPr wrap="square" anchor="t" lIns="18288" rIns="18288" tIns="18288" bIns="18288">
            <a:spAutoFit/>
          </a:bodyPr>
          <a:lstStyle/>
          <a:p>
            <a:pPr algn="l">
              <a:lnSpc>
                <a:spcPct val="95000"/>
              </a:lnSpc>
              <a:spcAft>
                <a:spcPts val="100"/>
              </a:spcAft>
            </a:pPr>
            <a:r>
              <a:rPr sz="3600" b="1" i="0">
                <a:solidFill>
                  <a:srgbClr val="A4262C"/>
                </a:solidFill>
                <a:latin typeface="Cambria"/>
              </a:rPr>
              <a:t>95.5%</a:t>
            </a:r>
          </a:p>
          <a:p>
            <a:pPr algn="l">
              <a:lnSpc>
                <a:spcPct val="95000"/>
              </a:lnSpc>
              <a:spcAft>
                <a:spcPts val="100"/>
              </a:spcAft>
            </a:pPr>
            <a:r>
              <a:rPr sz="1400" b="0" i="0">
                <a:solidFill>
                  <a:srgbClr val="111111"/>
                </a:solidFill>
                <a:latin typeface="Cambria"/>
              </a:rPr>
              <a:t>of three-body names at posterior 0.99 right when the rule's table is estimated from 12 spines, as Panjabi's tables are</a:t>
            </a:r>
          </a:p>
        </p:txBody>
      </p:sp>
      <p:sp>
        <p:nvSpPr>
          <p:cNvPr id="5" name="Text: stat widened"/>
          <p:cNvSpPr txBox="1"/>
          <p:nvPr/>
        </p:nvSpPr>
        <p:spPr>
          <a:xfrm>
            <a:off x="7498079" y="2651760"/>
            <a:ext cx="4142232" cy="1463040"/>
          </a:xfrm>
          <a:prstGeom prst="rect">
            <a:avLst/>
          </a:prstGeom>
          <a:noFill/>
        </p:spPr>
        <p:txBody>
          <a:bodyPr wrap="square" anchor="t" lIns="18288" rIns="18288" tIns="18288" bIns="18288">
            <a:spAutoFit/>
          </a:bodyPr>
          <a:lstStyle/>
          <a:p>
            <a:pPr algn="l">
              <a:lnSpc>
                <a:spcPct val="95000"/>
              </a:lnSpc>
              <a:spcAft>
                <a:spcPts val="100"/>
              </a:spcAft>
            </a:pPr>
            <a:r>
              <a:rPr sz="3600" b="1" i="0">
                <a:solidFill>
                  <a:srgbClr val="111111"/>
                </a:solidFill>
                <a:latin typeface="Cambria"/>
              </a:rPr>
              <a:t>99.3%</a:t>
            </a:r>
          </a:p>
          <a:p>
            <a:pPr algn="l">
              <a:lnSpc>
                <a:spcPct val="95000"/>
              </a:lnSpc>
              <a:spcAft>
                <a:spcPts val="100"/>
              </a:spcAft>
            </a:pPr>
            <a:r>
              <a:rPr sz="1400" b="0" i="0">
                <a:solidFill>
                  <a:srgbClr val="111111"/>
                </a:solidFill>
                <a:latin typeface="Cambria"/>
              </a:rPr>
              <a:t>with spreads widened and 2 mm of error (the 2 mm chosen on a separate pilot), but 5.5% of fields named, not 19.5%, and lumbar names right 96.7% (8 wrong of 246)</a:t>
            </a:r>
          </a:p>
        </p:txBody>
      </p:sp>
      <mc:AlternateContent xmlns:mc="http://schemas.openxmlformats.org/markup-compatibility/2006">
        <mc:Choice xmlns:a14="http://schemas.microsoft.com/office/drawing/2010/main" Requires="a14">
          <p:sp>
            <p:nvSpPr>
              <p:cNvPr id="6" name="Equation: honest" descr="LaTeX: \tilde{\sigma}_{m,\ell} = \sigma_{m,\ell}\sqrt{1 + 1/12},\qquad \sigma_{\mathrm{err}} = 2\ \mathrm{mm}"/>
              <p:cNvSpPr txBox="1"/>
              <p:nvPr/>
            </p:nvSpPr>
            <p:spPr>
              <a:xfrm>
                <a:off x="7498079" y="4251960"/>
                <a:ext cx="3560064" cy="344424"/>
              </a:xfrm>
              <a:prstGeom prst="rect">
                <a:avLst/>
              </a:prstGeom>
              <a:noFill/>
            </p:spPr>
            <p:txBody>
              <a:bodyPr wrap="none" lIns="0" tIns="0" rIns="0" bIns="0" anchor="ctr">
                <a:noAutofit/>
              </a:bodyPr>
              <a:lstStyle/>
              <a:p>
                <a:pPr algn="l"/>
                <a14:m>
                  <m:oMathPara xmlns:m="http://schemas.openxmlformats.org/officeDocument/2006/math">
                    <m:oMathParaPr>
                      <m:jc m:val="left"/>
                    </m:oMathParaPr>
                    <m:oMath>
                      <m:sSub>
                        <m:e>
                          <m:acc>
                            <m:accPr>
                              <m:chr m:val="̃"/>
                            </m:accPr>
                            <m:e>
                              <m:r>
                                <a:rPr lang="en-US" i="1" sz="1600">
                                  <a:solidFill>
                                    <a:srgbClr val="111111"/>
                                  </a:solidFill>
                                  <a:latin typeface="Cambria Math"/>
                                  <a:cs typeface="Cambria Math"/>
                                </a:rPr>
                                <m:t>σ</m:t>
                              </m:r>
                            </m:e>
                          </m:acc>
                        </m:e>
                        <m:sub>
                          <m:r>
                            <a:rPr lang="en-US" i="1" sz="1600">
                              <a:solidFill>
                                <a:srgbClr val="111111"/>
                              </a:solidFill>
                              <a:latin typeface="Cambria Math"/>
                              <a:cs typeface="Cambria Math"/>
                            </a:rPr>
                            <m:t>m</m:t>
                          </m:r>
                          <m:r>
                            <m:rPr>
                              <m:sty m:val="p"/>
                            </m:rPr>
                            <a:rPr lang="en-US" i="1" sz="1600">
                              <a:solidFill>
                                <a:srgbClr val="111111"/>
                              </a:solidFill>
                              <a:latin typeface="Cambria Math"/>
                              <a:cs typeface="Cambria Math"/>
                            </a:rPr>
                            <m:t>,</m:t>
                          </m:r>
                          <m:r>
                            <m:rPr>
                              <m:sty m:val="p"/>
                            </m:rPr>
                            <a:rPr lang="en-US" i="1" sz="1600">
                              <a:solidFill>
                                <a:srgbClr val="111111"/>
                              </a:solidFill>
                              <a:latin typeface="Cambria Math"/>
                              <a:cs typeface="Cambria Math"/>
                            </a:rPr>
                            <m:t>ℓ</m:t>
                          </m:r>
                        </m:sub>
                      </m:sSub>
                      <m:r>
                        <m:rPr>
                          <m:sty m:val="p"/>
                        </m:rPr>
                        <a:rPr lang="en-US" i="1" sz="1600">
                          <a:solidFill>
                            <a:srgbClr val="111111"/>
                          </a:solidFill>
                          <a:latin typeface="Cambria Math"/>
                          <a:cs typeface="Cambria Math"/>
                        </a:rPr>
                        <m:t>=</m:t>
                      </m:r>
                      <m:sSub>
                        <m:e>
                          <m:r>
                            <a:rPr lang="en-US" i="1" sz="1600">
                              <a:solidFill>
                                <a:srgbClr val="111111"/>
                              </a:solidFill>
                              <a:latin typeface="Cambria Math"/>
                              <a:cs typeface="Cambria Math"/>
                            </a:rPr>
                            <m:t>σ</m:t>
                          </m:r>
                        </m:e>
                        <m:sub>
                          <m:r>
                            <a:rPr lang="en-US" i="1" sz="1600">
                              <a:solidFill>
                                <a:srgbClr val="111111"/>
                              </a:solidFill>
                              <a:latin typeface="Cambria Math"/>
                              <a:cs typeface="Cambria Math"/>
                            </a:rPr>
                            <m:t>m</m:t>
                          </m:r>
                          <m:r>
                            <m:rPr>
                              <m:sty m:val="p"/>
                            </m:rPr>
                            <a:rPr lang="en-US" i="1" sz="1600">
                              <a:solidFill>
                                <a:srgbClr val="111111"/>
                              </a:solidFill>
                              <a:latin typeface="Cambria Math"/>
                              <a:cs typeface="Cambria Math"/>
                            </a:rPr>
                            <m:t>,</m:t>
                          </m:r>
                          <m:r>
                            <m:rPr>
                              <m:sty m:val="p"/>
                            </m:rPr>
                            <a:rPr lang="en-US" i="1" sz="1600">
                              <a:solidFill>
                                <a:srgbClr val="111111"/>
                              </a:solidFill>
                              <a:latin typeface="Cambria Math"/>
                              <a:cs typeface="Cambria Math"/>
                            </a:rPr>
                            <m:t>ℓ</m:t>
                          </m:r>
                        </m:sub>
                      </m:sSub>
                      <m:rad>
                        <m:radPr>
                          <m:degHide m:val="on"/>
                        </m:radPr>
                        <m:deg/>
                        <m:e>
                          <m:r>
                            <a:rPr lang="en-US" i="1" sz="1600">
                              <a:solidFill>
                                <a:srgbClr val="111111"/>
                              </a:solidFill>
                              <a:latin typeface="Cambria Math"/>
                              <a:cs typeface="Cambria Math"/>
                            </a:rPr>
                            <m:t>1</m:t>
                          </m:r>
                          <m:r>
                            <m:rPr>
                              <m:sty m:val="p"/>
                            </m:rPr>
                            <a:rPr lang="en-US" i="1" sz="1600">
                              <a:solidFill>
                                <a:srgbClr val="111111"/>
                              </a:solidFill>
                              <a:latin typeface="Cambria Math"/>
                              <a:cs typeface="Cambria Math"/>
                            </a:rPr>
                            <m:t>+</m:t>
                          </m:r>
                          <m:r>
                            <a:rPr lang="en-US" i="1" sz="1600">
                              <a:solidFill>
                                <a:srgbClr val="111111"/>
                              </a:solidFill>
                              <a:latin typeface="Cambria Math"/>
                              <a:cs typeface="Cambria Math"/>
                            </a:rPr>
                            <m:t>1</m:t>
                          </m:r>
                          <m:r>
                            <m:rPr>
                              <m:sty m:val="p"/>
                            </m:rPr>
                            <a:rPr lang="en-US" i="1" sz="1600">
                              <a:solidFill>
                                <a:srgbClr val="111111"/>
                              </a:solidFill>
                              <a:latin typeface="Cambria Math"/>
                              <a:cs typeface="Cambria Math"/>
                            </a:rPr>
                            <m:t>/</m:t>
                          </m:r>
                          <m:r>
                            <a:rPr lang="en-US" i="1" sz="1600">
                              <a:solidFill>
                                <a:srgbClr val="111111"/>
                              </a:solidFill>
                              <a:latin typeface="Cambria Math"/>
                              <a:cs typeface="Cambria Math"/>
                            </a:rPr>
                            <m:t>12</m:t>
                          </m:r>
                        </m:e>
                      </m:rad>
                      <m:r>
                        <m:rPr>
                          <m:sty m:val="p"/>
                        </m:rPr>
                        <a:rPr lang="en-US" i="1" sz="1600">
                          <a:solidFill>
                            <a:srgbClr val="111111"/>
                          </a:solidFill>
                          <a:latin typeface="Cambria Math"/>
                          <a:cs typeface="Cambria Math"/>
                        </a:rPr>
                        <m:t>,</m:t>
                      </m:r>
                      <m:r>
                        <a:rPr lang="en-US" i="1" sz="1600">
                          <a:solidFill>
                            <a:srgbClr val="111111"/>
                          </a:solidFill>
                          <a:latin typeface="Cambria Math"/>
                          <a:cs typeface="Cambria Math"/>
                        </a:rPr>
                        <m:t>  </m:t>
                      </m:r>
                      <m:sSub>
                        <m:e>
                          <m:r>
                            <a:rPr lang="en-US" i="1" sz="1600">
                              <a:solidFill>
                                <a:srgbClr val="111111"/>
                              </a:solidFill>
                              <a:latin typeface="Cambria Math"/>
                              <a:cs typeface="Cambria Math"/>
                            </a:rPr>
                            <m:t>σ</m:t>
                          </m:r>
                        </m:e>
                        <m:sub>
                          <m:r>
                            <m:rPr>
                              <m:sty m:val="p"/>
                            </m:rPr>
                            <a:rPr lang="en-US" i="1" sz="1600">
                              <a:solidFill>
                                <a:srgbClr val="111111"/>
                              </a:solidFill>
                              <a:latin typeface="Cambria Math"/>
                              <a:cs typeface="Cambria Math"/>
                            </a:rPr>
                            <m:t>e</m:t>
                          </m:r>
                          <m:r>
                            <m:rPr>
                              <m:sty m:val="p"/>
                            </m:rPr>
                            <a:rPr lang="en-US" i="1" sz="1600">
                              <a:solidFill>
                                <a:srgbClr val="111111"/>
                              </a:solidFill>
                              <a:latin typeface="Cambria Math"/>
                              <a:cs typeface="Cambria Math"/>
                            </a:rPr>
                            <m:t>r</m:t>
                          </m:r>
                          <m:r>
                            <m:rPr>
                              <m:sty m:val="p"/>
                            </m:rPr>
                            <a:rPr lang="en-US" i="1" sz="1600">
                              <a:solidFill>
                                <a:srgbClr val="111111"/>
                              </a:solidFill>
                              <a:latin typeface="Cambria Math"/>
                              <a:cs typeface="Cambria Math"/>
                            </a:rPr>
                            <m:t>r</m:t>
                          </m:r>
                        </m:sub>
                      </m:sSub>
                      <m:r>
                        <m:rPr>
                          <m:sty m:val="p"/>
                        </m:rPr>
                        <a:rPr lang="en-US" i="1" sz="1600">
                          <a:solidFill>
                            <a:srgbClr val="111111"/>
                          </a:solidFill>
                          <a:latin typeface="Cambria Math"/>
                          <a:cs typeface="Cambria Math"/>
                        </a:rPr>
                        <m:t>=</m:t>
                      </m:r>
                      <m:r>
                        <a:rPr lang="en-US" i="1" sz="1600">
                          <a:solidFill>
                            <a:srgbClr val="111111"/>
                          </a:solidFill>
                          <a:latin typeface="Cambria Math"/>
                          <a:cs typeface="Cambria Math"/>
                        </a:rPr>
                        <m:t>2</m:t>
                      </m:r>
                      <m:r>
                        <a:rPr lang="en-US" i="1" sz="1600">
                          <a:solidFill>
                            <a:srgbClr val="111111"/>
                          </a:solidFill>
                          <a:latin typeface="Cambria Math"/>
                          <a:cs typeface="Cambria Math"/>
                        </a:rPr>
                        <m:t> </m:t>
                      </m:r>
                      <m:r>
                        <m:rPr>
                          <m:sty m:val="p"/>
                        </m:rPr>
                        <a:rPr lang="en-US" i="1" sz="1600">
                          <a:solidFill>
                            <a:srgbClr val="111111"/>
                          </a:solidFill>
                          <a:latin typeface="Cambria Math"/>
                          <a:cs typeface="Cambria Math"/>
                        </a:rPr>
                        <m:t>m</m:t>
                      </m:r>
                      <m:r>
                        <m:rPr>
                          <m:sty m:val="p"/>
                        </m:rPr>
                        <a:rPr lang="en-US" i="1" sz="1600">
                          <a:solidFill>
                            <a:srgbClr val="111111"/>
                          </a:solidFill>
                          <a:latin typeface="Cambria Math"/>
                          <a:cs typeface="Cambria Math"/>
                        </a:rPr>
                        <m:t>m</m:t>
                      </m:r>
                    </m:oMath>
                  </m:oMathPara>
                </a14:m>
                <a:endParaRPr lang="en-US" sz="1600"/>
              </a:p>
            </p:txBody>
          </p:sp>
        </mc:Choice>
        <mc:Fallback>
          <p:sp>
            <p:nvSpPr>
              <p:cNvPr id="6" name="Equation: honest" descr="LaTeX: \tilde{\sigma}_{m,\ell} = \sigma_{m,\ell}\sqrt{1 + 1/12},\qquad \sigma_{\mathrm{err}} = 2\ \mathrm{mm}"/>
              <p:cNvSpPr txBox="1">
                <a:spLocks noRot="1" noChangeAspect="1" noMove="1" noResize="1" noEditPoints="1" noAdjustHandles="1" noChangeArrowheads="1" noChangeShapeType="1" noTextEdit="1"/>
              </p:cNvSpPr>
              <p:nvPr/>
            </p:nvSpPr>
            <p:spPr>
              <a:xfrm>
                <a:off x="7498079" y="4251960"/>
                <a:ext cx="3560064" cy="344424"/>
              </a:xfrm>
              <a:prstGeom prst="rect">
                <a:avLst/>
              </a:prstGeom>
              <a:blipFill>
                <a:blip r:embed="rId3"/>
                <a:stretch>
                  <a:fillRect/>
                </a:stretch>
              </a:blipFill>
            </p:spPr>
            <p:txBody>
              <a:bodyPr/>
              <a:lstStyle/>
              <a:p>
                <a:r>
                  <a:rPr lang="en-US">
                    <a:noFill/>
                  </a:rPr>
                  <a:t> </a:t>
                </a:r>
              </a:p>
            </p:txBody>
          </p:sp>
        </mc:Fallback>
      </mc:AlternateContent>
      <p:sp>
        <p:nvSpPr>
          <p:cNvPr id="7" name="Text: next"/>
          <p:cNvSpPr txBox="1"/>
          <p:nvPr/>
        </p:nvSpPr>
        <p:spPr>
          <a:xfrm>
            <a:off x="548640" y="5257800"/>
            <a:ext cx="11091672" cy="822960"/>
          </a:xfrm>
          <a:prstGeom prst="rect">
            <a:avLst/>
          </a:prstGeom>
          <a:noFill/>
        </p:spPr>
        <p:txBody>
          <a:bodyPr wrap="square" anchor="t" lIns="18288" rIns="18288" tIns="18288" bIns="18288">
            <a:spAutoFit/>
          </a:bodyPr>
          <a:lstStyle/>
          <a:p>
            <a:pPr algn="l">
              <a:spcAft>
                <a:spcPts val="600"/>
              </a:spcAft>
            </a:pPr>
            <a:r>
              <a:rPr sz="1600" b="1" i="0">
                <a:solidFill>
                  <a:srgbClr val="111111"/>
                </a:solidFill>
                <a:latin typeface="Cambria"/>
              </a:rPr>
              <a:t>Next: </a:t>
            </a:r>
            <a:r>
              <a:rPr sz="1600" b="0" i="0">
                <a:solidFill>
                  <a:srgbClr val="111111"/>
                </a:solidFill>
                <a:latin typeface="Cambria"/>
              </a:rPr>
              <a:t>measure the table on full-spine CTs counted from C2, and carry a real series' prior over places.</a:t>
            </a:r>
          </a:p>
        </p:txBody>
      </p:sp>
      <p:sp>
        <p:nvSpPr>
          <p:cNvPr id="8" name="Text: footer"/>
          <p:cNvSpPr txBox="1"/>
          <p:nvPr/>
        </p:nvSpPr>
        <p:spPr>
          <a:xfrm>
            <a:off x="548640" y="6272784"/>
            <a:ext cx="9966960" cy="411480"/>
          </a:xfrm>
          <a:prstGeom prst="rect">
            <a:avLst/>
          </a:prstGeom>
          <a:noFill/>
        </p:spPr>
        <p:txBody>
          <a:bodyPr wrap="square" anchor="t" lIns="18288" rIns="18288" tIns="18288" bIns="18288">
            <a:spAutoFit/>
          </a:bodyPr>
          <a:lstStyle/>
          <a:p>
            <a:pPr algn="l">
              <a:spcAft>
                <a:spcPts val="0"/>
              </a:spcAft>
            </a:pPr>
            <a:r>
              <a:rPr sz="1100" b="0" i="0">
                <a:solidFill>
                  <a:srgbClr val="595959"/>
                </a:solidFill>
                <a:latin typeface="Cambria"/>
              </a:rPr>
              <a:t>Synthetic columns from Panjabi's published tables (Spine 1991;16:861, 888; 1992;17:299); no patient data.</a:t>
            </a:r>
          </a:p>
          <a:p>
            <a:pPr algn="l">
              <a:spcAft>
                <a:spcPts val="0"/>
              </a:spcAft>
            </a:pPr>
            <a:r>
              <a:rPr sz="1100" b="1" i="0">
                <a:solidFill>
                  <a:srgbClr val="111111"/>
                </a:solidFill>
                <a:latin typeface="Cambria"/>
              </a:rPr>
              <a:t>Confidential: pre-filing draft, not for distribution</a:t>
            </a:r>
          </a:p>
        </p:txBody>
      </p:sp>
      <p:sp>
        <p:nvSpPr>
          <p:cNvPr id="9" name="Text: slide number"/>
          <p:cNvSpPr txBox="1"/>
          <p:nvPr/>
        </p:nvSpPr>
        <p:spPr>
          <a:xfrm>
            <a:off x="10725912" y="6272784"/>
            <a:ext cx="914400" cy="274320"/>
          </a:xfrm>
          <a:prstGeom prst="rect">
            <a:avLst/>
          </a:prstGeom>
          <a:noFill/>
        </p:spPr>
        <p:txBody>
          <a:bodyPr wrap="square" anchor="t" lIns="18288" rIns="18288" tIns="18288" bIns="18288">
            <a:spAutoFit/>
          </a:bodyPr>
          <a:lstStyle/>
          <a:p>
            <a:pPr algn="r">
              <a:spcAft>
                <a:spcPts val="0"/>
              </a:spcAft>
            </a:pPr>
            <a:r>
              <a:rPr sz="1100" b="0" i="0">
                <a:solidFill>
                  <a:srgbClr val="595959"/>
                </a:solidFill>
                <a:latin typeface="Cambria"/>
              </a:rPr>
              <a:t>5 / 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Slides>5</Slides>
  <Notes>5</Notes>
  <PresentationFormat>Widescreen</PresentationFormat>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Can the bodies in view name a vertebra?</dc:title>
  <dc:subject/>
  <dc:creator>Gregory Schwing</dc:creator>
  <cp:keywords/>
  <dc:description/>
  <cp:lastModifiedBy>Gregory Schwing</cp:lastModifiedBy>
  <cp:revision>1</cp:revision>
  <dcterms:created xsi:type="dcterms:W3CDTF">2026-10-26T00:00:00Z</dcterms:created>
  <dcterms:modified xsi:type="dcterms:W3CDTF">2026-10-26T00:00:00Z</dcterms:modified>
  <cp:category/>
</cp:coreProperties>
</file>