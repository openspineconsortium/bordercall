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sldIdLst>
    <p:sldId id="256" r:id="rId4"/>
    <p:sldId id="257" r:id="rId3"/>
    <p:sldId id="258" r:id="rId13"/>
    <p:sldId id="259" r:id="rId14"/>
    <p:sldId id="260" r:id="rId2"/>
  </p:sldIdLst>
  <p:sldSz cx="12192000" cy="6858000"/>
  <p:notesSz cx="6858000" cy="9144000"/>
  <p:embeddedFontLst>
    <p:embeddedFont>
      <p:font typeface="New Hero" panose="02000500000000000000" pitchFamily="50" charset="0"/>
      <p:regular r:id="rId5"/>
      <p:italic r:id="rId6"/>
    </p:embeddedFont>
    <p:embeddedFont>
      <p:font typeface="New Hero Medium" panose="02000600000000000000" pitchFamily="50" charset="0"/>
      <p:regular r:id="rId7"/>
      <p:italic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52" d="100"/>
          <a:sy n="152" d="100"/>
        </p:scale>
        <p:origin x="652"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Counting from C2 or the sacrum is how we name a level, and in the room the end we count from is often out of the picture. So the question is narrow: from the bodies we can see, and their measurements alone, can we say which levels they are? Each body gives seven measures a segmentation reads: the widths and depths of its upper and lower end plates, its posterior height, and the canal's width and depth. Everything here is synthetic: 2,000 columns drawn from Panjabi's published morphometry, so the answer is about the anatomy those tables describe, not yet about our patients.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is the oldest rule in probability. Before looking, every level is equally likely, the grey row. Each candidate placement of the bodies predicts what their measurements should be; Bayes' rule weighs the placements by how well they predict what we measured. One body leaves the answer spread over the mid-thoracic spine; three bodies concentrate it on the true level; nine settle it. Nothing is trained, so no other formula or network on these measures can do better on average.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one body in view the rule names 47% of fields exactly; with three, 73%; with nine, 96%. A trained classifier on the same measures reaches 58% from three. More useful at the table: the rule says how sure it is, and it is honest. When it says 99 per cent, it is right 99.8% of the time: 15 wrong of 6,848. When it is not sure, it says so, and we count.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of a name, what can one body say for certain? Two things. Its region, cervical, thoracic or lumbar, for 61% of bodies, wrong 21 times in 26,786. And which side of the cervicothoracic junction it is on: near C7/T1 a single body says so 56% of the time, right 99.84%. The thoracolumbar junction is the hard one: a single body near T12/L1 commits only 7% of the time and is right 97.9%, which is not good enough to act on. Nine bodies say it for 88%.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can this go wrong? Not in the arithmetic: it is exact for the anatomy it assumes. The weak point is the anatomy table itself. Panjabi measured 12 spines; a rule built on a table that small, scored on spines that differ from it, is right 95.5% of the time when it says 99, not 99. Widening its spreads honestly restores 99.3% but it then commits on 5.5% of fields, and lumbar names are right 96.7%. So the next step is a table measured on full-spine CTs, counted from C2, with the anomalous spines in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C5D9C-5792-771F-694B-77CA43049154}"/>
              </a:ext>
            </a:extLst>
          </p:cNvPr>
          <p:cNvSpPr>
            <a:spLocks noGrp="1"/>
          </p:cNvSpPr>
          <p:nvPr>
            <p:ph type="ctrTitle" hasCustomPrompt="1"/>
          </p:nvPr>
        </p:nvSpPr>
        <p:spPr>
          <a:xfrm>
            <a:off x="5185558" y="2192976"/>
            <a:ext cx="5482442" cy="907473"/>
          </a:xfrm>
        </p:spPr>
        <p:txBody>
          <a:bodyPr anchor="b"/>
          <a:lstStyle>
            <a:lvl1pPr algn="l">
              <a:defRPr sz="4800"/>
            </a:lvl1pPr>
          </a:lstStyle>
          <a:p>
            <a:r>
              <a:rPr lang="en-US" dirty="0"/>
              <a:t>Dr. Faculty Name</a:t>
            </a:r>
          </a:p>
        </p:txBody>
      </p:sp>
      <p:sp>
        <p:nvSpPr>
          <p:cNvPr id="3" name="Subtitle 2">
            <a:extLst>
              <a:ext uri="{FF2B5EF4-FFF2-40B4-BE49-F238E27FC236}">
                <a16:creationId xmlns:a16="http://schemas.microsoft.com/office/drawing/2014/main" id="{C2D7A35E-BEBE-B4D0-7E84-2C228CF60F53}"/>
              </a:ext>
            </a:extLst>
          </p:cNvPr>
          <p:cNvSpPr>
            <a:spLocks noGrp="1"/>
          </p:cNvSpPr>
          <p:nvPr>
            <p:ph type="subTitle" idx="1" hasCustomPrompt="1"/>
          </p:nvPr>
        </p:nvSpPr>
        <p:spPr>
          <a:xfrm>
            <a:off x="5185558" y="3249879"/>
            <a:ext cx="5482442" cy="907473"/>
          </a:xfrm>
        </p:spPr>
        <p:txBody>
          <a:bodyPr/>
          <a:lstStyle>
            <a:lvl1pPr marL="0" indent="0" algn="l">
              <a:buNone/>
              <a:defRPr sz="24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Course Name</a:t>
            </a:r>
          </a:p>
        </p:txBody>
      </p:sp>
      <p:grpSp>
        <p:nvGrpSpPr>
          <p:cNvPr id="6" name="Group 5">
            <a:extLst>
              <a:ext uri="{FF2B5EF4-FFF2-40B4-BE49-F238E27FC236}">
                <a16:creationId xmlns:a16="http://schemas.microsoft.com/office/drawing/2014/main" id="{841D854B-C2B2-DDD8-28EF-A21EAB95E16D}"/>
              </a:ext>
            </a:extLst>
          </p:cNvPr>
          <p:cNvGrpSpPr/>
          <p:nvPr userDrawn="1"/>
        </p:nvGrpSpPr>
        <p:grpSpPr>
          <a:xfrm>
            <a:off x="847126" y="1001444"/>
            <a:ext cx="3392365" cy="5404342"/>
            <a:chOff x="1036632" y="919574"/>
            <a:chExt cx="3753081" cy="5723760"/>
          </a:xfrm>
        </p:grpSpPr>
        <p:pic>
          <p:nvPicPr>
            <p:cNvPr id="8" name="Picture 7">
              <a:extLst>
                <a:ext uri="{FF2B5EF4-FFF2-40B4-BE49-F238E27FC236}">
                  <a16:creationId xmlns:a16="http://schemas.microsoft.com/office/drawing/2014/main" id="{61C177E0-77CF-B03F-06FA-088C1D06034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41827" y="2219010"/>
              <a:ext cx="3747886" cy="4424324"/>
            </a:xfrm>
            <a:prstGeom prst="rect">
              <a:avLst/>
            </a:prstGeom>
          </p:spPr>
        </p:pic>
        <p:pic>
          <p:nvPicPr>
            <p:cNvPr id="12" name="Picture 11">
              <a:extLst>
                <a:ext uri="{FF2B5EF4-FFF2-40B4-BE49-F238E27FC236}">
                  <a16:creationId xmlns:a16="http://schemas.microsoft.com/office/drawing/2014/main" id="{0F9E73F2-0D3C-7F75-3484-F28045CEC6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7022" y="919574"/>
              <a:ext cx="3742691" cy="697664"/>
            </a:xfrm>
            <a:prstGeom prst="rect">
              <a:avLst/>
            </a:prstGeom>
          </p:spPr>
        </p:pic>
        <p:sp>
          <p:nvSpPr>
            <p:cNvPr id="5" name="TextBox 4">
              <a:extLst>
                <a:ext uri="{FF2B5EF4-FFF2-40B4-BE49-F238E27FC236}">
                  <a16:creationId xmlns:a16="http://schemas.microsoft.com/office/drawing/2014/main" id="{19F29650-3D6A-FED0-9A7A-6C768EE2C654}"/>
                </a:ext>
              </a:extLst>
            </p:cNvPr>
            <p:cNvSpPr txBox="1"/>
            <p:nvPr userDrawn="1"/>
          </p:nvSpPr>
          <p:spPr>
            <a:xfrm>
              <a:off x="1036632" y="1733458"/>
              <a:ext cx="3753081" cy="391161"/>
            </a:xfrm>
            <a:prstGeom prst="rect">
              <a:avLst/>
            </a:prstGeom>
            <a:noFill/>
          </p:spPr>
          <p:txBody>
            <a:bodyPr wrap="square" rtlCol="0">
              <a:spAutoFit/>
            </a:bodyPr>
            <a:lstStyle/>
            <a:p>
              <a:pPr algn="ctr"/>
              <a:r>
                <a:rPr lang="en-US" sz="1800" dirty="0">
                  <a:solidFill>
                    <a:schemeClr val="accent1"/>
                  </a:solidFill>
                </a:rPr>
                <a:t>Change is the only constant.</a:t>
              </a:r>
            </a:p>
          </p:txBody>
        </p:sp>
      </p:grpSp>
      <p:pic>
        <p:nvPicPr>
          <p:cNvPr id="11" name="Picture 10">
            <a:extLst>
              <a:ext uri="{FF2B5EF4-FFF2-40B4-BE49-F238E27FC236}">
                <a16:creationId xmlns:a16="http://schemas.microsoft.com/office/drawing/2014/main" id="{41E578DB-AFC7-16E4-ECF9-65CEB98447D5}"/>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71068" y="214666"/>
            <a:ext cx="4049865" cy="700055"/>
          </a:xfrm>
          <a:prstGeom prst="rect">
            <a:avLst/>
          </a:prstGeom>
        </p:spPr>
      </p:pic>
      <p:sp>
        <p:nvSpPr>
          <p:cNvPr id="15" name="Text Placeholder 14">
            <a:extLst>
              <a:ext uri="{FF2B5EF4-FFF2-40B4-BE49-F238E27FC236}">
                <a16:creationId xmlns:a16="http://schemas.microsoft.com/office/drawing/2014/main" id="{EF253582-705B-B89C-A200-9E17D2D2C586}"/>
              </a:ext>
            </a:extLst>
          </p:cNvPr>
          <p:cNvSpPr>
            <a:spLocks noGrp="1"/>
          </p:cNvSpPr>
          <p:nvPr>
            <p:ph type="body" sz="quarter" idx="10" hasCustomPrompt="1"/>
          </p:nvPr>
        </p:nvSpPr>
        <p:spPr>
          <a:xfrm>
            <a:off x="5184775" y="4306782"/>
            <a:ext cx="5483225" cy="907473"/>
          </a:xfrm>
        </p:spPr>
        <p:txBody>
          <a:bodyPr>
            <a:normAutofit/>
          </a:bodyPr>
          <a:lstStyle>
            <a:lvl1pPr>
              <a:buNone/>
              <a:defRPr sz="1800" i="1"/>
            </a:lvl1pPr>
          </a:lstStyle>
          <a:p>
            <a:pPr lvl="0"/>
            <a:r>
              <a:rPr lang="en-US" dirty="0"/>
              <a:t>Month Day, 2026</a:t>
            </a:r>
          </a:p>
        </p:txBody>
      </p:sp>
    </p:spTree>
    <p:extLst>
      <p:ext uri="{BB962C8B-B14F-4D97-AF65-F5344CB8AC3E}">
        <p14:creationId xmlns:p14="http://schemas.microsoft.com/office/powerpoint/2010/main" val="711098651"/>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Horizont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838200" y="1825625"/>
            <a:ext cx="10515600" cy="3435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5910242"/>
            <a:ext cx="12192000" cy="947758"/>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A0E8012F-5BD4-739D-BDB0-CC13C8D4C57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911440" y="5968249"/>
            <a:ext cx="4168239" cy="776989"/>
          </a:xfrm>
          <a:prstGeom prst="rect">
            <a:avLst/>
          </a:prstGeom>
        </p:spPr>
      </p:pic>
      <p:pic>
        <p:nvPicPr>
          <p:cNvPr id="12" name="Picture 11">
            <a:extLst>
              <a:ext uri="{FF2B5EF4-FFF2-40B4-BE49-F238E27FC236}">
                <a16:creationId xmlns:a16="http://schemas.microsoft.com/office/drawing/2014/main" id="{412AA35E-FC7F-3AD6-8375-B0AF94E67B9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12323" y="6024721"/>
            <a:ext cx="4168238" cy="720517"/>
          </a:xfrm>
          <a:prstGeom prst="rect">
            <a:avLst/>
          </a:prstGeom>
        </p:spPr>
      </p:pic>
    </p:spTree>
    <p:extLst>
      <p:ext uri="{BB962C8B-B14F-4D97-AF65-F5344CB8AC3E}">
        <p14:creationId xmlns:p14="http://schemas.microsoft.com/office/powerpoint/2010/main" val="24096200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Vertica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6045-3FB1-8F2E-A028-FB95665FB480}"/>
              </a:ext>
            </a:extLst>
          </p:cNvPr>
          <p:cNvSpPr>
            <a:spLocks noGrp="1"/>
          </p:cNvSpPr>
          <p:nvPr>
            <p:ph type="title"/>
          </p:nvPr>
        </p:nvSpPr>
        <p:spPr>
          <a:xfrm>
            <a:off x="2449286" y="365125"/>
            <a:ext cx="8899566"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4888C1D1-BE5D-4237-1020-D5CE775F4FAB}"/>
              </a:ext>
            </a:extLst>
          </p:cNvPr>
          <p:cNvSpPr>
            <a:spLocks noGrp="1"/>
          </p:cNvSpPr>
          <p:nvPr>
            <p:ph idx="1"/>
          </p:nvPr>
        </p:nvSpPr>
        <p:spPr>
          <a:xfrm>
            <a:off x="2449286" y="1825625"/>
            <a:ext cx="8899566" cy="43495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DFC2D3F5-1202-6847-63BD-4AC6A5ECB2C0}"/>
              </a:ext>
            </a:extLst>
          </p:cNvPr>
          <p:cNvSpPr/>
          <p:nvPr userDrawn="1"/>
        </p:nvSpPr>
        <p:spPr>
          <a:xfrm>
            <a:off x="0" y="0"/>
            <a:ext cx="1520042" cy="6858000"/>
          </a:xfrm>
          <a:prstGeom prst="rect">
            <a:avLst/>
          </a:prstGeom>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98FB3A93-668A-1CF3-B918-CD631EB4E2C3}"/>
              </a:ext>
            </a:extLst>
          </p:cNvPr>
          <p:cNvPicPr>
            <a:picLocks noChangeAspect="1"/>
          </p:cNvPicPr>
          <p:nvPr userDrawn="1"/>
        </p:nvPicPr>
        <p:blipFill>
          <a:blip r:embed="rId2">
            <a:extLst>
              <a:ext uri="{28A0092B-C50C-407E-A947-70E740481C1C}">
                <a14:useLocalDpi xmlns:a14="http://schemas.microsoft.com/office/drawing/2010/main" val="0"/>
              </a:ext>
            </a:extLst>
          </a:blip>
          <a:srcRect l="25050" r="25049" b="5581"/>
          <a:stretch>
            <a:fillRect/>
          </a:stretch>
        </p:blipFill>
        <p:spPr>
          <a:xfrm>
            <a:off x="0" y="3462836"/>
            <a:ext cx="1520042" cy="3395164"/>
          </a:xfrm>
          <a:prstGeom prst="rect">
            <a:avLst/>
          </a:prstGeom>
        </p:spPr>
      </p:pic>
      <p:pic>
        <p:nvPicPr>
          <p:cNvPr id="18" name="Picture 17">
            <a:extLst>
              <a:ext uri="{FF2B5EF4-FFF2-40B4-BE49-F238E27FC236}">
                <a16:creationId xmlns:a16="http://schemas.microsoft.com/office/drawing/2014/main" id="{849D4793-B10F-8496-76F9-FE0FE36081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3364" y="2524382"/>
            <a:ext cx="1353312" cy="252268"/>
          </a:xfrm>
          <a:prstGeom prst="rect">
            <a:avLst/>
          </a:prstGeom>
        </p:spPr>
      </p:pic>
      <p:grpSp>
        <p:nvGrpSpPr>
          <p:cNvPr id="25" name="Group 24">
            <a:extLst>
              <a:ext uri="{FF2B5EF4-FFF2-40B4-BE49-F238E27FC236}">
                <a16:creationId xmlns:a16="http://schemas.microsoft.com/office/drawing/2014/main" id="{6D4AEB14-71E3-97E9-160E-A0BBA1A71054}"/>
              </a:ext>
            </a:extLst>
          </p:cNvPr>
          <p:cNvGrpSpPr/>
          <p:nvPr userDrawn="1"/>
        </p:nvGrpSpPr>
        <p:grpSpPr>
          <a:xfrm>
            <a:off x="82887" y="766440"/>
            <a:ext cx="1354267" cy="964978"/>
            <a:chOff x="10782960" y="633046"/>
            <a:chExt cx="1354267" cy="964978"/>
          </a:xfrm>
        </p:grpSpPr>
        <p:pic>
          <p:nvPicPr>
            <p:cNvPr id="19" name="Picture 18">
              <a:extLst>
                <a:ext uri="{FF2B5EF4-FFF2-40B4-BE49-F238E27FC236}">
                  <a16:creationId xmlns:a16="http://schemas.microsoft.com/office/drawing/2014/main" id="{FFCFB381-6494-A153-C972-3B18E1B8A555}"/>
                </a:ext>
              </a:extLst>
            </p:cNvPr>
            <p:cNvPicPr>
              <a:picLocks noChangeAspect="1"/>
            </p:cNvPicPr>
            <p:nvPr userDrawn="1"/>
          </p:nvPicPr>
          <p:blipFill>
            <a:blip r:embed="rId4">
              <a:extLst>
                <a:ext uri="{28A0092B-C50C-407E-A947-70E740481C1C}">
                  <a14:useLocalDpi xmlns:a14="http://schemas.microsoft.com/office/drawing/2010/main" val="0"/>
                </a:ext>
              </a:extLst>
            </a:blip>
            <a:srcRect r="61498"/>
            <a:stretch>
              <a:fillRect/>
            </a:stretch>
          </p:blipFill>
          <p:spPr>
            <a:xfrm>
              <a:off x="10784059" y="633046"/>
              <a:ext cx="1352069" cy="422367"/>
            </a:xfrm>
            <a:prstGeom prst="rect">
              <a:avLst/>
            </a:prstGeom>
          </p:spPr>
        </p:pic>
        <p:pic>
          <p:nvPicPr>
            <p:cNvPr id="20" name="Picture 19">
              <a:extLst>
                <a:ext uri="{FF2B5EF4-FFF2-40B4-BE49-F238E27FC236}">
                  <a16:creationId xmlns:a16="http://schemas.microsoft.com/office/drawing/2014/main" id="{1B64C24C-DAD1-0F23-28F8-6F5C083DA340}"/>
                </a:ext>
              </a:extLst>
            </p:cNvPr>
            <p:cNvPicPr>
              <a:picLocks noChangeAspect="1"/>
            </p:cNvPicPr>
            <p:nvPr userDrawn="1"/>
          </p:nvPicPr>
          <p:blipFill>
            <a:blip r:embed="rId5">
              <a:extLst>
                <a:ext uri="{28A0092B-C50C-407E-A947-70E740481C1C}">
                  <a14:useLocalDpi xmlns:a14="http://schemas.microsoft.com/office/drawing/2010/main" val="0"/>
                </a:ext>
              </a:extLst>
            </a:blip>
            <a:srcRect l="48564"/>
            <a:stretch>
              <a:fillRect/>
            </a:stretch>
          </p:blipFill>
          <p:spPr>
            <a:xfrm>
              <a:off x="10782960" y="1281349"/>
              <a:ext cx="1354267" cy="316675"/>
            </a:xfrm>
            <a:prstGeom prst="rect">
              <a:avLst/>
            </a:prstGeom>
          </p:spPr>
        </p:pic>
        <p:cxnSp>
          <p:nvCxnSpPr>
            <p:cNvPr id="22" name="Straight Connector 21">
              <a:extLst>
                <a:ext uri="{FF2B5EF4-FFF2-40B4-BE49-F238E27FC236}">
                  <a16:creationId xmlns:a16="http://schemas.microsoft.com/office/drawing/2014/main" id="{A253C4AD-7231-2FE0-A5D7-FAF0BDD46E7C}"/>
                </a:ext>
              </a:extLst>
            </p:cNvPr>
            <p:cNvCxnSpPr>
              <a:cxnSpLocks/>
            </p:cNvCxnSpPr>
            <p:nvPr userDrawn="1"/>
          </p:nvCxnSpPr>
          <p:spPr>
            <a:xfrm>
              <a:off x="10783437" y="1157717"/>
              <a:ext cx="1353312" cy="0"/>
            </a:xfrm>
            <a:prstGeom prst="line">
              <a:avLst/>
            </a:prstGeom>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022265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A36C3F-FC84-C2F8-4A3E-63120A1D4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CF108BF-53B4-57C0-F90D-24E0BD5706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665912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Can the bodies in view name a vertebra?</a:t>
            </a:r>
          </a:p>
        </p:txBody>
      </p:sp>
      <p:pic>
        <p:nvPicPr>
          <p:cNvPr id="3" name="Figure: exact_slide_view" descr="A field of view: three consecutive vertebral bodies seen, the rest of the column unseen, and no C2 or sacrum to count from. Bodies drawn to Panjabi's mean upper end-plate width, canal width hatched, C3 to L5, the tables' range."/>
          <p:cNvPicPr>
            <a:picLocks noChangeAspect="1"/>
          </p:cNvPicPr>
          <p:nvPr/>
        </p:nvPicPr>
        <p:blipFill>
          <a:blip r:embed="rId2"/>
          <a:stretch>
            <a:fillRect/>
          </a:stretch>
        </p:blipFill>
        <p:spPr>
          <a:xfrm>
            <a:off x="1750161" y="1325880"/>
            <a:ext cx="1924536" cy="4434800"/>
          </a:xfrm>
          <a:prstGeom prst="rect">
            <a:avLst/>
          </a:prstGeom>
        </p:spPr>
      </p:pic>
      <p:pic>
        <p:nvPicPr>
          <p:cNvPr id="4" name="Figure: exact_slide_measures" descr="The seven measures each body gives, schematic and not to scale: the AP plane shows the upper and lower end-plate widths and the canal width, the lateral plane the two end-plate depths, the canal depth and the posterior body height, which both planes show."/>
          <p:cNvPicPr>
            <a:picLocks noChangeAspect="1"/>
          </p:cNvPicPr>
          <p:nvPr/>
        </p:nvPicPr>
        <p:blipFill>
          <a:blip r:embed="rId3"/>
          <a:stretch>
            <a:fillRect/>
          </a:stretch>
        </p:blipFill>
        <p:spPr>
          <a:xfrm>
            <a:off x="3758373" y="1417320"/>
            <a:ext cx="3179669" cy="4267450"/>
          </a:xfrm>
          <a:prstGeom prst="rect">
            <a:avLst/>
          </a:prstGeom>
        </p:spPr>
      </p:pic>
      <p:sp>
        <p:nvSpPr>
          <p:cNvPr id="5" name="Text: byline"/>
          <p:cNvSpPr txBox="1"/>
          <p:nvPr/>
        </p:nvSpPr>
        <p:spPr>
          <a:xfrm>
            <a:off x="7147232" y="1325880"/>
            <a:ext cx="4752769" cy="566928"/>
          </a:xfrm>
          <a:prstGeom prst="rect">
            <a:avLst/>
          </a:prstGeom>
          <a:noFill/>
        </p:spPr>
        <p:txBody>
          <a:bodyPr wrap="square" anchor="t" lIns="18288" rIns="18288" tIns="18288" bIns="18288">
            <a:spAutoFit/>
          </a:bodyPr>
          <a:lstStyle/>
          <a:p>
            <a:pPr algn="l">
              <a:spcAft>
                <a:spcPts val="0"/>
              </a:spcAft>
            </a:pPr>
            <a:r>
              <a:rPr sz="1200" b="1" i="0">
                <a:solidFill>
                  <a:srgbClr val="595959"/>
                </a:solidFill>
                <a:latin typeface="Cambria"/>
              </a:rPr>
              <a:t>Gregory Schwing, MD, PhD</a:t>
            </a:r>
          </a:p>
          <a:p>
            <a:pPr algn="l">
              <a:spcAft>
                <a:spcPts val="0"/>
              </a:spcAft>
            </a:pPr>
            <a:r>
              <a:rPr sz="1200" b="0" i="0">
                <a:solidFill>
                  <a:srgbClr val="595959"/>
                </a:solidFill>
                <a:latin typeface="Cambria"/>
              </a:rPr>
              <a:t>General Surgery, Wayne State University School of Medicine / Detroit Medical Center</a:t>
            </a:r>
          </a:p>
        </p:txBody>
      </p:sp>
      <p:sp>
        <p:nvSpPr>
          <p:cNvPr id="6" name="Text: question"/>
          <p:cNvSpPr txBox="1"/>
          <p:nvPr/>
        </p:nvSpPr>
        <p:spPr>
          <a:xfrm>
            <a:off x="7147232" y="2148840"/>
            <a:ext cx="4752769" cy="1097280"/>
          </a:xfrm>
          <a:prstGeom prst="rect">
            <a:avLst/>
          </a:prstGeom>
          <a:noFill/>
        </p:spPr>
        <p:txBody>
          <a:bodyPr wrap="square" anchor="t" lIns="18288" rIns="18288" tIns="18288" bIns="18288">
            <a:spAutoFit/>
          </a:bodyPr>
          <a:lstStyle/>
          <a:p>
            <a:pPr algn="l">
              <a:spcAft>
                <a:spcPts val="600"/>
              </a:spcAft>
            </a:pPr>
            <a:r>
              <a:rPr sz="2000" b="0" i="0">
                <a:solidFill>
                  <a:srgbClr val="111111"/>
                </a:solidFill>
                <a:latin typeface="Cambria"/>
              </a:rPr>
              <a:t>A view shows a few consecutive vertebral bodies, often with no C2 or sacrum to count from. Which levels are they?</a:t>
            </a:r>
          </a:p>
        </p:txBody>
      </p:sp>
      <mc:AlternateContent xmlns:mc="http://schemas.openxmlformats.org/markup-compatibility/2006">
        <mc:Choice xmlns:a14="http://schemas.microsoft.com/office/drawing/2010/main" Requires="a14">
          <p:sp>
            <p:nvSpPr>
              <p:cNvPr id="7" name="Equation: problem" descr="LaTeX: x_{1:n} = (x_1, \ldots, x_n),\quad x_i \in \mathbb{R}^{7},\qquad k \in \{1, \ldots, 23-n\}"/>
              <p:cNvSpPr txBox="1"/>
              <p:nvPr/>
            </p:nvSpPr>
            <p:spPr>
              <a:xfrm>
                <a:off x="7147232" y="3429000"/>
                <a:ext cx="4752769" cy="298125"/>
              </a:xfrm>
              <a:prstGeom prst="rect">
                <a:avLst/>
              </a:prstGeom>
              <a:noFill/>
            </p:spPr>
            <p:txBody>
              <a:bodyPr wrap="none" lIns="0" tIns="0" rIns="0" bIns="0" anchor="ctr">
                <a:noAutofit/>
              </a:bodyPr>
              <a:lstStyle/>
              <a:p>
                <a:pPr algn="l"/>
                <a14:m>
                  <m:oMathPara xmlns:m="http://schemas.openxmlformats.org/officeDocument/2006/math">
                    <m:oMathParaPr>
                      <m:jc m:val="left"/>
                    </m:oMathParaPr>
                    <m:oMath>
                      <m:sSub>
                        <m:e>
                          <m:r>
                            <a:rPr lang="en-US" i="1" sz="1617">
                              <a:solidFill>
                                <a:srgbClr val="111111"/>
                              </a:solidFill>
                              <a:latin typeface="Cambria Math"/>
                              <a:cs typeface="Cambria Math"/>
                            </a:rPr>
                            <m:t>x</m:t>
                          </m:r>
                        </m:e>
                        <m:sub>
                          <m:r>
                            <a:rPr lang="en-US" i="1" sz="1617">
                              <a:solidFill>
                                <a:srgbClr val="111111"/>
                              </a:solidFill>
                              <a:latin typeface="Cambria Math"/>
                              <a:cs typeface="Cambria Math"/>
                            </a:rPr>
                            <m:t>1</m:t>
                          </m:r>
                          <m:r>
                            <m:rPr>
                              <m:sty m:val="p"/>
                            </m:rPr>
                            <a:rPr lang="en-US" i="1" sz="1617">
                              <a:solidFill>
                                <a:srgbClr val="111111"/>
                              </a:solidFill>
                              <a:latin typeface="Cambria Math"/>
                              <a:cs typeface="Cambria Math"/>
                            </a:rPr>
                            <m:t>:</m:t>
                          </m:r>
                          <m:r>
                            <a:rPr lang="en-US" i="1" sz="1617">
                              <a:solidFill>
                                <a:srgbClr val="111111"/>
                              </a:solidFill>
                              <a:latin typeface="Cambria Math"/>
                              <a:cs typeface="Cambria Math"/>
                            </a:rPr>
                            <m:t>n</m:t>
                          </m:r>
                        </m:sub>
                      </m:sSub>
                      <m:r>
                        <m:rPr>
                          <m:sty m:val="p"/>
                        </m:rPr>
                        <a:rPr lang="en-US" i="1" sz="1617">
                          <a:solidFill>
                            <a:srgbClr val="111111"/>
                          </a:solidFill>
                          <a:latin typeface="Cambria Math"/>
                          <a:cs typeface="Cambria Math"/>
                        </a:rPr>
                        <m:t>=</m:t>
                      </m:r>
                      <m:d>
                        <m:dPr>
                          <m:begChr m:val="("/>
                          <m:endChr m:val=")"/>
                          <m:sepChr m:val=""/>
                          <m:grow/>
                        </m:dPr>
                        <m:e>
                          <m:sSub>
                            <m:e>
                              <m:r>
                                <a:rPr lang="en-US" i="1" sz="1617">
                                  <a:solidFill>
                                    <a:srgbClr val="111111"/>
                                  </a:solidFill>
                                  <a:latin typeface="Cambria Math"/>
                                  <a:cs typeface="Cambria Math"/>
                                </a:rPr>
                                <m:t>x</m:t>
                              </m:r>
                            </m:e>
                            <m:sub>
                              <m:r>
                                <a:rPr lang="en-US" i="1" sz="1617">
                                  <a:solidFill>
                                    <a:srgbClr val="111111"/>
                                  </a:solidFill>
                                  <a:latin typeface="Cambria Math"/>
                                  <a:cs typeface="Cambria Math"/>
                                </a:rPr>
                                <m:t>1</m:t>
                              </m:r>
                            </m:sub>
                          </m:sSub>
                          <m:r>
                            <m:rPr>
                              <m:sty m:val="p"/>
                            </m:rPr>
                            <a:rPr lang="en-US" i="1" sz="1617">
                              <a:solidFill>
                                <a:srgbClr val="111111"/>
                              </a:solidFill>
                              <a:latin typeface="Cambria Math"/>
                              <a:cs typeface="Cambria Math"/>
                            </a:rPr>
                            <m:t>,</m:t>
                          </m:r>
                          <m:r>
                            <m:rPr>
                              <m:sty m:val="p"/>
                            </m:rPr>
                            <a:rPr lang="en-US" i="1" sz="1617">
                              <a:solidFill>
                                <a:srgbClr val="111111"/>
                              </a:solidFill>
                              <a:latin typeface="Cambria Math"/>
                              <a:cs typeface="Cambria Math"/>
                            </a:rPr>
                            <m:t>…</m:t>
                          </m:r>
                          <m:r>
                            <m:rPr>
                              <m:sty m:val="p"/>
                            </m:rPr>
                            <a:rPr lang="en-US" i="1" sz="1617">
                              <a:solidFill>
                                <a:srgbClr val="111111"/>
                              </a:solidFill>
                              <a:latin typeface="Cambria Math"/>
                              <a:cs typeface="Cambria Math"/>
                            </a:rPr>
                            <m:t>,</m:t>
                          </m:r>
                          <m:sSub>
                            <m:e>
                              <m:r>
                                <a:rPr lang="en-US" i="1" sz="1617">
                                  <a:solidFill>
                                    <a:srgbClr val="111111"/>
                                  </a:solidFill>
                                  <a:latin typeface="Cambria Math"/>
                                  <a:cs typeface="Cambria Math"/>
                                </a:rPr>
                                <m:t>x</m:t>
                              </m:r>
                            </m:e>
                            <m:sub>
                              <m:r>
                                <a:rPr lang="en-US" i="1" sz="1617">
                                  <a:solidFill>
                                    <a:srgbClr val="111111"/>
                                  </a:solidFill>
                                  <a:latin typeface="Cambria Math"/>
                                  <a:cs typeface="Cambria Math"/>
                                </a:rPr>
                                <m:t>n</m:t>
                              </m:r>
                            </m:sub>
                          </m:sSub>
                        </m:e>
                      </m:d>
                      <m:r>
                        <m:rPr>
                          <m:sty m:val="p"/>
                        </m:rPr>
                        <a:rPr lang="en-US" i="1" sz="1617">
                          <a:solidFill>
                            <a:srgbClr val="111111"/>
                          </a:solidFill>
                          <a:latin typeface="Cambria Math"/>
                          <a:cs typeface="Cambria Math"/>
                        </a:rPr>
                        <m:t>,</m:t>
                      </m:r>
                      <m:r>
                        <a:rPr lang="en-US" i="1" sz="1617">
                          <a:solidFill>
                            <a:srgbClr val="111111"/>
                          </a:solidFill>
                          <a:latin typeface="Cambria Math"/>
                          <a:cs typeface="Cambria Math"/>
                        </a:rPr>
                        <m:t> </m:t>
                      </m:r>
                      <m:sSub>
                        <m:e>
                          <m:r>
                            <a:rPr lang="en-US" i="1" sz="1617">
                              <a:solidFill>
                                <a:srgbClr val="111111"/>
                              </a:solidFill>
                              <a:latin typeface="Cambria Math"/>
                              <a:cs typeface="Cambria Math"/>
                            </a:rPr>
                            <m:t>x</m:t>
                          </m:r>
                        </m:e>
                        <m:sub>
                          <m:r>
                            <a:rPr lang="en-US" i="1" sz="1617">
                              <a:solidFill>
                                <a:srgbClr val="111111"/>
                              </a:solidFill>
                              <a:latin typeface="Cambria Math"/>
                              <a:cs typeface="Cambria Math"/>
                            </a:rPr>
                            <m:t>i</m:t>
                          </m:r>
                        </m:sub>
                      </m:sSub>
                      <m:r>
                        <m:rPr>
                          <m:sty m:val="p"/>
                        </m:rPr>
                        <a:rPr lang="en-US" i="1" sz="1617">
                          <a:solidFill>
                            <a:srgbClr val="111111"/>
                          </a:solidFill>
                          <a:latin typeface="Cambria Math"/>
                          <a:cs typeface="Cambria Math"/>
                        </a:rPr>
                        <m:t>∈</m:t>
                      </m:r>
                      <m:sSup>
                        <m:e>
                          <m:r>
                            <m:rPr>
                              <m:sty m:val="p"/>
                              <m:scr m:val="double-struck"/>
                            </m:rPr>
                            <a:rPr lang="en-US" i="1" sz="1617">
                              <a:solidFill>
                                <a:srgbClr val="111111"/>
                              </a:solidFill>
                              <a:latin typeface="Cambria Math"/>
                              <a:cs typeface="Cambria Math"/>
                            </a:rPr>
                            <m:t>R</m:t>
                          </m:r>
                        </m:e>
                        <m:sup>
                          <m:r>
                            <a:rPr lang="en-US" i="1" sz="1617">
                              <a:solidFill>
                                <a:srgbClr val="111111"/>
                              </a:solidFill>
                              <a:latin typeface="Cambria Math"/>
                              <a:cs typeface="Cambria Math"/>
                            </a:rPr>
                            <m:t>7</m:t>
                          </m:r>
                        </m:sup>
                      </m:sSup>
                      <m:r>
                        <m:rPr>
                          <m:sty m:val="p"/>
                        </m:rPr>
                        <a:rPr lang="en-US" i="1" sz="1617">
                          <a:solidFill>
                            <a:srgbClr val="111111"/>
                          </a:solidFill>
                          <a:latin typeface="Cambria Math"/>
                          <a:cs typeface="Cambria Math"/>
                        </a:rPr>
                        <m:t>,</m:t>
                      </m:r>
                      <m:r>
                        <a:rPr lang="en-US" i="1" sz="1617">
                          <a:solidFill>
                            <a:srgbClr val="111111"/>
                          </a:solidFill>
                          <a:latin typeface="Cambria Math"/>
                          <a:cs typeface="Cambria Math"/>
                        </a:rPr>
                        <m:t>  </m:t>
                      </m:r>
                      <m:r>
                        <a:rPr lang="en-US" i="1" sz="1617">
                          <a:solidFill>
                            <a:srgbClr val="111111"/>
                          </a:solidFill>
                          <a:latin typeface="Cambria Math"/>
                          <a:cs typeface="Cambria Math"/>
                        </a:rPr>
                        <m:t>k</m:t>
                      </m:r>
                      <m:r>
                        <m:rPr>
                          <m:sty m:val="p"/>
                        </m:rPr>
                        <a:rPr lang="en-US" i="1" sz="1617">
                          <a:solidFill>
                            <a:srgbClr val="111111"/>
                          </a:solidFill>
                          <a:latin typeface="Cambria Math"/>
                          <a:cs typeface="Cambria Math"/>
                        </a:rPr>
                        <m:t>∈</m:t>
                      </m:r>
                      <m:r>
                        <m:rPr>
                          <m:sty m:val="p"/>
                        </m:rPr>
                        <a:rPr lang="en-US" i="1" sz="1617">
                          <a:solidFill>
                            <a:srgbClr val="111111"/>
                          </a:solidFill>
                          <a:latin typeface="Cambria Math"/>
                          <a:cs typeface="Cambria Math"/>
                        </a:rPr>
                        <m:t>{</m:t>
                      </m:r>
                      <m:r>
                        <a:rPr lang="en-US" i="1" sz="1617">
                          <a:solidFill>
                            <a:srgbClr val="111111"/>
                          </a:solidFill>
                          <a:latin typeface="Cambria Math"/>
                          <a:cs typeface="Cambria Math"/>
                        </a:rPr>
                        <m:t>1</m:t>
                      </m:r>
                      <m:r>
                        <m:rPr>
                          <m:sty m:val="p"/>
                        </m:rPr>
                        <a:rPr lang="en-US" i="1" sz="1617">
                          <a:solidFill>
                            <a:srgbClr val="111111"/>
                          </a:solidFill>
                          <a:latin typeface="Cambria Math"/>
                          <a:cs typeface="Cambria Math"/>
                        </a:rPr>
                        <m:t>,</m:t>
                      </m:r>
                      <m:r>
                        <m:rPr>
                          <m:sty m:val="p"/>
                        </m:rPr>
                        <a:rPr lang="en-US" i="1" sz="1617">
                          <a:solidFill>
                            <a:srgbClr val="111111"/>
                          </a:solidFill>
                          <a:latin typeface="Cambria Math"/>
                          <a:cs typeface="Cambria Math"/>
                        </a:rPr>
                        <m:t>…</m:t>
                      </m:r>
                      <m:r>
                        <m:rPr>
                          <m:sty m:val="p"/>
                        </m:rPr>
                        <a:rPr lang="en-US" i="1" sz="1617">
                          <a:solidFill>
                            <a:srgbClr val="111111"/>
                          </a:solidFill>
                          <a:latin typeface="Cambria Math"/>
                          <a:cs typeface="Cambria Math"/>
                        </a:rPr>
                        <m:t>,</m:t>
                      </m:r>
                      <m:r>
                        <a:rPr lang="en-US" i="1" sz="1617">
                          <a:solidFill>
                            <a:srgbClr val="111111"/>
                          </a:solidFill>
                          <a:latin typeface="Cambria Math"/>
                          <a:cs typeface="Cambria Math"/>
                        </a:rPr>
                        <m:t>23</m:t>
                      </m:r>
                      <m:r>
                        <m:rPr>
                          <m:sty m:val="p"/>
                        </m:rPr>
                        <a:rPr lang="en-US" i="1" sz="1617">
                          <a:solidFill>
                            <a:srgbClr val="111111"/>
                          </a:solidFill>
                          <a:latin typeface="Cambria Math"/>
                          <a:cs typeface="Cambria Math"/>
                        </a:rPr>
                        <m:t>−</m:t>
                      </m:r>
                      <m:r>
                        <a:rPr lang="en-US" i="1" sz="1617">
                          <a:solidFill>
                            <a:srgbClr val="111111"/>
                          </a:solidFill>
                          <a:latin typeface="Cambria Math"/>
                          <a:cs typeface="Cambria Math"/>
                        </a:rPr>
                        <m:t>n</m:t>
                      </m:r>
                      <m:r>
                        <m:rPr>
                          <m:sty m:val="p"/>
                        </m:rPr>
                        <a:rPr lang="en-US" i="1" sz="1617">
                          <a:solidFill>
                            <a:srgbClr val="111111"/>
                          </a:solidFill>
                          <a:latin typeface="Cambria Math"/>
                          <a:cs typeface="Cambria Math"/>
                        </a:rPr>
                        <m:t>}</m:t>
                      </m:r>
                    </m:oMath>
                  </m:oMathPara>
                </a14:m>
                <a:endParaRPr lang="en-US" sz="1617"/>
              </a:p>
            </p:txBody>
          </p:sp>
        </mc:Choice>
        <mc:Fallback>
          <p:sp>
            <p:nvSpPr>
              <p:cNvPr id="7" name="Equation: problem" descr="LaTeX: x_{1:n} = (x_1, \ldots, x_n),\quad x_i \in \mathbb{R}^{7},\qquad k \in \{1, \ldots, 23-n\}"/>
              <p:cNvSpPr txBox="1">
                <a:spLocks noRot="1" noChangeAspect="1" noMove="1" noResize="1" noEditPoints="1" noAdjustHandles="1" noChangeArrowheads="1" noChangeShapeType="1" noTextEdit="1"/>
              </p:cNvSpPr>
              <p:nvPr/>
            </p:nvSpPr>
            <p:spPr>
              <a:xfrm>
                <a:off x="7147232" y="3429000"/>
                <a:ext cx="4752769" cy="298125"/>
              </a:xfrm>
              <a:prstGeom prst="rect">
                <a:avLst/>
              </a:prstGeom>
              <a:blipFill>
                <a:blip r:embed="rId4"/>
                <a:stretch>
                  <a:fillRect/>
                </a:stretch>
              </a:blipFill>
            </p:spPr>
            <p:txBody>
              <a:bodyPr/>
              <a:lstStyle/>
              <a:p>
                <a:r>
                  <a:rPr lang="en-US">
                    <a:noFill/>
                  </a:rPr>
                  <a:t> </a:t>
                </a:r>
              </a:p>
            </p:txBody>
          </p:sp>
        </mc:Fallback>
      </mc:AlternateContent>
      <p:sp>
        <p:nvSpPr>
          <p:cNvPr id="8" name="Text: unknown"/>
          <p:cNvSpPr txBox="1"/>
          <p:nvPr/>
        </p:nvSpPr>
        <p:spPr>
          <a:xfrm>
            <a:off x="7147232" y="3977639"/>
            <a:ext cx="4752769" cy="914400"/>
          </a:xfrm>
          <a:prstGeom prst="rect">
            <a:avLst/>
          </a:prstGeom>
          <a:noFill/>
        </p:spPr>
        <p:txBody>
          <a:bodyPr wrap="square" anchor="t" lIns="18288" rIns="18288" tIns="18288" bIns="18288">
            <a:spAutoFit/>
          </a:bodyPr>
          <a:lstStyle/>
          <a:p>
            <a:pPr algn="l">
              <a:spcAft>
                <a:spcPts val="600"/>
              </a:spcAft>
            </a:pPr>
            <a:r>
              <a:rPr sz="1600" b="0" i="0">
                <a:solidFill>
                  <a:srgbClr val="111111"/>
                </a:solidFill>
                <a:latin typeface="Cambria"/>
              </a:rPr>
              <a:t>Seven measures per body. The view's place </a:t>
            </a:r>
            <a:r>
              <a:rPr sz="1600" b="0" i="1">
                <a:solidFill>
                  <a:srgbClr val="111111"/>
                </a:solidFill>
                <a:latin typeface="Cambria"/>
              </a:rPr>
              <a:t>k</a:t>
            </a:r>
            <a:r>
              <a:rPr sz="1600" b="0" i="0">
                <a:solidFill>
                  <a:srgbClr val="111111"/>
                </a:solidFill>
                <a:latin typeface="Cambria"/>
              </a:rPr>
              <a:t> among the 22 levels from C3 to L5 names every body in it.</a:t>
            </a:r>
          </a:p>
        </p:txBody>
      </p:sp>
      <p:sp>
        <p:nvSpPr>
          <p:cNvPr id="9" name="Text: data"/>
          <p:cNvSpPr txBox="1"/>
          <p:nvPr/>
        </p:nvSpPr>
        <p:spPr>
          <a:xfrm>
            <a:off x="7147232" y="4983480"/>
            <a:ext cx="4752769" cy="1097280"/>
          </a:xfrm>
          <a:prstGeom prst="rect">
            <a:avLst/>
          </a:prstGeom>
          <a:noFill/>
        </p:spPr>
        <p:txBody>
          <a:bodyPr wrap="square" anchor="t" lIns="18288" rIns="18288" tIns="18288" bIns="18288">
            <a:spAutoFit/>
          </a:bodyPr>
          <a:lstStyle/>
          <a:p>
            <a:pPr algn="l">
              <a:spcAft>
                <a:spcPts val="600"/>
              </a:spcAft>
            </a:pPr>
            <a:r>
              <a:rPr sz="1400" b="0" i="0">
                <a:solidFill>
                  <a:srgbClr val="595959"/>
                </a:solidFill>
                <a:latin typeface="Cambria"/>
              </a:rPr>
              <a:t>2,000 synthetic columns drawn from Panjabi's published means and spreads; every place of every column scored, so each rate below is over tens of thousands of fields.</a:t>
            </a:r>
          </a:p>
        </p:txBody>
      </p:sp>
      <p:sp>
        <p:nvSpPr>
          <p:cNvPr id="10" name="Text: citation"/>
          <p:cNvSpPr txBox="1"/>
          <p:nvPr/>
        </p:nvSpPr>
        <p:spPr>
          <a:xfrm>
            <a:off x="1750161" y="6327648"/>
            <a:ext cx="8869604"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11" name="Text: slide number"/>
          <p:cNvSpPr txBox="1"/>
          <p:nvPr/>
        </p:nvSpPr>
        <p:spPr>
          <a:xfrm>
            <a:off x="11063246" y="6327648"/>
            <a:ext cx="836755"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1 /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Bayes' rule over every place is the ceiling</a:t>
            </a:r>
          </a:p>
        </p:txBody>
      </p:sp>
      <mc:AlternateContent xmlns:mc="http://schemas.openxmlformats.org/markup-compatibility/2006">
        <mc:Choice xmlns:a14="http://schemas.microsoft.com/office/drawing/2010/main" Requires="a14">
          <p:sp>
            <p:nvSpPr>
              <p:cNvPr id="3" name="Equation: bayes" descr="LaTeX: p(k \mid x_{1:n}) = \dfrac{p(x_{1:n} \mid k)\, p(k)}{\sum_{k'=1}^{23-n} p(x_{1:n} \mid k')\, p(k')}"/>
              <p:cNvSpPr txBox="1"/>
              <p:nvPr/>
            </p:nvSpPr>
            <p:spPr>
              <a:xfrm>
                <a:off x="1750161" y="1371600"/>
                <a:ext cx="4547616" cy="1356360"/>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b>
                          </m:sSub>
                        </m:e>
                      </m:d>
                      <m:r>
                        <m:rPr>
                          <m:sty m:val="p"/>
                        </m:rPr>
                        <a:rPr lang="en-US" i="1" sz="2400">
                          <a:solidFill>
                            <a:srgbClr val="111111"/>
                          </a:solidFill>
                          <a:latin typeface="Cambria Math"/>
                          <a:cs typeface="Cambria Math"/>
                        </a:rPr>
                        <m:t>=</m:t>
                      </m:r>
                      <m:f>
                        <m:fPr>
                          <m:type m:val="bar"/>
                        </m:fPr>
                        <m:num>
                          <m:r>
                            <a:rPr lang="en-US" i="1" sz="2400">
                              <a:solidFill>
                                <a:srgbClr val="111111"/>
                              </a:solidFill>
                              <a:latin typeface="Cambria Math"/>
                              <a:cs typeface="Cambria Math"/>
                            </a:rPr>
                            <m:t>p</m:t>
                          </m:r>
                          <m:d>
                            <m:dPr>
                              <m:begChr m:val="("/>
                              <m:endChr m:val=")"/>
                              <m:sepChr m:val=""/>
                              <m:grow/>
                            </m:dPr>
                            <m:e>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b>
                              </m:sSub>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k</m:t>
                              </m:r>
                            </m:e>
                          </m:d>
                          <m:r>
                            <a:rPr lang="en-US" i="1" sz="2400">
                              <a:solidFill>
                                <a:srgbClr val="111111"/>
                              </a:solidFill>
                              <a:latin typeface="Cambria Math"/>
                              <a:cs typeface="Cambria Math"/>
                            </a:rPr>
                            <m:t> </m:t>
                          </m:r>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e>
                          </m:d>
                        </m:num>
                        <m:den>
                          <m:nary>
                            <m:naryPr>
                              <m:chr m:val="∑"/>
                              <m:limLoc m:val="undOvr"/>
                              <m:subHide m:val="off"/>
                              <m:supHide m:val="off"/>
                            </m:naryPr>
                            <m:sub>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1</m:t>
                              </m:r>
                            </m:sub>
                            <m:sup>
                              <m:r>
                                <a:rPr lang="en-US" i="1" sz="2400">
                                  <a:solidFill>
                                    <a:srgbClr val="111111"/>
                                  </a:solidFill>
                                  <a:latin typeface="Cambria Math"/>
                                  <a:cs typeface="Cambria Math"/>
                                </a:rPr>
                                <m:t>23</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p>
                            <m:e>
                              <m:r>
                                <a:rPr lang="en-US" i="1" sz="2400">
                                  <a:solidFill>
                                    <a:srgbClr val="111111"/>
                                  </a:solidFill>
                                  <a:latin typeface="Cambria Math"/>
                                  <a:cs typeface="Cambria Math"/>
                                </a:rPr>
                                <m:t>p</m:t>
                              </m:r>
                            </m:e>
                          </m:nary>
                          <m:d>
                            <m:dPr>
                              <m:begChr m:val="("/>
                              <m:endChr m:val=")"/>
                              <m:sepChr m:val=""/>
                              <m:grow/>
                            </m:dPr>
                            <m:e>
                              <m:sSub>
                                <m:e>
                                  <m:r>
                                    <a:rPr lang="en-US" i="1" sz="2400">
                                      <a:solidFill>
                                        <a:srgbClr val="111111"/>
                                      </a:solidFill>
                                      <a:latin typeface="Cambria Math"/>
                                      <a:cs typeface="Cambria Math"/>
                                    </a:rPr>
                                    <m:t>x</m:t>
                                  </m:r>
                                </m:e>
                                <m:sub>
                                  <m:r>
                                    <a:rPr lang="en-US" i="1" sz="2400">
                                      <a:solidFill>
                                        <a:srgbClr val="111111"/>
                                      </a:solidFill>
                                      <a:latin typeface="Cambria Math"/>
                                      <a:cs typeface="Cambria Math"/>
                                    </a:rPr>
                                    <m:t>1</m:t>
                                  </m:r>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n</m:t>
                                  </m:r>
                                </m:sub>
                              </m:sSub>
                              <m:r>
                                <m:rPr>
                                  <m:sty m:val="p"/>
                                </m:rPr>
                                <a:rPr lang="en-US" i="1" sz="2400">
                                  <a:solidFill>
                                    <a:srgbClr val="111111"/>
                                  </a:solidFill>
                                  <a:latin typeface="Cambria Math"/>
                                  <a:cs typeface="Cambria Math"/>
                                </a:rPr>
                                <m:t>∣</m:t>
                              </m:r>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e>
                          </m:d>
                          <m:r>
                            <a:rPr lang="en-US" i="1" sz="2400">
                              <a:solidFill>
                                <a:srgbClr val="111111"/>
                              </a:solidFill>
                              <a:latin typeface="Cambria Math"/>
                              <a:cs typeface="Cambria Math"/>
                            </a:rPr>
                            <m:t> </m:t>
                          </m:r>
                          <m:r>
                            <a:rPr lang="en-US" i="1" sz="2400">
                              <a:solidFill>
                                <a:srgbClr val="111111"/>
                              </a:solidFill>
                              <a:latin typeface="Cambria Math"/>
                              <a:cs typeface="Cambria Math"/>
                            </a:rPr>
                            <m:t>p</m:t>
                          </m:r>
                          <m:d>
                            <m:dPr>
                              <m:begChr m:val="("/>
                              <m:endChr m:val=")"/>
                              <m:sepChr m:val=""/>
                              <m:grow/>
                            </m:dPr>
                            <m:e>
                              <m:r>
                                <a:rPr lang="en-US" i="1" sz="2400">
                                  <a:solidFill>
                                    <a:srgbClr val="111111"/>
                                  </a:solidFill>
                                  <a:latin typeface="Cambria Math"/>
                                  <a:cs typeface="Cambria Math"/>
                                </a:rPr>
                                <m:t>k</m:t>
                              </m:r>
                              <m:r>
                                <m:rPr>
                                  <m:sty m:val="p"/>
                                </m:rPr>
                                <a:rPr lang="en-US" i="1" sz="2400">
                                  <a:solidFill>
                                    <a:srgbClr val="111111"/>
                                  </a:solidFill>
                                  <a:latin typeface="Cambria Math"/>
                                  <a:cs typeface="Cambria Math"/>
                                </a:rPr>
                                <m:t>′</m:t>
                              </m:r>
                            </m:e>
                          </m:d>
                        </m:den>
                      </m:f>
                    </m:oMath>
                  </m:oMathPara>
                </a14:m>
                <a:endParaRPr lang="en-US" sz="2400"/>
              </a:p>
            </p:txBody>
          </p:sp>
        </mc:Choice>
        <mc:Fallback>
          <p:sp>
            <p:nvSpPr>
              <p:cNvPr id="3" name="Equation: bayes" descr="LaTeX: p(k \mid x_{1:n}) = \dfrac{p(x_{1:n} \mid k)\, p(k)}{\sum_{k'=1}^{23-n} p(x_{1:n} \mid k')\, p(k')}"/>
              <p:cNvSpPr txBox="1">
                <a:spLocks noRot="1" noChangeAspect="1" noMove="1" noResize="1" noEditPoints="1" noAdjustHandles="1" noChangeArrowheads="1" noChangeShapeType="1" noTextEdit="1"/>
              </p:cNvSpPr>
              <p:nvPr/>
            </p:nvSpPr>
            <p:spPr>
              <a:xfrm>
                <a:off x="1750161" y="1371600"/>
                <a:ext cx="4547616" cy="1356360"/>
              </a:xfrm>
              <a:prstGeom prst="rect">
                <a:avLst/>
              </a:prstGeom>
              <a:blipFill>
                <a:blip r:embed="rId2"/>
                <a:stretch>
                  <a:fillRect/>
                </a:stretch>
              </a:blipFill>
            </p:spPr>
            <p:txBody>
              <a:bodyPr/>
              <a:lstStyle/>
              <a:p>
                <a:r>
                  <a:rPr lang="en-US">
                    <a:noFill/>
                  </a:rPr>
                  <a:t> </a:t>
                </a:r>
              </a:p>
            </p:txBody>
          </p:sp>
        </mc:Fallback>
      </mc:AlternateContent>
      <p:sp>
        <p:nvSpPr>
          <p:cNvPr id="4" name="Text: in words"/>
          <p:cNvSpPr txBox="1"/>
          <p:nvPr/>
        </p:nvSpPr>
        <p:spPr>
          <a:xfrm>
            <a:off x="1750161" y="2773680"/>
            <a:ext cx="4811342" cy="457200"/>
          </a:xfrm>
          <a:prstGeom prst="rect">
            <a:avLst/>
          </a:prstGeom>
          <a:noFill/>
        </p:spPr>
        <p:txBody>
          <a:bodyPr wrap="square" anchor="t" lIns="18288" rIns="18288" tIns="18288" bIns="18288">
            <a:spAutoFit/>
          </a:bodyPr>
          <a:lstStyle/>
          <a:p>
            <a:pPr algn="l">
              <a:spcAft>
                <a:spcPts val="600"/>
              </a:spcAft>
            </a:pPr>
            <a:r>
              <a:rPr sz="1800" b="1" i="0">
                <a:solidFill>
                  <a:srgbClr val="1B4F8C"/>
                </a:solidFill>
                <a:latin typeface="Cambria"/>
              </a:rPr>
              <a:t>posterior</a:t>
            </a:r>
            <a:r>
              <a:rPr sz="1800" b="0" i="0">
                <a:solidFill>
                  <a:srgbClr val="111111"/>
                </a:solidFill>
                <a:latin typeface="Cambria"/>
              </a:rPr>
              <a:t>  ∝  likelihood  ×  </a:t>
            </a:r>
            <a:r>
              <a:rPr sz="1800" b="1" i="0">
                <a:solidFill>
                  <a:srgbClr val="595959"/>
                </a:solidFill>
                <a:latin typeface="Cambria"/>
              </a:rPr>
              <a:t>prior</a:t>
            </a:r>
            <a:r>
              <a:rPr sz="1800" b="0" i="0">
                <a:solidFill>
                  <a:srgbClr val="111111"/>
                </a:solidFill>
                <a:latin typeface="Cambria"/>
              </a:rPr>
              <a:t>,  over all 23 − n places</a:t>
            </a:r>
          </a:p>
        </p:txBody>
      </p:sp>
      <mc:AlternateContent xmlns:mc="http://schemas.openxmlformats.org/markup-compatibility/2006">
        <mc:Choice xmlns:a14="http://schemas.microsoft.com/office/drawing/2010/main" Requires="a14">
          <p:sp>
            <p:nvSpPr>
              <p:cNvPr id="5" name="Equation: likelihood" descr="LaTeX: p(x_{1:n} \mid k) = \int \prod_{m=1}^{7} \mathcal{N}\left(x_{m,1:n} \mid s\,\mu_{m,k},\;\Sigma_{m,k}(s)\right)\, p(s)\, ds"/>
              <p:cNvSpPr txBox="1"/>
              <p:nvPr/>
            </p:nvSpPr>
            <p:spPr>
              <a:xfrm>
                <a:off x="1750161" y="3413760"/>
                <a:ext cx="4811342" cy="619604"/>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a:rPr lang="en-US" i="1" sz="1646">
                          <a:solidFill>
                            <a:srgbClr val="111111"/>
                          </a:solidFill>
                          <a:latin typeface="Cambria Math"/>
                          <a:cs typeface="Cambria Math"/>
                        </a:rPr>
                        <m:t>p</m:t>
                      </m:r>
                      <m:d>
                        <m:dPr>
                          <m:begChr m:val="("/>
                          <m:endChr m:val=")"/>
                          <m:sepChr m:val=""/>
                          <m:grow/>
                        </m:dPr>
                        <m:e>
                          <m:sSub>
                            <m:e>
                              <m:r>
                                <a:rPr lang="en-US" i="1" sz="1646">
                                  <a:solidFill>
                                    <a:srgbClr val="111111"/>
                                  </a:solidFill>
                                  <a:latin typeface="Cambria Math"/>
                                  <a:cs typeface="Cambria Math"/>
                                </a:rPr>
                                <m:t>x</m:t>
                              </m:r>
                            </m:e>
                            <m:sub>
                              <m:r>
                                <a:rPr lang="en-US" i="1" sz="1646">
                                  <a:solidFill>
                                    <a:srgbClr val="111111"/>
                                  </a:solidFill>
                                  <a:latin typeface="Cambria Math"/>
                                  <a:cs typeface="Cambria Math"/>
                                </a:rPr>
                                <m:t>1</m:t>
                              </m:r>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n</m:t>
                              </m:r>
                            </m:sub>
                          </m:sSub>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k</m:t>
                          </m:r>
                        </m:e>
                      </m:d>
                      <m:r>
                        <m:rPr>
                          <m:sty m:val="p"/>
                        </m:rPr>
                        <a:rPr lang="en-US" i="1" sz="1646">
                          <a:solidFill>
                            <a:srgbClr val="111111"/>
                          </a:solidFill>
                          <a:latin typeface="Cambria Math"/>
                          <a:cs typeface="Cambria Math"/>
                        </a:rPr>
                        <m:t>=</m:t>
                      </m:r>
                      <m:r>
                        <m:rPr>
                          <m:sty m:val="p"/>
                        </m:rPr>
                        <a:rPr lang="en-US" i="1" sz="1646">
                          <a:solidFill>
                            <a:srgbClr val="111111"/>
                          </a:solidFill>
                          <a:latin typeface="Cambria Math"/>
                          <a:cs typeface="Cambria Math"/>
                        </a:rPr>
                        <m:t>∫</m:t>
                      </m:r>
                      <m:nary>
                        <m:naryPr>
                          <m:chr m:val="∏"/>
                          <m:limLoc m:val="undOvr"/>
                          <m:subHide m:val="off"/>
                          <m:supHide m:val="off"/>
                        </m:naryPr>
                        <m:sub>
                          <m:r>
                            <a:rPr lang="en-US" i="1" sz="1646">
                              <a:solidFill>
                                <a:srgbClr val="111111"/>
                              </a:solidFill>
                              <a:latin typeface="Cambria Math"/>
                              <a:cs typeface="Cambria Math"/>
                            </a:rPr>
                            <m:t>m</m:t>
                          </m:r>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1</m:t>
                          </m:r>
                        </m:sub>
                        <m:sup>
                          <m:r>
                            <a:rPr lang="en-US" i="1" sz="1646">
                              <a:solidFill>
                                <a:srgbClr val="111111"/>
                              </a:solidFill>
                              <a:latin typeface="Cambria Math"/>
                              <a:cs typeface="Cambria Math"/>
                            </a:rPr>
                            <m:t>7</m:t>
                          </m:r>
                        </m:sup>
                        <m:e>
                          <m:r>
                            <m:rPr>
                              <m:sty m:val="p"/>
                              <m:scr m:val="script"/>
                            </m:rPr>
                            <a:rPr lang="en-US" i="1" sz="1646">
                              <a:solidFill>
                                <a:srgbClr val="111111"/>
                              </a:solidFill>
                              <a:latin typeface="Cambria Math"/>
                              <a:cs typeface="Cambria Math"/>
                            </a:rPr>
                            <m:t>N</m:t>
                          </m:r>
                        </m:e>
                      </m:nary>
                      <m:d>
                        <m:dPr>
                          <m:begChr m:val="("/>
                          <m:endChr m:val=")"/>
                          <m:sepChr m:val=""/>
                          <m:grow/>
                        </m:dPr>
                        <m:e>
                          <m:sSub>
                            <m:e>
                              <m:r>
                                <a:rPr lang="en-US" i="1" sz="1646">
                                  <a:solidFill>
                                    <a:srgbClr val="111111"/>
                                  </a:solidFill>
                                  <a:latin typeface="Cambria Math"/>
                                  <a:cs typeface="Cambria Math"/>
                                </a:rPr>
                                <m:t>x</m:t>
                              </m:r>
                            </m:e>
                            <m:sub>
                              <m:r>
                                <a:rPr lang="en-US" i="1" sz="1646">
                                  <a:solidFill>
                                    <a:srgbClr val="111111"/>
                                  </a:solidFill>
                                  <a:latin typeface="Cambria Math"/>
                                  <a:cs typeface="Cambria Math"/>
                                </a:rPr>
                                <m:t>m</m:t>
                              </m:r>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1</m:t>
                              </m:r>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n</m:t>
                              </m:r>
                            </m:sub>
                          </m:sSub>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s</m:t>
                          </m:r>
                          <m:r>
                            <a:rPr lang="en-US" i="1" sz="1646">
                              <a:solidFill>
                                <a:srgbClr val="111111"/>
                              </a:solidFill>
                              <a:latin typeface="Cambria Math"/>
                              <a:cs typeface="Cambria Math"/>
                            </a:rPr>
                            <m:t> </m:t>
                          </m:r>
                          <m:sSub>
                            <m:e>
                              <m:r>
                                <a:rPr lang="en-US" i="1" sz="1646">
                                  <a:solidFill>
                                    <a:srgbClr val="111111"/>
                                  </a:solidFill>
                                  <a:latin typeface="Cambria Math"/>
                                  <a:cs typeface="Cambria Math"/>
                                </a:rPr>
                                <m:t>μ</m:t>
                              </m:r>
                            </m:e>
                            <m:sub>
                              <m:r>
                                <a:rPr lang="en-US" i="1" sz="1646">
                                  <a:solidFill>
                                    <a:srgbClr val="111111"/>
                                  </a:solidFill>
                                  <a:latin typeface="Cambria Math"/>
                                  <a:cs typeface="Cambria Math"/>
                                </a:rPr>
                                <m:t>m</m:t>
                              </m:r>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k</m:t>
                              </m:r>
                            </m:sub>
                          </m:sSub>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 </m:t>
                          </m:r>
                          <m:sSub>
                            <m:e>
                              <m:r>
                                <a:rPr lang="en-US" i="1" sz="1646">
                                  <a:solidFill>
                                    <a:srgbClr val="111111"/>
                                  </a:solidFill>
                                  <a:latin typeface="Cambria Math"/>
                                  <a:cs typeface="Cambria Math"/>
                                </a:rPr>
                                <m:t>Σ</m:t>
                              </m:r>
                            </m:e>
                            <m:sub>
                              <m:r>
                                <a:rPr lang="en-US" i="1" sz="1646">
                                  <a:solidFill>
                                    <a:srgbClr val="111111"/>
                                  </a:solidFill>
                                  <a:latin typeface="Cambria Math"/>
                                  <a:cs typeface="Cambria Math"/>
                                </a:rPr>
                                <m:t>m</m:t>
                              </m:r>
                              <m:r>
                                <m:rPr>
                                  <m:sty m:val="p"/>
                                </m:rPr>
                                <a:rPr lang="en-US" i="1" sz="1646">
                                  <a:solidFill>
                                    <a:srgbClr val="111111"/>
                                  </a:solidFill>
                                  <a:latin typeface="Cambria Math"/>
                                  <a:cs typeface="Cambria Math"/>
                                </a:rPr>
                                <m:t>,</m:t>
                              </m:r>
                              <m:r>
                                <a:rPr lang="en-US" i="1" sz="1646">
                                  <a:solidFill>
                                    <a:srgbClr val="111111"/>
                                  </a:solidFill>
                                  <a:latin typeface="Cambria Math"/>
                                  <a:cs typeface="Cambria Math"/>
                                </a:rPr>
                                <m:t>k</m:t>
                              </m:r>
                            </m:sub>
                          </m:sSub>
                          <m:d>
                            <m:dPr>
                              <m:begChr m:val="("/>
                              <m:endChr m:val=")"/>
                              <m:sepChr m:val=""/>
                              <m:grow/>
                            </m:dPr>
                            <m:e>
                              <m:r>
                                <a:rPr lang="en-US" i="1" sz="1646">
                                  <a:solidFill>
                                    <a:srgbClr val="111111"/>
                                  </a:solidFill>
                                  <a:latin typeface="Cambria Math"/>
                                  <a:cs typeface="Cambria Math"/>
                                </a:rPr>
                                <m:t>s</m:t>
                              </m:r>
                            </m:e>
                          </m:d>
                        </m:e>
                      </m:d>
                      <m:r>
                        <a:rPr lang="en-US" i="1" sz="1646">
                          <a:solidFill>
                            <a:srgbClr val="111111"/>
                          </a:solidFill>
                          <a:latin typeface="Cambria Math"/>
                          <a:cs typeface="Cambria Math"/>
                        </a:rPr>
                        <m:t> </m:t>
                      </m:r>
                      <m:r>
                        <a:rPr lang="en-US" i="1" sz="1646">
                          <a:solidFill>
                            <a:srgbClr val="111111"/>
                          </a:solidFill>
                          <a:latin typeface="Cambria Math"/>
                          <a:cs typeface="Cambria Math"/>
                        </a:rPr>
                        <m:t>p</m:t>
                      </m:r>
                      <m:d>
                        <m:dPr>
                          <m:begChr m:val="("/>
                          <m:endChr m:val=")"/>
                          <m:sepChr m:val=""/>
                          <m:grow/>
                        </m:dPr>
                        <m:e>
                          <m:r>
                            <a:rPr lang="en-US" i="1" sz="1646">
                              <a:solidFill>
                                <a:srgbClr val="111111"/>
                              </a:solidFill>
                              <a:latin typeface="Cambria Math"/>
                              <a:cs typeface="Cambria Math"/>
                            </a:rPr>
                            <m:t>s</m:t>
                          </m:r>
                        </m:e>
                      </m:d>
                      <m:r>
                        <a:rPr lang="en-US" i="1" sz="1646">
                          <a:solidFill>
                            <a:srgbClr val="111111"/>
                          </a:solidFill>
                          <a:latin typeface="Cambria Math"/>
                          <a:cs typeface="Cambria Math"/>
                        </a:rPr>
                        <m:t> </m:t>
                      </m:r>
                      <m:r>
                        <a:rPr lang="en-US" i="1" sz="1646">
                          <a:solidFill>
                            <a:srgbClr val="111111"/>
                          </a:solidFill>
                          <a:latin typeface="Cambria Math"/>
                          <a:cs typeface="Cambria Math"/>
                        </a:rPr>
                        <m:t>d</m:t>
                      </m:r>
                      <m:r>
                        <a:rPr lang="en-US" i="1" sz="1646">
                          <a:solidFill>
                            <a:srgbClr val="111111"/>
                          </a:solidFill>
                          <a:latin typeface="Cambria Math"/>
                          <a:cs typeface="Cambria Math"/>
                        </a:rPr>
                        <m:t>s</m:t>
                      </m:r>
                    </m:oMath>
                  </m:oMathPara>
                </a14:m>
                <a:endParaRPr lang="en-US" sz="1646"/>
              </a:p>
            </p:txBody>
          </p:sp>
        </mc:Choice>
        <mc:Fallback>
          <p:sp>
            <p:nvSpPr>
              <p:cNvPr id="5" name="Equation: likelihood" descr="LaTeX: p(x_{1:n} \mid k) = \int \prod_{m=1}^{7} \mathcal{N}\left(x_{m,1:n} \mid s\,\mu_{m,k},\;\Sigma_{m,k}(s)\right)\, p(s)\, ds"/>
              <p:cNvSpPr txBox="1">
                <a:spLocks noRot="1" noChangeAspect="1" noMove="1" noResize="1" noEditPoints="1" noAdjustHandles="1" noChangeArrowheads="1" noChangeShapeType="1" noTextEdit="1"/>
              </p:cNvSpPr>
              <p:nvPr/>
            </p:nvSpPr>
            <p:spPr>
              <a:xfrm>
                <a:off x="1750161" y="3413760"/>
                <a:ext cx="4811342" cy="619604"/>
              </a:xfrm>
              <a:prstGeom prst="rect">
                <a:avLst/>
              </a:prstGeom>
              <a:blipFill>
                <a:blip r:embed="rId3"/>
                <a:stretch>
                  <a:fillRect/>
                </a:stretch>
              </a:blipFill>
            </p:spPr>
            <p:txBody>
              <a:bodyPr/>
              <a:lstStyle/>
              <a:p>
                <a:r>
                  <a:rPr lang="en-US">
                    <a:noFill/>
                  </a:rPr>
                  <a:t> </a:t>
                </a:r>
              </a:p>
            </p:txBody>
          </p:sp>
        </mc:Fallback>
      </mc:AlternateContent>
      <p:sp>
        <p:nvSpPr>
          <p:cNvPr id="6" name="Text: how"/>
          <p:cNvSpPr txBox="1"/>
          <p:nvPr/>
        </p:nvSpPr>
        <p:spPr>
          <a:xfrm>
            <a:off x="1750161" y="4216244"/>
            <a:ext cx="4811342" cy="2001676"/>
          </a:xfrm>
          <a:prstGeom prst="rect">
            <a:avLst/>
          </a:prstGeom>
          <a:noFill/>
        </p:spPr>
        <p:txBody>
          <a:bodyPr wrap="square" anchor="t" lIns="18288" rIns="18288" tIns="18288" bIns="18288">
            <a:spAutoFit/>
          </a:bodyPr>
          <a:lstStyle/>
          <a:p>
            <a:pPr algn="l">
              <a:spcAft>
                <a:spcPts val="800"/>
              </a:spcAft>
            </a:pPr>
            <a:r>
              <a:rPr sz="1500" b="0" i="0">
                <a:solidFill>
                  <a:srgbClr val="111111"/>
                </a:solidFill>
                <a:latin typeface="Cambria"/>
              </a:rPr>
              <a:t>Every place is scored; nothing is fitted.</a:t>
            </a:r>
          </a:p>
          <a:p>
            <a:pPr algn="l">
              <a:spcAft>
                <a:spcPts val="800"/>
              </a:spcAft>
            </a:pPr>
            <a:r>
              <a:rPr sz="1500" b="0" i="0">
                <a:solidFill>
                  <a:srgbClr val="111111"/>
                </a:solidFill>
                <a:latin typeface="Cambria"/>
              </a:rPr>
              <a:t>Given the patient's size </a:t>
            </a:r>
            <a:r>
              <a:rPr sz="1500" b="0" i="1">
                <a:solidFill>
                  <a:srgbClr val="111111"/>
                </a:solidFill>
                <a:latin typeface="Cambria"/>
              </a:rPr>
              <a:t>s</a:t>
            </a:r>
            <a:r>
              <a:rPr sz="1500" b="0" i="0">
                <a:solidFill>
                  <a:srgbClr val="111111"/>
                </a:solidFill>
                <a:latin typeface="Cambria"/>
              </a:rPr>
              <a:t>, each measure's values are Gaussian with a diagonal-plus-rank-one covariance, inverted in closed form; </a:t>
            </a:r>
            <a:r>
              <a:rPr sz="1500" b="0" i="1">
                <a:solidFill>
                  <a:srgbClr val="111111"/>
                </a:solidFill>
                <a:latin typeface="Cambria"/>
              </a:rPr>
              <a:t>log s</a:t>
            </a:r>
            <a:r>
              <a:rPr sz="1500" b="0" i="0">
                <a:solidFill>
                  <a:srgbClr val="111111"/>
                </a:solidFill>
                <a:latin typeface="Cambria"/>
              </a:rPr>
              <a:t> ~ N(0, 0.07²) is integrated by 161-node Gauss–Hermite quadrature.</a:t>
            </a:r>
          </a:p>
          <a:p>
            <a:pPr algn="l">
              <a:spcAft>
                <a:spcPts val="800"/>
              </a:spcAft>
            </a:pPr>
            <a:r>
              <a:rPr sz="1500" b="0" i="0">
                <a:solidFill>
                  <a:srgbClr val="111111"/>
                </a:solidFill>
                <a:latin typeface="Cambria"/>
              </a:rPr>
              <a:t>So it is the Bayes rule for this generator: no formula or network on the same measures names more fields correctly on average.</a:t>
            </a:r>
          </a:p>
        </p:txBody>
      </p:sp>
      <p:pic>
        <p:nvPicPr>
          <p:cNvPr id="7" name="Figure: exact_slide_posterior" descr="Bayes' rule over every place. Top, the prior over the middle body's level; below, its posterior from one, three and nine bodies centred on T12, for the scoring column whose three-body posterior at T12 is the median of 2000. Uniform prior, so the posterior is the normalised likelihood. Synthetic columns."/>
          <p:cNvPicPr>
            <a:picLocks noChangeAspect="1"/>
          </p:cNvPicPr>
          <p:nvPr/>
        </p:nvPicPr>
        <p:blipFill>
          <a:blip r:embed="rId4"/>
          <a:stretch>
            <a:fillRect/>
          </a:stretch>
        </p:blipFill>
        <p:spPr>
          <a:xfrm>
            <a:off x="6645179" y="1371600"/>
            <a:ext cx="5271557" cy="4392964"/>
          </a:xfrm>
          <a:prstGeom prst="rect">
            <a:avLst/>
          </a:prstGeom>
        </p:spPr>
      </p:pic>
      <p:sp>
        <p:nvSpPr>
          <p:cNvPr id="8" name="Text: citation"/>
          <p:cNvSpPr txBox="1"/>
          <p:nvPr/>
        </p:nvSpPr>
        <p:spPr>
          <a:xfrm>
            <a:off x="1750161" y="6327648"/>
            <a:ext cx="8869604"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9" name="Text: slide number"/>
          <p:cNvSpPr txBox="1"/>
          <p:nvPr/>
        </p:nvSpPr>
        <p:spPr>
          <a:xfrm>
            <a:off x="11063246" y="6327648"/>
            <a:ext cx="836755"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2 / 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Three bodies name 73% exactly; when sure, the name is right 99.8%</a:t>
            </a:r>
          </a:p>
        </p:txBody>
      </p:sp>
      <p:pic>
        <p:nvPicPr>
          <p:cNvPr id="3" name="Figure: exact_slide_ceiling" descr="Share of fields named exactly by the exact rule (solid) and named at posterior 0.99 (dashed), both planes, by consecutive bodies in view; crosses, a linear classifier fitted on other synthetic columns, scored on the first 1,000. 2000 synthetic columns."/>
          <p:cNvPicPr>
            <a:picLocks noChangeAspect="1"/>
          </p:cNvPicPr>
          <p:nvPr/>
        </p:nvPicPr>
        <p:blipFill>
          <a:blip r:embed="rId2"/>
          <a:stretch>
            <a:fillRect/>
          </a:stretch>
        </p:blipFill>
        <p:spPr>
          <a:xfrm>
            <a:off x="1750161" y="1325880"/>
            <a:ext cx="4685828" cy="3472533"/>
          </a:xfrm>
          <a:prstGeom prst="rect">
            <a:avLst/>
          </a:prstGeom>
        </p:spPr>
      </p:pic>
      <p:pic>
        <p:nvPicPr>
          <p:cNvPr id="4" name="Figure: exact_slide_calibration" descr="The posterior is the chance of being right: error the posterior predicts against error counted, by posterior bin, one, three and nine bodies, both planes; dotted, exact agreement; a bin with no error counted sits on the floor. 2000 synthetic columns."/>
          <p:cNvPicPr>
            <a:picLocks noChangeAspect="1"/>
          </p:cNvPicPr>
          <p:nvPr/>
        </p:nvPicPr>
        <p:blipFill>
          <a:blip r:embed="rId3"/>
          <a:stretch>
            <a:fillRect/>
          </a:stretch>
        </p:blipFill>
        <p:spPr>
          <a:xfrm>
            <a:off x="6477828" y="1371600"/>
            <a:ext cx="3054156" cy="3012318"/>
          </a:xfrm>
          <a:prstGeom prst="rect">
            <a:avLst/>
          </a:prstGeom>
        </p:spPr>
      </p:pic>
      <p:sp>
        <p:nvSpPr>
          <p:cNvPr id="5" name="Text: stat three bodies"/>
          <p:cNvSpPr txBox="1"/>
          <p:nvPr/>
        </p:nvSpPr>
        <p:spPr>
          <a:xfrm>
            <a:off x="9657497" y="1371600"/>
            <a:ext cx="2242503" cy="10515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73.1%</a:t>
            </a:r>
          </a:p>
          <a:p>
            <a:pPr algn="l">
              <a:lnSpc>
                <a:spcPct val="95000"/>
              </a:lnSpc>
              <a:spcAft>
                <a:spcPts val="100"/>
              </a:spcAft>
            </a:pPr>
            <a:r>
              <a:rPr sz="1400" b="0" i="0">
                <a:solidFill>
                  <a:srgbClr val="111111"/>
                </a:solidFill>
                <a:latin typeface="Cambria"/>
              </a:rPr>
              <a:t>of three-body fields named exactly (a fitted classifier: 58.2%)</a:t>
            </a:r>
          </a:p>
        </p:txBody>
      </p:sp>
      <p:sp>
        <p:nvSpPr>
          <p:cNvPr id="6" name="Text: stat precision"/>
          <p:cNvSpPr txBox="1"/>
          <p:nvPr/>
        </p:nvSpPr>
        <p:spPr>
          <a:xfrm>
            <a:off x="9657497" y="2606040"/>
            <a:ext cx="2242503" cy="10515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99.78%</a:t>
            </a:r>
          </a:p>
          <a:p>
            <a:pPr algn="l">
              <a:lnSpc>
                <a:spcPct val="95000"/>
              </a:lnSpc>
              <a:spcAft>
                <a:spcPts val="100"/>
              </a:spcAft>
            </a:pPr>
            <a:r>
              <a:rPr sz="1400" b="0" i="0">
                <a:solidFill>
                  <a:srgbClr val="111111"/>
                </a:solidFill>
                <a:latin typeface="Cambria"/>
              </a:rPr>
              <a:t>of names given at posterior 0.99 right (15 wrong of 6,848)</a:t>
            </a:r>
          </a:p>
        </p:txBody>
      </p:sp>
      <p:sp>
        <p:nvSpPr>
          <p:cNvPr id="7" name="Text: stat nine bodies"/>
          <p:cNvSpPr txBox="1"/>
          <p:nvPr/>
        </p:nvSpPr>
        <p:spPr>
          <a:xfrm>
            <a:off x="9657497" y="3840480"/>
            <a:ext cx="2242503" cy="10515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96.1%</a:t>
            </a:r>
          </a:p>
          <a:p>
            <a:pPr algn="l">
              <a:lnSpc>
                <a:spcPct val="95000"/>
              </a:lnSpc>
              <a:spcAft>
                <a:spcPts val="100"/>
              </a:spcAft>
            </a:pPr>
            <a:r>
              <a:rPr sz="1400" b="0" i="0">
                <a:solidFill>
                  <a:srgbClr val="111111"/>
                </a:solidFill>
                <a:latin typeface="Cambria"/>
              </a:rPr>
              <a:t>named exactly from nine bodies</a:t>
            </a:r>
          </a:p>
        </p:txBody>
      </p:sp>
      <mc:AlternateContent xmlns:mc="http://schemas.openxmlformats.org/markup-compatibility/2006">
        <mc:Choice xmlns:a14="http://schemas.microsoft.com/office/drawing/2010/main" Requires="a14">
          <p:sp>
            <p:nvSpPr>
              <p:cNvPr id="8" name="Equation: selective" descr="LaTeX: \Pr\left(\hat{k} = k \mid \hat{p} \geq 1-\varepsilon\right) = \mathbb{E}\left[\hat{p} \mid \hat{p} \geq 1-\varepsilon\right] \geq 1-\varepsilon"/>
              <p:cNvSpPr txBox="1"/>
              <p:nvPr/>
            </p:nvSpPr>
            <p:spPr>
              <a:xfrm>
                <a:off x="1750161" y="5230368"/>
                <a:ext cx="4532376" cy="338328"/>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1" sz="1800">
                          <a:solidFill>
                            <a:srgbClr val="111111"/>
                          </a:solidFill>
                          <a:latin typeface="Cambria Math"/>
                          <a:cs typeface="Cambria Math"/>
                        </a:rPr>
                        <m:t>Pr</m:t>
                      </m:r>
                      <m:d>
                        <m:dPr>
                          <m:begChr m:val="("/>
                          <m:endChr m:val=")"/>
                          <m:sepChr m:val=""/>
                          <m:grow/>
                        </m:dPr>
                        <m:e>
                          <m:acc>
                            <m:accPr>
                              <m:chr m:val="̂"/>
                            </m:accPr>
                            <m:e>
                              <m:r>
                                <a:rPr lang="en-US" i="1" sz="1800">
                                  <a:solidFill>
                                    <a:srgbClr val="111111"/>
                                  </a:solidFill>
                                  <a:latin typeface="Cambria Math"/>
                                  <a:cs typeface="Cambria Math"/>
                                </a:rPr>
                                <m:t>k</m:t>
                              </m:r>
                            </m:e>
                          </m:acc>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k</m:t>
                          </m:r>
                          <m:r>
                            <m:rPr>
                              <m:sty m:val="p"/>
                            </m:rPr>
                            <a:rPr lang="en-US" i="1" sz="1800">
                              <a:solidFill>
                                <a:srgbClr val="111111"/>
                              </a:solidFill>
                              <a:latin typeface="Cambria Math"/>
                              <a:cs typeface="Cambria Math"/>
                            </a:rPr>
                            <m:t>∣</m:t>
                          </m:r>
                          <m:acc>
                            <m:accPr>
                              <m:chr m:val="̂"/>
                            </m:accPr>
                            <m:e>
                              <m:r>
                                <a:rPr lang="en-US" i="1" sz="1800">
                                  <a:solidFill>
                                    <a:srgbClr val="111111"/>
                                  </a:solidFill>
                                  <a:latin typeface="Cambria Math"/>
                                  <a:cs typeface="Cambria Math"/>
                                </a:rPr>
                                <m:t>p</m:t>
                              </m:r>
                            </m:e>
                          </m:acc>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ε</m:t>
                          </m:r>
                        </m:e>
                      </m:d>
                      <m:r>
                        <m:rPr>
                          <m:sty m:val="p"/>
                        </m:rPr>
                        <a:rPr lang="en-US" i="1" sz="1800">
                          <a:solidFill>
                            <a:srgbClr val="111111"/>
                          </a:solidFill>
                          <a:latin typeface="Cambria Math"/>
                          <a:cs typeface="Cambria Math"/>
                        </a:rPr>
                        <m:t>=</m:t>
                      </m:r>
                      <m:r>
                        <m:rPr>
                          <m:sty m:val="p"/>
                          <m:scr m:val="double-struck"/>
                        </m:rPr>
                        <a:rPr lang="en-US" i="1" sz="1800">
                          <a:solidFill>
                            <a:srgbClr val="111111"/>
                          </a:solidFill>
                          <a:latin typeface="Cambria Math"/>
                          <a:cs typeface="Cambria Math"/>
                        </a:rPr>
                        <m:t>E</m:t>
                      </m:r>
                      <m:d>
                        <m:dPr>
                          <m:begChr m:val="["/>
                          <m:endChr m:val="]"/>
                          <m:sepChr m:val=""/>
                          <m:grow/>
                        </m:dPr>
                        <m:e>
                          <m:acc>
                            <m:accPr>
                              <m:chr m:val="̂"/>
                            </m:accPr>
                            <m:e>
                              <m:r>
                                <a:rPr lang="en-US" i="1" sz="1800">
                                  <a:solidFill>
                                    <a:srgbClr val="111111"/>
                                  </a:solidFill>
                                  <a:latin typeface="Cambria Math"/>
                                  <a:cs typeface="Cambria Math"/>
                                </a:rPr>
                                <m:t>p</m:t>
                              </m:r>
                            </m:e>
                          </m:acc>
                          <m:r>
                            <m:rPr>
                              <m:sty m:val="p"/>
                            </m:rPr>
                            <a:rPr lang="en-US" i="1" sz="1800">
                              <a:solidFill>
                                <a:srgbClr val="111111"/>
                              </a:solidFill>
                              <a:latin typeface="Cambria Math"/>
                              <a:cs typeface="Cambria Math"/>
                            </a:rPr>
                            <m:t>∣</m:t>
                          </m:r>
                          <m:acc>
                            <m:accPr>
                              <m:chr m:val="̂"/>
                            </m:accPr>
                            <m:e>
                              <m:r>
                                <a:rPr lang="en-US" i="1" sz="1800">
                                  <a:solidFill>
                                    <a:srgbClr val="111111"/>
                                  </a:solidFill>
                                  <a:latin typeface="Cambria Math"/>
                                  <a:cs typeface="Cambria Math"/>
                                </a:rPr>
                                <m:t>p</m:t>
                              </m:r>
                            </m:e>
                          </m:acc>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ε</m:t>
                          </m:r>
                        </m:e>
                      </m:d>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ε</m:t>
                      </m:r>
                    </m:oMath>
                  </m:oMathPara>
                </a14:m>
                <a:endParaRPr lang="en-US" sz="1800"/>
              </a:p>
            </p:txBody>
          </p:sp>
        </mc:Choice>
        <mc:Fallback>
          <p:sp>
            <p:nvSpPr>
              <p:cNvPr id="8" name="Equation: selective" descr="LaTeX: \Pr\left(\hat{k} = k \mid \hat{p} \geq 1-\varepsilon\right) = \mathbb{E}\left[\hat{p} \mid \hat{p} \geq 1-\varepsilon\right] \geq 1-\varepsilon"/>
              <p:cNvSpPr txBox="1">
                <a:spLocks noRot="1" noChangeAspect="1" noMove="1" noResize="1" noEditPoints="1" noAdjustHandles="1" noChangeArrowheads="1" noChangeShapeType="1" noTextEdit="1"/>
              </p:cNvSpPr>
              <p:nvPr/>
            </p:nvSpPr>
            <p:spPr>
              <a:xfrm>
                <a:off x="1750161" y="5230368"/>
                <a:ext cx="4532376" cy="338328"/>
              </a:xfrm>
              <a:prstGeom prst="rect">
                <a:avLst/>
              </a:prstGeom>
              <a:blipFill>
                <a:blip r:embed="rId4"/>
                <a:stretch>
                  <a:fillRect/>
                </a:stretch>
              </a:blipFill>
            </p:spPr>
            <p:txBody>
              <a:bodyPr/>
              <a:lstStyle/>
              <a:p>
                <a:r>
                  <a:rPr lang="en-US">
                    <a:noFill/>
                  </a:rPr>
                  <a:t> </a:t>
                </a:r>
              </a:p>
            </p:txBody>
          </p:sp>
        </mc:Fallback>
      </mc:AlternateContent>
      <p:sp>
        <p:nvSpPr>
          <p:cNvPr id="9" name="Text: guarantee"/>
          <p:cNvSpPr txBox="1"/>
          <p:nvPr/>
        </p:nvSpPr>
        <p:spPr>
          <a:xfrm>
            <a:off x="7481934" y="5120640"/>
            <a:ext cx="4418067" cy="1097280"/>
          </a:xfrm>
          <a:prstGeom prst="rect">
            <a:avLst/>
          </a:prstGeom>
          <a:noFill/>
        </p:spPr>
        <p:txBody>
          <a:bodyPr wrap="square" anchor="t" lIns="18288" rIns="18288" tIns="18288" bIns="18288">
            <a:spAutoFit/>
          </a:bodyPr>
          <a:lstStyle/>
          <a:p>
            <a:pPr algn="l">
              <a:spcAft>
                <a:spcPts val="600"/>
              </a:spcAft>
            </a:pPr>
            <a:r>
              <a:rPr sz="1400" b="0" i="0">
                <a:solidFill>
                  <a:srgbClr val="111111"/>
                </a:solidFill>
                <a:latin typeface="Cambria"/>
              </a:rPr>
              <a:t>Answer only when the posterior </a:t>
            </a:r>
            <a:r>
              <a:rPr sz="1400" b="0" i="1">
                <a:solidFill>
                  <a:srgbClr val="111111"/>
                </a:solidFill>
                <a:latin typeface="Cambria"/>
              </a:rPr>
              <a:t>p̂</a:t>
            </a:r>
            <a:r>
              <a:rPr sz="1400" b="0" i="0">
                <a:solidFill>
                  <a:srgbClr val="111111"/>
                </a:solidFill>
                <a:latin typeface="Cambria"/>
              </a:rPr>
              <a:t> reaches 0.99, and the name is right at least 99% of the times it is given, while the generator is the truth.</a:t>
            </a:r>
          </a:p>
        </p:txBody>
      </p:sp>
      <p:sp>
        <p:nvSpPr>
          <p:cNvPr id="10" name="Text: citation"/>
          <p:cNvSpPr txBox="1"/>
          <p:nvPr/>
        </p:nvSpPr>
        <p:spPr>
          <a:xfrm>
            <a:off x="1750161" y="6327648"/>
            <a:ext cx="8869604"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11" name="Text: slide number"/>
          <p:cNvSpPr txBox="1"/>
          <p:nvPr/>
        </p:nvSpPr>
        <p:spPr>
          <a:xfrm>
            <a:off x="11063246" y="6327648"/>
            <a:ext cx="836755"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3 / 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One body tells its region and its side of C7/T1, rarely of T12/L1</a:t>
            </a:r>
          </a:p>
        </p:txBody>
      </p:sp>
      <p:pic>
        <p:nvPicPr>
          <p:cNvPr id="3" name="Figure: exact_slide_claims" descr="What a field says for certain about its middle body: at each border, the share of fields whose middle body lies within two levels of it that say which side at probability 0.99, by bodies in view, both planes. 2000 synthetic columns."/>
          <p:cNvPicPr>
            <a:picLocks noChangeAspect="1"/>
          </p:cNvPicPr>
          <p:nvPr/>
        </p:nvPicPr>
        <p:blipFill>
          <a:blip r:embed="rId2"/>
          <a:stretch>
            <a:fillRect/>
          </a:stretch>
        </p:blipFill>
        <p:spPr>
          <a:xfrm>
            <a:off x="1750161" y="1325880"/>
            <a:ext cx="4560315" cy="4434802"/>
          </a:xfrm>
          <a:prstGeom prst="rect">
            <a:avLst/>
          </a:prstGeom>
        </p:spPr>
      </p:pic>
      <mc:AlternateContent xmlns:mc="http://schemas.openxmlformats.org/markup-compatibility/2006">
        <mc:Choice xmlns:a14="http://schemas.microsoft.com/office/drawing/2010/main" Requires="a14">
          <p:sp>
            <p:nvSpPr>
              <p:cNvPr id="4" name="Equation: claim" descr="LaTeX: \Pr(\ell \geq c \mid x_{1:n}) = \sum_{j \geq c} p(\ell = j \mid x_{1:n}) \geq 0.99"/>
              <p:cNvSpPr txBox="1"/>
              <p:nvPr/>
            </p:nvSpPr>
            <p:spPr>
              <a:xfrm>
                <a:off x="6477828" y="1463040"/>
                <a:ext cx="4123944" cy="560832"/>
              </a:xfrm>
              <a:prstGeom prst="rect">
                <a:avLst/>
              </a:prstGeom>
              <a:noFill/>
            </p:spPr>
            <p:txBody>
              <a:bodyPr wrap="none" lIns="0" tIns="0" rIns="0" bIns="0" anchor="ctr">
                <a:noAutofit/>
              </a:bodyPr>
              <a:lstStyle/>
              <a:p>
                <a:pPr algn="l"/>
                <a14:m>
                  <m:oMathPara xmlns:m="http://schemas.openxmlformats.org/officeDocument/2006/math">
                    <m:oMathParaPr>
                      <m:jc m:val="left"/>
                    </m:oMathParaPr>
                    <m:oMath>
                      <m:r>
                        <m:rPr>
                          <m:sty m:val="p"/>
                        </m:rPr>
                        <a:rPr lang="en-US" i="1" sz="1800">
                          <a:solidFill>
                            <a:srgbClr val="111111"/>
                          </a:solidFill>
                          <a:latin typeface="Cambria Math"/>
                          <a:cs typeface="Cambria Math"/>
                        </a:rPr>
                        <m:t>Pr</m:t>
                      </m:r>
                      <m:d>
                        <m:dPr>
                          <m:begChr m:val="("/>
                          <m:endChr m:val=")"/>
                          <m:sepChr m:val=""/>
                          <m:grow/>
                        </m:dPr>
                        <m:e>
                          <m:r>
                            <m:rPr>
                              <m:sty m:val="p"/>
                            </m:rPr>
                            <a:rPr lang="en-US" i="1" sz="1800">
                              <a:solidFill>
                                <a:srgbClr val="111111"/>
                              </a:solidFill>
                              <a:latin typeface="Cambria Math"/>
                              <a:cs typeface="Cambria Math"/>
                            </a:rPr>
                            <m:t>ℓ</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c</m:t>
                          </m:r>
                          <m:r>
                            <m:rPr>
                              <m:sty m:val="p"/>
                            </m:rPr>
                            <a:rPr lang="en-US" i="1" sz="1800">
                              <a:solidFill>
                                <a:srgbClr val="111111"/>
                              </a:solidFill>
                              <a:latin typeface="Cambria Math"/>
                              <a:cs typeface="Cambria Math"/>
                            </a:rPr>
                            <m:t>∣</m:t>
                          </m:r>
                          <m:sSub>
                            <m:e>
                              <m:r>
                                <a:rPr lang="en-US" i="1" sz="1800">
                                  <a:solidFill>
                                    <a:srgbClr val="111111"/>
                                  </a:solidFill>
                                  <a:latin typeface="Cambria Math"/>
                                  <a:cs typeface="Cambria Math"/>
                                </a:rPr>
                                <m:t>x</m:t>
                              </m:r>
                            </m:e>
                            <m:sub>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n</m:t>
                              </m:r>
                            </m:sub>
                          </m:sSub>
                        </m:e>
                      </m:d>
                      <m:r>
                        <m:rPr>
                          <m:sty m:val="p"/>
                        </m:rPr>
                        <a:rPr lang="en-US" i="1" sz="1800">
                          <a:solidFill>
                            <a:srgbClr val="111111"/>
                          </a:solidFill>
                          <a:latin typeface="Cambria Math"/>
                          <a:cs typeface="Cambria Math"/>
                        </a:rPr>
                        <m:t>=</m:t>
                      </m:r>
                      <m:nary>
                        <m:naryPr>
                          <m:chr m:val="∑"/>
                          <m:limLoc m:val="undOvr"/>
                          <m:subHide m:val="off"/>
                          <m:supHide m:val="on"/>
                        </m:naryPr>
                        <m:sub>
                          <m:r>
                            <a:rPr lang="en-US" i="1" sz="1800">
                              <a:solidFill>
                                <a:srgbClr val="111111"/>
                              </a:solidFill>
                              <a:latin typeface="Cambria Math"/>
                              <a:cs typeface="Cambria Math"/>
                            </a:rPr>
                            <m:t>j</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c</m:t>
                          </m:r>
                        </m:sub>
                        <m:sup>
                          <m:r>
                            <a:rPr lang="en-US" i="1" sz="1800">
                              <a:solidFill>
                                <a:srgbClr val="111111"/>
                              </a:solidFill>
                              <a:latin typeface="Cambria Math"/>
                              <a:cs typeface="Cambria Math"/>
                            </a:rPr>
                            <m:t>​</m:t>
                          </m:r>
                        </m:sup>
                        <m:e>
                          <m:r>
                            <a:rPr lang="en-US" i="1" sz="1800">
                              <a:solidFill>
                                <a:srgbClr val="111111"/>
                              </a:solidFill>
                              <a:latin typeface="Cambria Math"/>
                              <a:cs typeface="Cambria Math"/>
                            </a:rPr>
                            <m:t>p</m:t>
                          </m:r>
                        </m:e>
                      </m:nary>
                      <m:d>
                        <m:dPr>
                          <m:begChr m:val="("/>
                          <m:endChr m:val=")"/>
                          <m:sepChr m:val=""/>
                          <m:grow/>
                        </m:dPr>
                        <m:e>
                          <m:r>
                            <m:rPr>
                              <m:sty m:val="p"/>
                            </m:rPr>
                            <a:rPr lang="en-US" i="1" sz="1800">
                              <a:solidFill>
                                <a:srgbClr val="111111"/>
                              </a:solidFill>
                              <a:latin typeface="Cambria Math"/>
                              <a:cs typeface="Cambria Math"/>
                            </a:rPr>
                            <m:t>ℓ</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j</m:t>
                          </m:r>
                          <m:r>
                            <m:rPr>
                              <m:sty m:val="p"/>
                            </m:rPr>
                            <a:rPr lang="en-US" i="1" sz="1800">
                              <a:solidFill>
                                <a:srgbClr val="111111"/>
                              </a:solidFill>
                              <a:latin typeface="Cambria Math"/>
                              <a:cs typeface="Cambria Math"/>
                            </a:rPr>
                            <m:t>∣</m:t>
                          </m:r>
                          <m:sSub>
                            <m:e>
                              <m:r>
                                <a:rPr lang="en-US" i="1" sz="1800">
                                  <a:solidFill>
                                    <a:srgbClr val="111111"/>
                                  </a:solidFill>
                                  <a:latin typeface="Cambria Math"/>
                                  <a:cs typeface="Cambria Math"/>
                                </a:rPr>
                                <m:t>x</m:t>
                              </m:r>
                            </m:e>
                            <m:sub>
                              <m:r>
                                <a:rPr lang="en-US" i="1" sz="1800">
                                  <a:solidFill>
                                    <a:srgbClr val="111111"/>
                                  </a:solidFill>
                                  <a:latin typeface="Cambria Math"/>
                                  <a:cs typeface="Cambria Math"/>
                                </a:rPr>
                                <m:t>1</m:t>
                              </m:r>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n</m:t>
                              </m:r>
                            </m:sub>
                          </m:sSub>
                        </m:e>
                      </m:d>
                      <m:r>
                        <m:rPr>
                          <m:sty m:val="p"/>
                        </m:rPr>
                        <a:rPr lang="en-US" i="1" sz="1800">
                          <a:solidFill>
                            <a:srgbClr val="111111"/>
                          </a:solidFill>
                          <a:latin typeface="Cambria Math"/>
                          <a:cs typeface="Cambria Math"/>
                        </a:rPr>
                        <m:t>≥</m:t>
                      </m:r>
                      <m:r>
                        <a:rPr lang="en-US" i="1" sz="1800">
                          <a:solidFill>
                            <a:srgbClr val="111111"/>
                          </a:solidFill>
                          <a:latin typeface="Cambria Math"/>
                          <a:cs typeface="Cambria Math"/>
                        </a:rPr>
                        <m:t>0.99</m:t>
                      </m:r>
                    </m:oMath>
                  </m:oMathPara>
                </a14:m>
                <a:endParaRPr lang="en-US" sz="1800"/>
              </a:p>
            </p:txBody>
          </p:sp>
        </mc:Choice>
        <mc:Fallback>
          <p:sp>
            <p:nvSpPr>
              <p:cNvPr id="4" name="Equation: claim" descr="LaTeX: \Pr(\ell \geq c \mid x_{1:n}) = \sum_{j \geq c} p(\ell = j \mid x_{1:n}) \geq 0.99"/>
              <p:cNvSpPr txBox="1">
                <a:spLocks noRot="1" noChangeAspect="1" noMove="1" noResize="1" noEditPoints="1" noAdjustHandles="1" noChangeArrowheads="1" noChangeShapeType="1" noTextEdit="1"/>
              </p:cNvSpPr>
              <p:nvPr/>
            </p:nvSpPr>
            <p:spPr>
              <a:xfrm>
                <a:off x="6477828" y="1463040"/>
                <a:ext cx="4123944" cy="560832"/>
              </a:xfrm>
              <a:prstGeom prst="rect">
                <a:avLst/>
              </a:prstGeom>
              <a:blipFill>
                <a:blip r:embed="rId3"/>
                <a:stretch>
                  <a:fillRect/>
                </a:stretch>
              </a:blipFill>
            </p:spPr>
            <p:txBody>
              <a:bodyPr/>
              <a:lstStyle/>
              <a:p>
                <a:r>
                  <a:rPr lang="en-US">
                    <a:noFill/>
                  </a:rPr>
                  <a:t> </a:t>
                </a:r>
              </a:p>
            </p:txBody>
          </p:sp>
        </mc:Fallback>
      </mc:AlternateContent>
      <p:sp>
        <p:nvSpPr>
          <p:cNvPr id="5" name="Text: claim rule"/>
          <p:cNvSpPr txBox="1"/>
          <p:nvPr/>
        </p:nvSpPr>
        <p:spPr>
          <a:xfrm>
            <a:off x="6477828" y="2057400"/>
            <a:ext cx="5422173" cy="731520"/>
          </a:xfrm>
          <a:prstGeom prst="rect">
            <a:avLst/>
          </a:prstGeom>
          <a:noFill/>
        </p:spPr>
        <p:txBody>
          <a:bodyPr wrap="square" anchor="t" lIns="18288" rIns="18288" tIns="18288" bIns="18288">
            <a:spAutoFit/>
          </a:bodyPr>
          <a:lstStyle/>
          <a:p>
            <a:pPr algn="l">
              <a:spcAft>
                <a:spcPts val="600"/>
              </a:spcAft>
            </a:pPr>
            <a:r>
              <a:rPr sz="1400" b="0" i="0">
                <a:solidFill>
                  <a:srgbClr val="111111"/>
                </a:solidFill>
                <a:latin typeface="Cambria"/>
              </a:rPr>
              <a:t>A border claim sums the same posterior, so a claim made at 0.99 is right at least 99% of the times it is made.</a:t>
            </a:r>
          </a:p>
        </p:txBody>
      </p:sp>
      <p:sp>
        <p:nvSpPr>
          <p:cNvPr id="6" name="Text: stat C7/T1"/>
          <p:cNvSpPr txBox="1"/>
          <p:nvPr/>
        </p:nvSpPr>
        <p:spPr>
          <a:xfrm>
            <a:off x="6477828" y="2926080"/>
            <a:ext cx="25939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56%</a:t>
            </a:r>
          </a:p>
          <a:p>
            <a:pPr algn="l">
              <a:lnSpc>
                <a:spcPct val="95000"/>
              </a:lnSpc>
              <a:spcAft>
                <a:spcPts val="100"/>
              </a:spcAft>
            </a:pPr>
            <a:r>
              <a:rPr sz="1400" b="0" i="0">
                <a:solidFill>
                  <a:srgbClr val="111111"/>
                </a:solidFill>
                <a:latin typeface="Cambria"/>
              </a:rPr>
              <a:t>of single bodies within two levels of C7/T1 say which side; right 99.84% (7 wrong of 4,514)</a:t>
            </a:r>
          </a:p>
        </p:txBody>
      </p:sp>
      <p:sp>
        <p:nvSpPr>
          <p:cNvPr id="7" name="Text: stat T12/L1"/>
          <p:cNvSpPr txBox="1"/>
          <p:nvPr/>
        </p:nvSpPr>
        <p:spPr>
          <a:xfrm>
            <a:off x="9306060" y="2926080"/>
            <a:ext cx="25939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A4262C"/>
                </a:solidFill>
                <a:latin typeface="Cambria"/>
              </a:rPr>
              <a:t>7%</a:t>
            </a:r>
          </a:p>
          <a:p>
            <a:pPr algn="l">
              <a:lnSpc>
                <a:spcPct val="95000"/>
              </a:lnSpc>
              <a:spcAft>
                <a:spcPts val="100"/>
              </a:spcAft>
            </a:pPr>
            <a:r>
              <a:rPr sz="1400" b="0" i="0">
                <a:solidFill>
                  <a:srgbClr val="111111"/>
                </a:solidFill>
                <a:latin typeface="Cambria"/>
              </a:rPr>
              <a:t>at T12/L1, right 97.9% (12 wrong of 568): not near-certain</a:t>
            </a:r>
          </a:p>
        </p:txBody>
      </p:sp>
      <p:sp>
        <p:nvSpPr>
          <p:cNvPr id="8" name="Text: stat region"/>
          <p:cNvSpPr txBox="1"/>
          <p:nvPr/>
        </p:nvSpPr>
        <p:spPr>
          <a:xfrm>
            <a:off x="6477828" y="4434840"/>
            <a:ext cx="25939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61%</a:t>
            </a:r>
          </a:p>
          <a:p>
            <a:pPr algn="l">
              <a:lnSpc>
                <a:spcPct val="95000"/>
              </a:lnSpc>
              <a:spcAft>
                <a:spcPts val="100"/>
              </a:spcAft>
            </a:pPr>
            <a:r>
              <a:rPr sz="1400" b="0" i="0">
                <a:solidFill>
                  <a:srgbClr val="111111"/>
                </a:solidFill>
                <a:latin typeface="Cambria"/>
              </a:rPr>
              <a:t>of single bodies say their region; right 99.92% (21 wrong of 26,786), only 2 of them far from both junctions</a:t>
            </a:r>
          </a:p>
        </p:txBody>
      </p:sp>
      <p:sp>
        <p:nvSpPr>
          <p:cNvPr id="9" name="Text: stat nine bodies"/>
          <p:cNvSpPr txBox="1"/>
          <p:nvPr/>
        </p:nvSpPr>
        <p:spPr>
          <a:xfrm>
            <a:off x="9306060" y="4434840"/>
            <a:ext cx="2593940" cy="13716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88%</a:t>
            </a:r>
          </a:p>
          <a:p>
            <a:pPr algn="l">
              <a:lnSpc>
                <a:spcPct val="95000"/>
              </a:lnSpc>
              <a:spcAft>
                <a:spcPts val="100"/>
              </a:spcAft>
            </a:pPr>
            <a:r>
              <a:rPr sz="1400" b="0" i="0">
                <a:solidFill>
                  <a:srgbClr val="111111"/>
                </a:solidFill>
                <a:latin typeface="Cambria"/>
              </a:rPr>
              <a:t>near T12/L1 say which side from nine bodies (1 wrong of 5,279)</a:t>
            </a:r>
          </a:p>
        </p:txBody>
      </p:sp>
      <p:sp>
        <p:nvSpPr>
          <p:cNvPr id="10" name="Text: citation"/>
          <p:cNvSpPr txBox="1"/>
          <p:nvPr/>
        </p:nvSpPr>
        <p:spPr>
          <a:xfrm>
            <a:off x="1750161" y="6327648"/>
            <a:ext cx="8869604"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11" name="Text: slide number"/>
          <p:cNvSpPr txBox="1"/>
          <p:nvPr/>
        </p:nvSpPr>
        <p:spPr>
          <a:xfrm>
            <a:off x="11063246" y="6327648"/>
            <a:ext cx="836755"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4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750161" y="274320"/>
            <a:ext cx="10149840" cy="960120"/>
          </a:xfrm>
        </p:spPr>
        <p:txBody>
          <a:bodyPr wrap="square" anchor="b"/>
          <a:lstStyle/>
          <a:p>
            <a:pPr algn="l"/>
            <a:r>
              <a:rPr sz="2800" b="1">
                <a:solidFill>
                  <a:srgbClr val="191D63"/>
                </a:solidFill>
                <a:latin typeface="Cambria"/>
              </a:rPr>
              <a:t>The weak point is the table, not the mathematics</a:t>
            </a:r>
          </a:p>
        </p:txBody>
      </p:sp>
      <p:pic>
        <p:nvPicPr>
          <p:cNvPr id="3" name="Figure: exact_slide_robust" descr="When the table or error model is wrong, three bodies, both planes: the name's precision at posterior 0.99 (A) and the share named (B), for the printed table and for spreads widened by the root of 13/12 with 2 mm error. Bars, two standard errors; dotted, 99 per cent."/>
          <p:cNvPicPr>
            <a:picLocks noChangeAspect="1"/>
          </p:cNvPicPr>
          <p:nvPr/>
        </p:nvPicPr>
        <p:blipFill>
          <a:blip r:embed="rId2"/>
          <a:stretch>
            <a:fillRect/>
          </a:stretch>
        </p:blipFill>
        <p:spPr>
          <a:xfrm>
            <a:off x="1750161" y="1371600"/>
            <a:ext cx="6191988" cy="3347021"/>
          </a:xfrm>
          <a:prstGeom prst="rect">
            <a:avLst/>
          </a:prstGeom>
        </p:spPr>
      </p:pic>
      <p:sp>
        <p:nvSpPr>
          <p:cNvPr id="4" name="Text: stat twelve spines"/>
          <p:cNvSpPr txBox="1"/>
          <p:nvPr/>
        </p:nvSpPr>
        <p:spPr>
          <a:xfrm>
            <a:off x="8109500" y="1371600"/>
            <a:ext cx="3790500" cy="114300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A4262C"/>
                </a:solidFill>
                <a:latin typeface="Cambria"/>
              </a:rPr>
              <a:t>95.5%</a:t>
            </a:r>
          </a:p>
          <a:p>
            <a:pPr algn="l">
              <a:lnSpc>
                <a:spcPct val="95000"/>
              </a:lnSpc>
              <a:spcAft>
                <a:spcPts val="100"/>
              </a:spcAft>
            </a:pPr>
            <a:r>
              <a:rPr sz="1400" b="0" i="0">
                <a:solidFill>
                  <a:srgbClr val="111111"/>
                </a:solidFill>
                <a:latin typeface="Cambria"/>
              </a:rPr>
              <a:t>of names at 0.99 right when the rule's table is estimated from 12 spines, as Panjabi's tables are</a:t>
            </a:r>
          </a:p>
        </p:txBody>
      </p:sp>
      <p:sp>
        <p:nvSpPr>
          <p:cNvPr id="5" name="Text: stat widened"/>
          <p:cNvSpPr txBox="1"/>
          <p:nvPr/>
        </p:nvSpPr>
        <p:spPr>
          <a:xfrm>
            <a:off x="8109500" y="2697480"/>
            <a:ext cx="3790500" cy="1280160"/>
          </a:xfrm>
          <a:prstGeom prst="rect">
            <a:avLst/>
          </a:prstGeom>
          <a:noFill/>
        </p:spPr>
        <p:txBody>
          <a:bodyPr wrap="square" anchor="t" lIns="18288" rIns="18288" tIns="18288" bIns="18288">
            <a:spAutoFit/>
          </a:bodyPr>
          <a:lstStyle/>
          <a:p>
            <a:pPr algn="l">
              <a:lnSpc>
                <a:spcPct val="95000"/>
              </a:lnSpc>
              <a:spcAft>
                <a:spcPts val="100"/>
              </a:spcAft>
            </a:pPr>
            <a:r>
              <a:rPr sz="3600" b="1" i="0">
                <a:solidFill>
                  <a:srgbClr val="1B4F8C"/>
                </a:solidFill>
                <a:latin typeface="Cambria"/>
              </a:rPr>
              <a:t>99.3%</a:t>
            </a:r>
          </a:p>
          <a:p>
            <a:pPr algn="l">
              <a:lnSpc>
                <a:spcPct val="95000"/>
              </a:lnSpc>
              <a:spcAft>
                <a:spcPts val="100"/>
              </a:spcAft>
            </a:pPr>
            <a:r>
              <a:rPr sz="1400" b="0" i="0">
                <a:solidFill>
                  <a:srgbClr val="111111"/>
                </a:solidFill>
                <a:latin typeface="Cambria"/>
              </a:rPr>
              <a:t>with spreads widened and 2 mm of error, but 5.5% of fields named, not 19.5%, and lumbar names right 96.7%</a:t>
            </a:r>
          </a:p>
        </p:txBody>
      </p:sp>
      <mc:AlternateContent xmlns:mc="http://schemas.openxmlformats.org/markup-compatibility/2006">
        <mc:Choice xmlns:a14="http://schemas.microsoft.com/office/drawing/2010/main" Requires="a14">
          <p:sp>
            <p:nvSpPr>
              <p:cNvPr id="6" name="Equation: honest" descr="LaTeX: \tilde{\sigma}_{m,\ell} = \sigma_{m,\ell}\sqrt{1 + 1/12},\qquad \sigma_{\mathrm{error}} = 2\ \mathrm{mm}"/>
              <p:cNvSpPr txBox="1"/>
              <p:nvPr/>
            </p:nvSpPr>
            <p:spPr>
              <a:xfrm>
                <a:off x="8109500" y="4160520"/>
                <a:ext cx="3688080" cy="344424"/>
              </a:xfrm>
              <a:prstGeom prst="rect">
                <a:avLst/>
              </a:prstGeom>
              <a:noFill/>
            </p:spPr>
            <p:txBody>
              <a:bodyPr wrap="none" lIns="0" tIns="0" rIns="0" bIns="0" anchor="ctr">
                <a:noAutofit/>
              </a:bodyPr>
              <a:lstStyle/>
              <a:p>
                <a:pPr algn="l"/>
                <a14:m>
                  <m:oMathPara xmlns:m="http://schemas.openxmlformats.org/officeDocument/2006/math">
                    <m:oMathParaPr>
                      <m:jc m:val="left"/>
                    </m:oMathParaPr>
                    <m:oMath>
                      <m:sSub>
                        <m:e>
                          <m:acc>
                            <m:accPr>
                              <m:chr m:val="̃"/>
                            </m:accPr>
                            <m:e>
                              <m:r>
                                <a:rPr lang="en-US" i="1" sz="1600">
                                  <a:solidFill>
                                    <a:srgbClr val="111111"/>
                                  </a:solidFill>
                                  <a:latin typeface="Cambria Math"/>
                                  <a:cs typeface="Cambria Math"/>
                                </a:rPr>
                                <m:t>σ</m:t>
                              </m:r>
                            </m:e>
                          </m:acc>
                        </m:e>
                        <m:sub>
                          <m:r>
                            <a:rPr lang="en-US" i="1" sz="1600">
                              <a:solidFill>
                                <a:srgbClr val="111111"/>
                              </a:solidFill>
                              <a:latin typeface="Cambria Math"/>
                              <a:cs typeface="Cambria Math"/>
                            </a:rPr>
                            <m:t>m</m:t>
                          </m:r>
                          <m:r>
                            <m:rPr>
                              <m:sty m:val="p"/>
                            </m:rPr>
                            <a:rPr lang="en-US" i="1" sz="1600">
                              <a:solidFill>
                                <a:srgbClr val="111111"/>
                              </a:solidFill>
                              <a:latin typeface="Cambria Math"/>
                              <a:cs typeface="Cambria Math"/>
                            </a:rPr>
                            <m:t>,</m:t>
                          </m:r>
                          <m:r>
                            <m:rPr>
                              <m:sty m:val="p"/>
                            </m:rPr>
                            <a:rPr lang="en-US" i="1" sz="1600">
                              <a:solidFill>
                                <a:srgbClr val="111111"/>
                              </a:solidFill>
                              <a:latin typeface="Cambria Math"/>
                              <a:cs typeface="Cambria Math"/>
                            </a:rPr>
                            <m:t>ℓ</m:t>
                          </m:r>
                        </m:sub>
                      </m:sSub>
                      <m:r>
                        <m:rPr>
                          <m:sty m:val="p"/>
                        </m:rPr>
                        <a:rPr lang="en-US" i="1" sz="1600">
                          <a:solidFill>
                            <a:srgbClr val="111111"/>
                          </a:solidFill>
                          <a:latin typeface="Cambria Math"/>
                          <a:cs typeface="Cambria Math"/>
                        </a:rPr>
                        <m:t>=</m:t>
                      </m:r>
                      <m:sSub>
                        <m:e>
                          <m:r>
                            <a:rPr lang="en-US" i="1" sz="1600">
                              <a:solidFill>
                                <a:srgbClr val="111111"/>
                              </a:solidFill>
                              <a:latin typeface="Cambria Math"/>
                              <a:cs typeface="Cambria Math"/>
                            </a:rPr>
                            <m:t>σ</m:t>
                          </m:r>
                        </m:e>
                        <m:sub>
                          <m:r>
                            <a:rPr lang="en-US" i="1" sz="1600">
                              <a:solidFill>
                                <a:srgbClr val="111111"/>
                              </a:solidFill>
                              <a:latin typeface="Cambria Math"/>
                              <a:cs typeface="Cambria Math"/>
                            </a:rPr>
                            <m:t>m</m:t>
                          </m:r>
                          <m:r>
                            <m:rPr>
                              <m:sty m:val="p"/>
                            </m:rPr>
                            <a:rPr lang="en-US" i="1" sz="1600">
                              <a:solidFill>
                                <a:srgbClr val="111111"/>
                              </a:solidFill>
                              <a:latin typeface="Cambria Math"/>
                              <a:cs typeface="Cambria Math"/>
                            </a:rPr>
                            <m:t>,</m:t>
                          </m:r>
                          <m:r>
                            <m:rPr>
                              <m:sty m:val="p"/>
                            </m:rPr>
                            <a:rPr lang="en-US" i="1" sz="1600">
                              <a:solidFill>
                                <a:srgbClr val="111111"/>
                              </a:solidFill>
                              <a:latin typeface="Cambria Math"/>
                              <a:cs typeface="Cambria Math"/>
                            </a:rPr>
                            <m:t>ℓ</m:t>
                          </m:r>
                        </m:sub>
                      </m:sSub>
                      <m:rad>
                        <m:radPr>
                          <m:degHide m:val="on"/>
                        </m:radPr>
                        <m:deg/>
                        <m:e>
                          <m:r>
                            <a:rPr lang="en-US" i="1" sz="1600">
                              <a:solidFill>
                                <a:srgbClr val="111111"/>
                              </a:solidFill>
                              <a:latin typeface="Cambria Math"/>
                              <a:cs typeface="Cambria Math"/>
                            </a:rPr>
                            <m:t>1</m:t>
                          </m:r>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1</m:t>
                          </m:r>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12</m:t>
                          </m:r>
                        </m:e>
                      </m:rad>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  </m:t>
                      </m:r>
                      <m:sSub>
                        <m:e>
                          <m:r>
                            <a:rPr lang="en-US" i="1" sz="1600">
                              <a:solidFill>
                                <a:srgbClr val="111111"/>
                              </a:solidFill>
                              <a:latin typeface="Cambria Math"/>
                              <a:cs typeface="Cambria Math"/>
                            </a:rPr>
                            <m:t>σ</m:t>
                          </m:r>
                        </m:e>
                        <m:sub>
                          <m:r>
                            <m:rPr>
                              <m:sty m:val="p"/>
                            </m:rPr>
                            <a:rPr lang="en-US" i="1" sz="1600">
                              <a:solidFill>
                                <a:srgbClr val="111111"/>
                              </a:solidFill>
                              <a:latin typeface="Cambria Math"/>
                              <a:cs typeface="Cambria Math"/>
                            </a:rPr>
                            <m:t>e</m:t>
                          </m:r>
                          <m:r>
                            <m:rPr>
                              <m:sty m:val="p"/>
                            </m:rPr>
                            <a:rPr lang="en-US" i="1" sz="1600">
                              <a:solidFill>
                                <a:srgbClr val="111111"/>
                              </a:solidFill>
                              <a:latin typeface="Cambria Math"/>
                              <a:cs typeface="Cambria Math"/>
                            </a:rPr>
                            <m:t>r</m:t>
                          </m:r>
                          <m:r>
                            <m:rPr>
                              <m:sty m:val="p"/>
                            </m:rPr>
                            <a:rPr lang="en-US" i="1" sz="1600">
                              <a:solidFill>
                                <a:srgbClr val="111111"/>
                              </a:solidFill>
                              <a:latin typeface="Cambria Math"/>
                              <a:cs typeface="Cambria Math"/>
                            </a:rPr>
                            <m:t>r</m:t>
                          </m:r>
                          <m:r>
                            <m:rPr>
                              <m:sty m:val="p"/>
                            </m:rPr>
                            <a:rPr lang="en-US" i="1" sz="1600">
                              <a:solidFill>
                                <a:srgbClr val="111111"/>
                              </a:solidFill>
                              <a:latin typeface="Cambria Math"/>
                              <a:cs typeface="Cambria Math"/>
                            </a:rPr>
                            <m:t>o</m:t>
                          </m:r>
                          <m:r>
                            <m:rPr>
                              <m:sty m:val="p"/>
                            </m:rPr>
                            <a:rPr lang="en-US" i="1" sz="1600">
                              <a:solidFill>
                                <a:srgbClr val="111111"/>
                              </a:solidFill>
                              <a:latin typeface="Cambria Math"/>
                              <a:cs typeface="Cambria Math"/>
                            </a:rPr>
                            <m:t>r</m:t>
                          </m:r>
                        </m:sub>
                      </m:sSub>
                      <m:r>
                        <m:rPr>
                          <m:sty m:val="p"/>
                        </m:rPr>
                        <a:rPr lang="en-US" i="1" sz="1600">
                          <a:solidFill>
                            <a:srgbClr val="111111"/>
                          </a:solidFill>
                          <a:latin typeface="Cambria Math"/>
                          <a:cs typeface="Cambria Math"/>
                        </a:rPr>
                        <m:t>=</m:t>
                      </m:r>
                      <m:r>
                        <a:rPr lang="en-US" i="1" sz="1600">
                          <a:solidFill>
                            <a:srgbClr val="111111"/>
                          </a:solidFill>
                          <a:latin typeface="Cambria Math"/>
                          <a:cs typeface="Cambria Math"/>
                        </a:rPr>
                        <m:t>2</m:t>
                      </m:r>
                      <m:r>
                        <a:rPr lang="en-US" i="1" sz="1600">
                          <a:solidFill>
                            <a:srgbClr val="111111"/>
                          </a:solidFill>
                          <a:latin typeface="Cambria Math"/>
                          <a:cs typeface="Cambria Math"/>
                        </a:rPr>
                        <m:t> </m:t>
                      </m:r>
                      <m:r>
                        <m:rPr>
                          <m:sty m:val="p"/>
                        </m:rPr>
                        <a:rPr lang="en-US" i="1" sz="1600">
                          <a:solidFill>
                            <a:srgbClr val="111111"/>
                          </a:solidFill>
                          <a:latin typeface="Cambria Math"/>
                          <a:cs typeface="Cambria Math"/>
                        </a:rPr>
                        <m:t>m</m:t>
                      </m:r>
                      <m:r>
                        <m:rPr>
                          <m:sty m:val="p"/>
                        </m:rPr>
                        <a:rPr lang="en-US" i="1" sz="1600">
                          <a:solidFill>
                            <a:srgbClr val="111111"/>
                          </a:solidFill>
                          <a:latin typeface="Cambria Math"/>
                          <a:cs typeface="Cambria Math"/>
                        </a:rPr>
                        <m:t>m</m:t>
                      </m:r>
                    </m:oMath>
                  </m:oMathPara>
                </a14:m>
                <a:endParaRPr lang="en-US" sz="1600"/>
              </a:p>
            </p:txBody>
          </p:sp>
        </mc:Choice>
        <mc:Fallback>
          <p:sp>
            <p:nvSpPr>
              <p:cNvPr id="6" name="Equation: honest" descr="LaTeX: \tilde{\sigma}_{m,\ell} = \sigma_{m,\ell}\sqrt{1 + 1/12},\qquad \sigma_{\mathrm{error}} = 2\ \mathrm{mm}"/>
              <p:cNvSpPr txBox="1">
                <a:spLocks noRot="1" noChangeAspect="1" noMove="1" noResize="1" noEditPoints="1" noAdjustHandles="1" noChangeArrowheads="1" noChangeShapeType="1" noTextEdit="1"/>
              </p:cNvSpPr>
              <p:nvPr/>
            </p:nvSpPr>
            <p:spPr>
              <a:xfrm>
                <a:off x="8109500" y="4160520"/>
                <a:ext cx="3688080" cy="344424"/>
              </a:xfrm>
              <a:prstGeom prst="rect">
                <a:avLst/>
              </a:prstGeom>
              <a:blipFill>
                <a:blip r:embed="rId3"/>
                <a:stretch>
                  <a:fillRect/>
                </a:stretch>
              </a:blipFill>
            </p:spPr>
            <p:txBody>
              <a:bodyPr/>
              <a:lstStyle/>
              <a:p>
                <a:r>
                  <a:rPr lang="en-US">
                    <a:noFill/>
                  </a:rPr>
                  <a:t> </a:t>
                </a:r>
              </a:p>
            </p:txBody>
          </p:sp>
        </mc:Fallback>
      </mc:AlternateContent>
      <p:sp>
        <p:nvSpPr>
          <p:cNvPr id="7" name="Text: next"/>
          <p:cNvSpPr txBox="1"/>
          <p:nvPr/>
        </p:nvSpPr>
        <p:spPr>
          <a:xfrm>
            <a:off x="1750161" y="5138928"/>
            <a:ext cx="10149840" cy="1097280"/>
          </a:xfrm>
          <a:prstGeom prst="rect">
            <a:avLst/>
          </a:prstGeom>
          <a:noFill/>
        </p:spPr>
        <p:txBody>
          <a:bodyPr wrap="square" anchor="t" lIns="18288" rIns="18288" tIns="18288" bIns="18288">
            <a:spAutoFit/>
          </a:bodyPr>
          <a:lstStyle/>
          <a:p>
            <a:pPr algn="l">
              <a:spcAft>
                <a:spcPts val="600"/>
              </a:spcAft>
            </a:pPr>
            <a:r>
              <a:rPr sz="1600" b="1" i="0">
                <a:solidFill>
                  <a:srgbClr val="111111"/>
                </a:solidFill>
                <a:latin typeface="Cambria"/>
              </a:rPr>
              <a:t>Next: </a:t>
            </a:r>
            <a:r>
              <a:rPr sz="1600" b="0" i="0">
                <a:solidFill>
                  <a:srgbClr val="111111"/>
                </a:solidFill>
                <a:latin typeface="Cambria"/>
              </a:rPr>
              <a:t>measure the table on full-spine CTs counted from C2; carry a real series' prior over places; add the anomalous columns (four or six lumbar bodies, a thirteenth rib-bearing body) as places of their own.</a:t>
            </a:r>
          </a:p>
        </p:txBody>
      </p:sp>
      <p:sp>
        <p:nvSpPr>
          <p:cNvPr id="8" name="Text: citation"/>
          <p:cNvSpPr txBox="1"/>
          <p:nvPr/>
        </p:nvSpPr>
        <p:spPr>
          <a:xfrm>
            <a:off x="1750161" y="6327648"/>
            <a:ext cx="8869604" cy="365760"/>
          </a:xfrm>
          <a:prstGeom prst="rect">
            <a:avLst/>
          </a:prstGeom>
          <a:noFill/>
        </p:spPr>
        <p:txBody>
          <a:bodyPr wrap="square" anchor="t" lIns="18288" rIns="18288" tIns="18288" bIns="18288">
            <a:spAutoFit/>
          </a:bodyPr>
          <a:lstStyle/>
          <a:p>
            <a:pPr algn="l">
              <a:spcAft>
                <a:spcPts val="0"/>
              </a:spcAft>
            </a:pPr>
            <a:r>
              <a:rPr sz="900" b="0" i="0">
                <a:solidFill>
                  <a:srgbClr val="595959"/>
                </a:solidFill>
                <a:latin typeface="Cambria"/>
              </a:rPr>
              <a:t>Synthetic columns drawn from Panjabi's published means and spreads (Spine 1991;16:861, 888; 1992;17:299); no patient data. Retrospective modelling, 2026.</a:t>
            </a:r>
          </a:p>
        </p:txBody>
      </p:sp>
      <p:sp>
        <p:nvSpPr>
          <p:cNvPr id="9" name="Text: slide number"/>
          <p:cNvSpPr txBox="1"/>
          <p:nvPr/>
        </p:nvSpPr>
        <p:spPr>
          <a:xfrm>
            <a:off x="11063246" y="6327648"/>
            <a:ext cx="836755" cy="365760"/>
          </a:xfrm>
          <a:prstGeom prst="rect">
            <a:avLst/>
          </a:prstGeom>
          <a:noFill/>
        </p:spPr>
        <p:txBody>
          <a:bodyPr wrap="square" anchor="t" lIns="18288" rIns="18288" tIns="18288" bIns="18288">
            <a:spAutoFit/>
          </a:bodyPr>
          <a:lstStyle/>
          <a:p>
            <a:pPr algn="r">
              <a:spcAft>
                <a:spcPts val="0"/>
              </a:spcAft>
            </a:pPr>
            <a:r>
              <a:rPr sz="900" b="0" i="0">
                <a:solidFill>
                  <a:srgbClr val="595959"/>
                </a:solidFill>
                <a:latin typeface="Cambria"/>
              </a:rPr>
              <a:t>5 / 5</a:t>
            </a:r>
          </a:p>
        </p:txBody>
      </p:sp>
    </p:spTree>
  </p:cSld>
  <p:clrMapOvr>
    <a:masterClrMapping/>
  </p:clrMapOvr>
</p:sld>
</file>

<file path=ppt/theme/theme1.xml><?xml version="1.0" encoding="utf-8"?>
<a:theme xmlns:a="http://schemas.openxmlformats.org/drawingml/2006/main" name="Office Theme">
  <a:themeElements>
    <a:clrScheme name="CNS AM 2026">
      <a:dk1>
        <a:srgbClr val="191D63"/>
      </a:dk1>
      <a:lt1>
        <a:sysClr val="window" lastClr="FFFFFF"/>
      </a:lt1>
      <a:dk2>
        <a:srgbClr val="191D63"/>
      </a:dk2>
      <a:lt2>
        <a:srgbClr val="E6E6E5"/>
      </a:lt2>
      <a:accent1>
        <a:srgbClr val="FFC42F"/>
      </a:accent1>
      <a:accent2>
        <a:srgbClr val="EF4627"/>
      </a:accent2>
      <a:accent3>
        <a:srgbClr val="61BB46"/>
      </a:accent3>
      <a:accent4>
        <a:srgbClr val="4C70B7"/>
      </a:accent4>
      <a:accent5>
        <a:srgbClr val="D7A2CA"/>
      </a:accent5>
      <a:accent6>
        <a:srgbClr val="F16881"/>
      </a:accent6>
      <a:hlink>
        <a:srgbClr val="4C70B7"/>
      </a:hlink>
      <a:folHlink>
        <a:srgbClr val="EE9BC2"/>
      </a:folHlink>
    </a:clrScheme>
    <a:fontScheme name="CNS Fonts">
      <a:majorFont>
        <a:latin typeface="New Hero Medium"/>
        <a:ea typeface=""/>
        <a:cs typeface=""/>
      </a:majorFont>
      <a:minorFont>
        <a:latin typeface="New He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103</TotalTime>
  <Words>0</Words>
  <Application>Microsoft Office PowerPoint</Application>
  <PresentationFormat>Widescreen</PresentationFormat>
  <Paragraphs>0</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New Hero Medium</vt:lpstr>
      <vt:lpstr>Arial</vt:lpstr>
      <vt:lpstr>New Hero</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Gbur</dc:creator>
  <cp:lastModifiedBy>Nick Gbur</cp:lastModifiedBy>
  <cp:revision>8</cp:revision>
  <dcterms:created xsi:type="dcterms:W3CDTF">2026-04-16T17:17:21Z</dcterms:created>
  <dcterms:modified xsi:type="dcterms:W3CDTF">2026-04-21T16:28:45Z</dcterms:modified>
</cp:coreProperties>
</file>