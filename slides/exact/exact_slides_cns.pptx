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4"/>
    <p:sldId id="257" r:id="rId3"/>
    <p:sldId id="258" r:id="rId13"/>
    <p:sldId id="259" r:id="rId14"/>
    <p:sldId id="260" r:id="rId2"/>
  </p:sldIdLst>
  <p:sldSz cx="12192000" cy="6858000"/>
  <p:notesSz cx="6858000" cy="9144000"/>
  <p:embeddedFontLst>
    <p:embeddedFont>
      <p:font typeface="New Hero" panose="02000500000000000000" pitchFamily="50" charset="0"/>
      <p:regular r:id="rId5"/>
      <p:italic r:id="rId6"/>
    </p:embeddedFont>
    <p:embeddedFont>
      <p:font typeface="New Hero Medium" panose="02000600000000000000" pitchFamily="50" charset="0"/>
      <p:regular r:id="rId7"/>
      <p:italic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52" d="100"/>
          <a:sy n="152" d="100"/>
        </p:scale>
        <p:origin x="65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Counting from C2 or the sacrum is how we name a level, and in the operating room the end we count from is often out of the picture. So the question is narrow: from the bodies we can see, and seven standard measures of each body, can we say which levels they are? Everything here is synthetic: 2,000 columns drawn from Panjabi's published morphometry, so every answer is about the anatomy those tables describe, not yet about our patients.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looking, every level is equally likely. Take the synthetic fields centred on T12. From one body the answer spreads over the levels around the thoracolumbar junction, T11 to L2 on average, and T12 is named exactly in 39% of these synthetic fields; from three bodies, 73%; from nine, 95%. The figure shows one typical synthetic column. The rule is exact for the anatomy the tables describe, so no formula or network on these measures names more synthetic fields correctly on average.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synthetic columns drawn from the tables, with one body in view the rule names 47% of fields exactly; with three, 73%; with nine, 96%. On the same synthetic measures a linear classifier reaches 58.2% from three bodies and a fitted network 71.6%. The rule also says how sure it is. On these synthetic columns, when it says 99 per cent it is right 99.8% of the time, 15 wrong of 6,848 names, and it gives a name for 17% of three-body fields; for the rest it says it is not sure.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of a name, what can one body say for certain? On the synthetic columns, two things. Its region, cervical, thoracic or lumbar, for 61% of single synthetic bodies, wrong 21 times in 26,786. And which side of the cervicothoracic junction it is on: near C7/T1 a single synthetic body says so 56% of the time, right 99.8%. Over all synthetic fields, a claim made at 99% confidence is right at least 99% of the time; at T12/L1, 99.96%. Near the thoracolumbar junction a single synthetic body commits only 7% of the time and is right 97.9%, too weak to rely on even in this synthetic setting. Nine bodies say which side for 88% of synthetic fields whose middle body is T11 to L1.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can this go wrong? Not in the arithmetic: it is exact for the anatomy it assumes. The weak point is the anatomy table itself. Panjabi measured 12 spines; a rule built on a table that small, scored on synthetic spines drawn from a different table, is right 95.5% of the time when it says 99, not 99. A corrected rule, its one setting chosen on a separate pilot, is right 99.3% on those synthetic spines, but it then names only 5.5% of synthetic fields, and its lumbar names are right 96.7%. So the next step is to test the rule on real full-spine 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5D9C-5792-771F-694B-77CA43049154}"/>
              </a:ext>
            </a:extLst>
          </p:cNvPr>
          <p:cNvSpPr>
            <a:spLocks noGrp="1"/>
          </p:cNvSpPr>
          <p:nvPr>
            <p:ph type="ctrTitle" hasCustomPrompt="1"/>
          </p:nvPr>
        </p:nvSpPr>
        <p:spPr>
          <a:xfrm>
            <a:off x="5185558" y="2192976"/>
            <a:ext cx="5482442" cy="907473"/>
          </a:xfrm>
        </p:spPr>
        <p:txBody>
          <a:bodyPr anchor="b"/>
          <a:lstStyle>
            <a:lvl1pPr algn="l">
              <a:defRPr sz="4800"/>
            </a:lvl1pPr>
          </a:lstStyle>
          <a:p>
            <a:r>
              <a:rPr lang="en-US" dirty="0"/>
              <a:t>Dr. Faculty Name</a:t>
            </a:r>
          </a:p>
        </p:txBody>
      </p:sp>
      <p:sp>
        <p:nvSpPr>
          <p:cNvPr id="3" name="Subtitle 2">
            <a:extLst>
              <a:ext uri="{FF2B5EF4-FFF2-40B4-BE49-F238E27FC236}">
                <a16:creationId xmlns:a16="http://schemas.microsoft.com/office/drawing/2014/main" id="{C2D7A35E-BEBE-B4D0-7E84-2C228CF60F53}"/>
              </a:ext>
            </a:extLst>
          </p:cNvPr>
          <p:cNvSpPr>
            <a:spLocks noGrp="1"/>
          </p:cNvSpPr>
          <p:nvPr>
            <p:ph type="subTitle" idx="1" hasCustomPrompt="1"/>
          </p:nvPr>
        </p:nvSpPr>
        <p:spPr>
          <a:xfrm>
            <a:off x="5185558" y="3249879"/>
            <a:ext cx="5482442" cy="907473"/>
          </a:xfrm>
        </p:spPr>
        <p:txBody>
          <a:bodyPr/>
          <a:lstStyle>
            <a:lvl1pPr marL="0" indent="0" algn="l">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Course Name</a:t>
            </a:r>
          </a:p>
        </p:txBody>
      </p:sp>
      <p:grpSp>
        <p:nvGrpSpPr>
          <p:cNvPr id="6" name="Group 5">
            <a:extLst>
              <a:ext uri="{FF2B5EF4-FFF2-40B4-BE49-F238E27FC236}">
                <a16:creationId xmlns:a16="http://schemas.microsoft.com/office/drawing/2014/main" id="{841D854B-C2B2-DDD8-28EF-A21EAB95E16D}"/>
              </a:ext>
            </a:extLst>
          </p:cNvPr>
          <p:cNvGrpSpPr/>
          <p:nvPr userDrawn="1"/>
        </p:nvGrpSpPr>
        <p:grpSpPr>
          <a:xfrm>
            <a:off x="847126" y="1001444"/>
            <a:ext cx="3392365" cy="5404342"/>
            <a:chOff x="1036632" y="919574"/>
            <a:chExt cx="3753081" cy="5723760"/>
          </a:xfrm>
        </p:grpSpPr>
        <p:pic>
          <p:nvPicPr>
            <p:cNvPr id="8" name="Picture 7">
              <a:extLst>
                <a:ext uri="{FF2B5EF4-FFF2-40B4-BE49-F238E27FC236}">
                  <a16:creationId xmlns:a16="http://schemas.microsoft.com/office/drawing/2014/main" id="{61C177E0-77CF-B03F-06FA-088C1D0603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1827" y="2219010"/>
              <a:ext cx="3747886" cy="4424324"/>
            </a:xfrm>
            <a:prstGeom prst="rect">
              <a:avLst/>
            </a:prstGeom>
          </p:spPr>
        </p:pic>
        <p:pic>
          <p:nvPicPr>
            <p:cNvPr id="12" name="Picture 11">
              <a:extLst>
                <a:ext uri="{FF2B5EF4-FFF2-40B4-BE49-F238E27FC236}">
                  <a16:creationId xmlns:a16="http://schemas.microsoft.com/office/drawing/2014/main" id="{0F9E73F2-0D3C-7F75-3484-F28045CEC6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022" y="919574"/>
              <a:ext cx="3742691" cy="697664"/>
            </a:xfrm>
            <a:prstGeom prst="rect">
              <a:avLst/>
            </a:prstGeom>
          </p:spPr>
        </p:pic>
        <p:sp>
          <p:nvSpPr>
            <p:cNvPr id="5" name="TextBox 4">
              <a:extLst>
                <a:ext uri="{FF2B5EF4-FFF2-40B4-BE49-F238E27FC236}">
                  <a16:creationId xmlns:a16="http://schemas.microsoft.com/office/drawing/2014/main" id="{19F29650-3D6A-FED0-9A7A-6C768EE2C654}"/>
                </a:ext>
              </a:extLst>
            </p:cNvPr>
            <p:cNvSpPr txBox="1"/>
            <p:nvPr userDrawn="1"/>
          </p:nvSpPr>
          <p:spPr>
            <a:xfrm>
              <a:off x="1036632" y="1733458"/>
              <a:ext cx="3753081" cy="391161"/>
            </a:xfrm>
            <a:prstGeom prst="rect">
              <a:avLst/>
            </a:prstGeom>
            <a:noFill/>
          </p:spPr>
          <p:txBody>
            <a:bodyPr wrap="square" rtlCol="0">
              <a:spAutoFit/>
            </a:bodyPr>
            <a:lstStyle/>
            <a:p>
              <a:pPr algn="ctr"/>
              <a:r>
                <a:rPr lang="en-US" sz="1800" dirty="0">
                  <a:solidFill>
                    <a:schemeClr val="accent1"/>
                  </a:solidFill>
                </a:rPr>
                <a:t>Change is the only constant.</a:t>
              </a:r>
            </a:p>
          </p:txBody>
        </p:sp>
      </p:grpSp>
      <p:pic>
        <p:nvPicPr>
          <p:cNvPr id="11" name="Picture 10">
            <a:extLst>
              <a:ext uri="{FF2B5EF4-FFF2-40B4-BE49-F238E27FC236}">
                <a16:creationId xmlns:a16="http://schemas.microsoft.com/office/drawing/2014/main" id="{41E578DB-AFC7-16E4-ECF9-65CEB98447D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71068" y="214666"/>
            <a:ext cx="4049865" cy="700055"/>
          </a:xfrm>
          <a:prstGeom prst="rect">
            <a:avLst/>
          </a:prstGeom>
        </p:spPr>
      </p:pic>
      <p:sp>
        <p:nvSpPr>
          <p:cNvPr id="15" name="Text Placeholder 14">
            <a:extLst>
              <a:ext uri="{FF2B5EF4-FFF2-40B4-BE49-F238E27FC236}">
                <a16:creationId xmlns:a16="http://schemas.microsoft.com/office/drawing/2014/main" id="{EF253582-705B-B89C-A200-9E17D2D2C586}"/>
              </a:ext>
            </a:extLst>
          </p:cNvPr>
          <p:cNvSpPr>
            <a:spLocks noGrp="1"/>
          </p:cNvSpPr>
          <p:nvPr>
            <p:ph type="body" sz="quarter" idx="10" hasCustomPrompt="1"/>
          </p:nvPr>
        </p:nvSpPr>
        <p:spPr>
          <a:xfrm>
            <a:off x="5184775" y="4306782"/>
            <a:ext cx="5483225" cy="907473"/>
          </a:xfrm>
        </p:spPr>
        <p:txBody>
          <a:bodyPr>
            <a:normAutofit/>
          </a:bodyPr>
          <a:lstStyle>
            <a:lvl1pPr>
              <a:buNone/>
              <a:defRPr sz="1800" i="1"/>
            </a:lvl1pPr>
          </a:lstStyle>
          <a:p>
            <a:pPr lvl="0"/>
            <a:r>
              <a:rPr lang="en-US" dirty="0"/>
              <a:t>Month Day, 2026</a:t>
            </a:r>
          </a:p>
        </p:txBody>
      </p:sp>
    </p:spTree>
    <p:extLst>
      <p:ext uri="{BB962C8B-B14F-4D97-AF65-F5344CB8AC3E}">
        <p14:creationId xmlns:p14="http://schemas.microsoft.com/office/powerpoint/2010/main" val="7110986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838200" y="1825625"/>
            <a:ext cx="10515600" cy="3435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5910242"/>
            <a:ext cx="12192000" cy="947758"/>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0E8012F-5BD4-739D-BDB0-CC13C8D4C5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11440" y="5968249"/>
            <a:ext cx="4168239" cy="776989"/>
          </a:xfrm>
          <a:prstGeom prst="rect">
            <a:avLst/>
          </a:prstGeom>
        </p:spPr>
      </p:pic>
      <p:pic>
        <p:nvPicPr>
          <p:cNvPr id="12" name="Picture 11">
            <a:extLst>
              <a:ext uri="{FF2B5EF4-FFF2-40B4-BE49-F238E27FC236}">
                <a16:creationId xmlns:a16="http://schemas.microsoft.com/office/drawing/2014/main" id="{412AA35E-FC7F-3AD6-8375-B0AF94E67B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2323" y="6024721"/>
            <a:ext cx="4168238" cy="720517"/>
          </a:xfrm>
          <a:prstGeom prst="rect">
            <a:avLst/>
          </a:prstGeom>
        </p:spPr>
      </p:pic>
    </p:spTree>
    <p:extLst>
      <p:ext uri="{BB962C8B-B14F-4D97-AF65-F5344CB8AC3E}">
        <p14:creationId xmlns:p14="http://schemas.microsoft.com/office/powerpoint/2010/main" val="2409620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a:xfrm>
            <a:off x="2449286" y="365125"/>
            <a:ext cx="8899566"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2449286" y="1825625"/>
            <a:ext cx="8899566" cy="434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0"/>
            <a:ext cx="1520042"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8FB3A93-668A-1CF3-B918-CD631EB4E2C3}"/>
              </a:ext>
            </a:extLst>
          </p:cNvPr>
          <p:cNvPicPr>
            <a:picLocks noChangeAspect="1"/>
          </p:cNvPicPr>
          <p:nvPr userDrawn="1"/>
        </p:nvPicPr>
        <p:blipFill>
          <a:blip r:embed="rId2">
            <a:extLst>
              <a:ext uri="{28A0092B-C50C-407E-A947-70E740481C1C}">
                <a14:useLocalDpi xmlns:a14="http://schemas.microsoft.com/office/drawing/2010/main" val="0"/>
              </a:ext>
            </a:extLst>
          </a:blip>
          <a:srcRect l="25050" r="25049" b="5581"/>
          <a:stretch>
            <a:fillRect/>
          </a:stretch>
        </p:blipFill>
        <p:spPr>
          <a:xfrm>
            <a:off x="0" y="3462836"/>
            <a:ext cx="1520042" cy="3395164"/>
          </a:xfrm>
          <a:prstGeom prst="rect">
            <a:avLst/>
          </a:prstGeom>
        </p:spPr>
      </p:pic>
      <p:pic>
        <p:nvPicPr>
          <p:cNvPr id="18" name="Picture 17">
            <a:extLst>
              <a:ext uri="{FF2B5EF4-FFF2-40B4-BE49-F238E27FC236}">
                <a16:creationId xmlns:a16="http://schemas.microsoft.com/office/drawing/2014/main" id="{849D4793-B10F-8496-76F9-FE0FE36081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364" y="2524382"/>
            <a:ext cx="1353312" cy="252268"/>
          </a:xfrm>
          <a:prstGeom prst="rect">
            <a:avLst/>
          </a:prstGeom>
        </p:spPr>
      </p:pic>
      <p:grpSp>
        <p:nvGrpSpPr>
          <p:cNvPr id="25" name="Group 24">
            <a:extLst>
              <a:ext uri="{FF2B5EF4-FFF2-40B4-BE49-F238E27FC236}">
                <a16:creationId xmlns:a16="http://schemas.microsoft.com/office/drawing/2014/main" id="{6D4AEB14-71E3-97E9-160E-A0BBA1A71054}"/>
              </a:ext>
            </a:extLst>
          </p:cNvPr>
          <p:cNvGrpSpPr/>
          <p:nvPr userDrawn="1"/>
        </p:nvGrpSpPr>
        <p:grpSpPr>
          <a:xfrm>
            <a:off x="82887" y="766440"/>
            <a:ext cx="1354267" cy="964978"/>
            <a:chOff x="10782960" y="633046"/>
            <a:chExt cx="1354267" cy="964978"/>
          </a:xfrm>
        </p:grpSpPr>
        <p:pic>
          <p:nvPicPr>
            <p:cNvPr id="19" name="Picture 18">
              <a:extLst>
                <a:ext uri="{FF2B5EF4-FFF2-40B4-BE49-F238E27FC236}">
                  <a16:creationId xmlns:a16="http://schemas.microsoft.com/office/drawing/2014/main" id="{FFCFB381-6494-A153-C972-3B18E1B8A555}"/>
                </a:ext>
              </a:extLst>
            </p:cNvPr>
            <p:cNvPicPr>
              <a:picLocks noChangeAspect="1"/>
            </p:cNvPicPr>
            <p:nvPr userDrawn="1"/>
          </p:nvPicPr>
          <p:blipFill>
            <a:blip r:embed="rId4">
              <a:extLst>
                <a:ext uri="{28A0092B-C50C-407E-A947-70E740481C1C}">
                  <a14:useLocalDpi xmlns:a14="http://schemas.microsoft.com/office/drawing/2010/main" val="0"/>
                </a:ext>
              </a:extLst>
            </a:blip>
            <a:srcRect r="61498"/>
            <a:stretch>
              <a:fillRect/>
            </a:stretch>
          </p:blipFill>
          <p:spPr>
            <a:xfrm>
              <a:off x="10784059" y="633046"/>
              <a:ext cx="1352069" cy="422367"/>
            </a:xfrm>
            <a:prstGeom prst="rect">
              <a:avLst/>
            </a:prstGeom>
          </p:spPr>
        </p:pic>
        <p:pic>
          <p:nvPicPr>
            <p:cNvPr id="20" name="Picture 19">
              <a:extLst>
                <a:ext uri="{FF2B5EF4-FFF2-40B4-BE49-F238E27FC236}">
                  <a16:creationId xmlns:a16="http://schemas.microsoft.com/office/drawing/2014/main" id="{1B64C24C-DAD1-0F23-28F8-6F5C083DA340}"/>
                </a:ext>
              </a:extLst>
            </p:cNvPr>
            <p:cNvPicPr>
              <a:picLocks noChangeAspect="1"/>
            </p:cNvPicPr>
            <p:nvPr userDrawn="1"/>
          </p:nvPicPr>
          <p:blipFill>
            <a:blip r:embed="rId5">
              <a:extLst>
                <a:ext uri="{28A0092B-C50C-407E-A947-70E740481C1C}">
                  <a14:useLocalDpi xmlns:a14="http://schemas.microsoft.com/office/drawing/2010/main" val="0"/>
                </a:ext>
              </a:extLst>
            </a:blip>
            <a:srcRect l="48564"/>
            <a:stretch>
              <a:fillRect/>
            </a:stretch>
          </p:blipFill>
          <p:spPr>
            <a:xfrm>
              <a:off x="10782960" y="1281349"/>
              <a:ext cx="1354267" cy="316675"/>
            </a:xfrm>
            <a:prstGeom prst="rect">
              <a:avLst/>
            </a:prstGeom>
          </p:spPr>
        </p:pic>
        <p:cxnSp>
          <p:nvCxnSpPr>
            <p:cNvPr id="22" name="Straight Connector 21">
              <a:extLst>
                <a:ext uri="{FF2B5EF4-FFF2-40B4-BE49-F238E27FC236}">
                  <a16:creationId xmlns:a16="http://schemas.microsoft.com/office/drawing/2014/main" id="{A253C4AD-7231-2FE0-A5D7-FAF0BDD46E7C}"/>
                </a:ext>
              </a:extLst>
            </p:cNvPr>
            <p:cNvCxnSpPr>
              <a:cxnSpLocks/>
            </p:cNvCxnSpPr>
            <p:nvPr userDrawn="1"/>
          </p:nvCxnSpPr>
          <p:spPr>
            <a:xfrm>
              <a:off x="10783437" y="1157717"/>
              <a:ext cx="1353312"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02226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A36C3F-FC84-C2F8-4A3E-63120A1D4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F108BF-53B4-57C0-F90D-24E0BD570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66591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161" y="274320"/>
            <a:ext cx="10149840" cy="960120"/>
          </a:xfrm>
        </p:spPr>
        <p:txBody>
          <a:bodyPr wrap="square" anchor="b"/>
          <a:lstStyle/>
          <a:p>
            <a:pPr algn="l"/>
            <a:r>
              <a:rPr sz="2800" b="1">
                <a:solidFill>
                  <a:srgbClr val="191D63"/>
                </a:solidFill>
                <a:latin typeface="Cambria"/>
              </a:rPr>
              <a:t>Can the bodies in view name a vertebra?</a:t>
            </a:r>
          </a:p>
        </p:txBody>
      </p:sp>
      <p:pic>
        <p:nvPicPr>
          <p:cNvPr id="3" name="Figure: exact_slide_view" descr="A field of view: three consecutive vertebral bodies seen, the rest of the column unseen, and no C2 or sacrum to count from. Bodies drawn to Panjabi's mean upper end-plate width, C3 to L5, the tables' range."/>
          <p:cNvPicPr>
            <a:picLocks noChangeAspect="1"/>
          </p:cNvPicPr>
          <p:nvPr/>
        </p:nvPicPr>
        <p:blipFill>
          <a:blip r:embed="rId2"/>
          <a:stretch>
            <a:fillRect/>
          </a:stretch>
        </p:blipFill>
        <p:spPr>
          <a:xfrm>
            <a:off x="1750161" y="1325880"/>
            <a:ext cx="1920240" cy="4434840"/>
          </a:xfrm>
          <a:prstGeom prst="rect">
            <a:avLst/>
          </a:prstGeom>
        </p:spPr>
      </p:pic>
      <p:pic>
        <p:nvPicPr>
          <p:cNvPr id="4" name="Figure: exact_slide_measures" descr="The seven measures each body gives, schematic and not to scale: the AP plane shows the upper and lower end-plate widths and the canal width, the lateral plane the two end-plate depths, the canal depth and the posterior body height, which both planes show."/>
          <p:cNvPicPr>
            <a:picLocks noChangeAspect="1"/>
          </p:cNvPicPr>
          <p:nvPr/>
        </p:nvPicPr>
        <p:blipFill>
          <a:blip r:embed="rId3"/>
          <a:stretch>
            <a:fillRect/>
          </a:stretch>
        </p:blipFill>
        <p:spPr>
          <a:xfrm>
            <a:off x="3758373" y="1417320"/>
            <a:ext cx="3182112" cy="4270248"/>
          </a:xfrm>
          <a:prstGeom prst="rect">
            <a:avLst/>
          </a:prstGeom>
        </p:spPr>
      </p:pic>
      <p:sp>
        <p:nvSpPr>
          <p:cNvPr id="5" name="Text: byline"/>
          <p:cNvSpPr txBox="1"/>
          <p:nvPr/>
        </p:nvSpPr>
        <p:spPr>
          <a:xfrm>
            <a:off x="7147232" y="1325880"/>
            <a:ext cx="4752769" cy="777240"/>
          </a:xfrm>
          <a:prstGeom prst="rect">
            <a:avLst/>
          </a:prstGeom>
          <a:noFill/>
        </p:spPr>
        <p:txBody>
          <a:bodyPr wrap="square" anchor="t" lIns="18288" rIns="18288" tIns="18288" bIns="18288">
            <a:spAutoFit/>
          </a:bodyPr>
          <a:lstStyle/>
          <a:p>
            <a:pPr algn="l">
              <a:spcAft>
                <a:spcPts val="0"/>
              </a:spcAft>
            </a:pPr>
            <a:r>
              <a:rPr sz="1400" b="1" i="0">
                <a:solidFill>
                  <a:srgbClr val="595959"/>
                </a:solidFill>
                <a:latin typeface="Cambria"/>
              </a:rPr>
              <a:t>Gregory Schwing, MD, PhD</a:t>
            </a:r>
          </a:p>
          <a:p>
            <a:pPr algn="l">
              <a:spcAft>
                <a:spcPts val="0"/>
              </a:spcAft>
            </a:pPr>
            <a:r>
              <a:rPr sz="1400" b="0" i="0">
                <a:solidFill>
                  <a:srgbClr val="595959"/>
                </a:solidFill>
                <a:latin typeface="Cambria"/>
              </a:rPr>
              <a:t>General Surgery (Wayne State University School of Medicine /</a:t>
            </a:r>
            <a:br/>
            <a:r>
              <a:rPr sz="1400" b="0" i="0">
                <a:solidFill>
                  <a:srgbClr val="595959"/>
                </a:solidFill>
                <a:latin typeface="Cambria"/>
              </a:rPr>
              <a:t>Detroit Medical Center)</a:t>
            </a:r>
          </a:p>
        </p:txBody>
      </p:sp>
      <p:sp>
        <p:nvSpPr>
          <p:cNvPr id="6" name="Text: question"/>
          <p:cNvSpPr txBox="1"/>
          <p:nvPr/>
        </p:nvSpPr>
        <p:spPr>
          <a:xfrm>
            <a:off x="7147232" y="2286000"/>
            <a:ext cx="4752769" cy="1051560"/>
          </a:xfrm>
          <a:prstGeom prst="rect">
            <a:avLst/>
          </a:prstGeom>
          <a:noFill/>
        </p:spPr>
        <p:txBody>
          <a:bodyPr wrap="square" anchor="t" lIns="18288" rIns="18288" tIns="18288" bIns="18288">
            <a:spAutoFit/>
          </a:bodyPr>
          <a:lstStyle/>
          <a:p>
            <a:pPr algn="l">
              <a:spcAft>
                <a:spcPts val="600"/>
              </a:spcAft>
            </a:pPr>
            <a:r>
              <a:rPr sz="2000" b="0" i="0">
                <a:solidFill>
                  <a:srgbClr val="111111"/>
                </a:solidFill>
                <a:latin typeface="Cambria"/>
              </a:rPr>
              <a:t>A view shows a few consecutive vertebral bodies, often with no C2 or sacrum to count from.</a:t>
            </a:r>
          </a:p>
        </p:txBody>
      </p:sp>
      <p:sp>
        <p:nvSpPr>
          <p:cNvPr id="7" name="Text: unknown"/>
          <p:cNvSpPr txBox="1"/>
          <p:nvPr/>
        </p:nvSpPr>
        <p:spPr>
          <a:xfrm>
            <a:off x="7147232" y="3429000"/>
            <a:ext cx="4752769" cy="777240"/>
          </a:xfrm>
          <a:prstGeom prst="rect">
            <a:avLst/>
          </a:prstGeom>
          <a:noFill/>
        </p:spPr>
        <p:txBody>
          <a:bodyPr wrap="square" anchor="t" lIns="18288" rIns="18288" tIns="18288" bIns="18288">
            <a:spAutoFit/>
          </a:bodyPr>
          <a:lstStyle/>
          <a:p>
            <a:pPr algn="l">
              <a:spcAft>
                <a:spcPts val="600"/>
              </a:spcAft>
            </a:pPr>
            <a:r>
              <a:rPr sz="2000" b="1" i="0">
                <a:solidFill>
                  <a:srgbClr val="191D63"/>
                </a:solidFill>
                <a:latin typeface="Cambria"/>
              </a:rPr>
              <a:t>Seven measures per body. Which levels are in view?</a:t>
            </a:r>
          </a:p>
        </p:txBody>
      </p:sp>
      <p:sp>
        <p:nvSpPr>
          <p:cNvPr id="8" name="Text: data"/>
          <p:cNvSpPr txBox="1"/>
          <p:nvPr/>
        </p:nvSpPr>
        <p:spPr>
          <a:xfrm>
            <a:off x="7147232" y="4389120"/>
            <a:ext cx="4752769" cy="914400"/>
          </a:xfrm>
          <a:prstGeom prst="rect">
            <a:avLst/>
          </a:prstGeom>
          <a:noFill/>
        </p:spPr>
        <p:txBody>
          <a:bodyPr wrap="square" anchor="t" lIns="18288" rIns="18288" tIns="18288" bIns="18288">
            <a:spAutoFit/>
          </a:bodyPr>
          <a:lstStyle/>
          <a:p>
            <a:pPr algn="l">
              <a:spcAft>
                <a:spcPts val="600"/>
              </a:spcAft>
            </a:pPr>
            <a:r>
              <a:rPr sz="1400" b="0" i="0">
                <a:solidFill>
                  <a:srgbClr val="595959"/>
                </a:solidFill>
                <a:latin typeface="Cambria"/>
              </a:rPr>
              <a:t>2,000 synthetic columns drawn from Panjabi's published means and spreads; every field of every column scored, so most rates below are over tens of thousands of fields.</a:t>
            </a:r>
          </a:p>
        </p:txBody>
      </p:sp>
      <p:sp>
        <p:nvSpPr>
          <p:cNvPr id="9" name="Text: footer"/>
          <p:cNvSpPr txBox="1"/>
          <p:nvPr/>
        </p:nvSpPr>
        <p:spPr>
          <a:xfrm>
            <a:off x="1750161" y="6272784"/>
            <a:ext cx="9120631" cy="411480"/>
          </a:xfrm>
          <a:prstGeom prst="rect">
            <a:avLst/>
          </a:prstGeom>
          <a:noFill/>
        </p:spPr>
        <p:txBody>
          <a:bodyPr wrap="square" anchor="t" lIns="18288" rIns="18288" tIns="18288" bIns="18288">
            <a:spAutoFit/>
          </a:bodyPr>
          <a:lstStyle/>
          <a:p>
            <a:pPr algn="l">
              <a:spcAft>
                <a:spcPts val="0"/>
              </a:spcAft>
            </a:pPr>
            <a:r>
              <a:rPr sz="1100" b="0" i="0">
                <a:solidFill>
                  <a:srgbClr val="595959"/>
                </a:solidFill>
                <a:latin typeface="Cambria"/>
              </a:rPr>
              <a:t>Synthetic columns from Panjabi's published tables (Spine 1991;16:861, 888; 1992;17:299); no patient data.</a:t>
            </a:r>
          </a:p>
          <a:p>
            <a:pPr algn="l">
              <a:spcAft>
                <a:spcPts val="0"/>
              </a:spcAft>
            </a:pPr>
            <a:r>
              <a:rPr sz="1100" b="1" i="0">
                <a:solidFill>
                  <a:srgbClr val="111111"/>
                </a:solidFill>
                <a:latin typeface="Cambria"/>
              </a:rPr>
              <a:t>Confidential: pre-filing draft, not for distribution</a:t>
            </a:r>
          </a:p>
        </p:txBody>
      </p:sp>
      <p:sp>
        <p:nvSpPr>
          <p:cNvPr id="10" name="Text: slide number"/>
          <p:cNvSpPr txBox="1"/>
          <p:nvPr/>
        </p:nvSpPr>
        <p:spPr>
          <a:xfrm>
            <a:off x="11063246" y="6272784"/>
            <a:ext cx="836755" cy="274320"/>
          </a:xfrm>
          <a:prstGeom prst="rect">
            <a:avLst/>
          </a:prstGeom>
          <a:noFill/>
        </p:spPr>
        <p:txBody>
          <a:bodyPr wrap="square" anchor="t" lIns="18288" rIns="18288" tIns="18288" bIns="18288">
            <a:spAutoFit/>
          </a:bodyPr>
          <a:lstStyle/>
          <a:p>
            <a:pPr algn="r">
              <a:spcAft>
                <a:spcPts val="0"/>
              </a:spcAft>
            </a:pPr>
            <a:r>
              <a:rPr sz="1100" b="0" i="0">
                <a:solidFill>
                  <a:srgbClr val="595959"/>
                </a:solidFill>
                <a:latin typeface="Cambria"/>
              </a:rPr>
              <a:t>1 / 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161" y="274320"/>
            <a:ext cx="10149840" cy="960120"/>
          </a:xfrm>
        </p:spPr>
        <p:txBody>
          <a:bodyPr wrap="square" anchor="b"/>
          <a:lstStyle/>
          <a:p>
            <a:pPr algn="l"/>
            <a:r>
              <a:rPr sz="2800" b="1">
                <a:solidFill>
                  <a:srgbClr val="191D63"/>
                </a:solidFill>
                <a:latin typeface="Cambria"/>
              </a:rPr>
              <a:t>More bodies in view, more certainty about the level</a:t>
            </a:r>
          </a:p>
        </p:txBody>
      </p:sp>
      <p:sp>
        <p:nvSpPr>
          <p:cNvPr id="3" name="Text: result"/>
          <p:cNvSpPr txBox="1"/>
          <p:nvPr/>
        </p:nvSpPr>
        <p:spPr>
          <a:xfrm>
            <a:off x="1750161" y="1417320"/>
            <a:ext cx="4727666" cy="914400"/>
          </a:xfrm>
          <a:prstGeom prst="rect">
            <a:avLst/>
          </a:prstGeom>
          <a:noFill/>
        </p:spPr>
        <p:txBody>
          <a:bodyPr wrap="square" anchor="t" lIns="18288" rIns="18288" tIns="18288" bIns="18288">
            <a:spAutoFit/>
          </a:bodyPr>
          <a:lstStyle/>
          <a:p>
            <a:pPr algn="l">
              <a:spcAft>
                <a:spcPts val="600"/>
              </a:spcAft>
            </a:pPr>
            <a:r>
              <a:rPr sz="2000" b="0" i="0">
                <a:solidFill>
                  <a:srgbClr val="111111"/>
                </a:solidFill>
                <a:latin typeface="Cambria"/>
              </a:rPr>
              <a:t>Fields centred on T12 in synthetic columns, named exactly:</a:t>
            </a:r>
          </a:p>
        </p:txBody>
      </p:sp>
      <p:sp>
        <p:nvSpPr>
          <p:cNvPr id="4" name="Text: stat T12 1"/>
          <p:cNvSpPr txBox="1"/>
          <p:nvPr/>
        </p:nvSpPr>
        <p:spPr>
          <a:xfrm>
            <a:off x="1750161" y="2331720"/>
            <a:ext cx="4727666" cy="868680"/>
          </a:xfrm>
          <a:prstGeom prst="rect">
            <a:avLst/>
          </a:prstGeom>
          <a:noFill/>
        </p:spPr>
        <p:txBody>
          <a:bodyPr wrap="square" anchor="t" lIns="18288" rIns="18288" tIns="18288" bIns="18288">
            <a:spAutoFit/>
          </a:bodyPr>
          <a:lstStyle/>
          <a:p>
            <a:pPr algn="l">
              <a:lnSpc>
                <a:spcPct val="95000"/>
              </a:lnSpc>
              <a:spcAft>
                <a:spcPts val="100"/>
              </a:spcAft>
            </a:pPr>
            <a:r>
              <a:rPr sz="3600" b="1" i="0">
                <a:solidFill>
                  <a:srgbClr val="1B4F8C"/>
                </a:solidFill>
                <a:latin typeface="Cambria"/>
              </a:rPr>
              <a:t>39%</a:t>
            </a:r>
          </a:p>
          <a:p>
            <a:pPr algn="l">
              <a:lnSpc>
                <a:spcPct val="95000"/>
              </a:lnSpc>
              <a:spcAft>
                <a:spcPts val="100"/>
              </a:spcAft>
            </a:pPr>
            <a:r>
              <a:rPr sz="1600" b="0" i="0">
                <a:solidFill>
                  <a:srgbClr val="111111"/>
                </a:solidFill>
                <a:latin typeface="Cambria"/>
              </a:rPr>
              <a:t>from one body</a:t>
            </a:r>
          </a:p>
        </p:txBody>
      </p:sp>
      <p:sp>
        <p:nvSpPr>
          <p:cNvPr id="5" name="Text: stat T12 3"/>
          <p:cNvSpPr txBox="1"/>
          <p:nvPr/>
        </p:nvSpPr>
        <p:spPr>
          <a:xfrm>
            <a:off x="1750161" y="3246120"/>
            <a:ext cx="4727666" cy="868680"/>
          </a:xfrm>
          <a:prstGeom prst="rect">
            <a:avLst/>
          </a:prstGeom>
          <a:noFill/>
        </p:spPr>
        <p:txBody>
          <a:bodyPr wrap="square" anchor="t" lIns="18288" rIns="18288" tIns="18288" bIns="18288">
            <a:spAutoFit/>
          </a:bodyPr>
          <a:lstStyle/>
          <a:p>
            <a:pPr algn="l">
              <a:lnSpc>
                <a:spcPct val="95000"/>
              </a:lnSpc>
              <a:spcAft>
                <a:spcPts val="100"/>
              </a:spcAft>
            </a:pPr>
            <a:r>
              <a:rPr sz="3600" b="1" i="0">
                <a:solidFill>
                  <a:srgbClr val="1B4F8C"/>
                </a:solidFill>
                <a:latin typeface="Cambria"/>
              </a:rPr>
              <a:t>73%</a:t>
            </a:r>
          </a:p>
          <a:p>
            <a:pPr algn="l">
              <a:lnSpc>
                <a:spcPct val="95000"/>
              </a:lnSpc>
              <a:spcAft>
                <a:spcPts val="100"/>
              </a:spcAft>
            </a:pPr>
            <a:r>
              <a:rPr sz="1600" b="0" i="0">
                <a:solidFill>
                  <a:srgbClr val="111111"/>
                </a:solidFill>
                <a:latin typeface="Cambria"/>
              </a:rPr>
              <a:t>from three bodies</a:t>
            </a:r>
          </a:p>
        </p:txBody>
      </p:sp>
      <p:sp>
        <p:nvSpPr>
          <p:cNvPr id="6" name="Text: stat T12 9"/>
          <p:cNvSpPr txBox="1"/>
          <p:nvPr/>
        </p:nvSpPr>
        <p:spPr>
          <a:xfrm>
            <a:off x="1750161" y="4160520"/>
            <a:ext cx="4727666" cy="868680"/>
          </a:xfrm>
          <a:prstGeom prst="rect">
            <a:avLst/>
          </a:prstGeom>
          <a:noFill/>
        </p:spPr>
        <p:txBody>
          <a:bodyPr wrap="square" anchor="t" lIns="18288" rIns="18288" tIns="18288" bIns="18288">
            <a:spAutoFit/>
          </a:bodyPr>
          <a:lstStyle/>
          <a:p>
            <a:pPr algn="l">
              <a:lnSpc>
                <a:spcPct val="95000"/>
              </a:lnSpc>
              <a:spcAft>
                <a:spcPts val="100"/>
              </a:spcAft>
            </a:pPr>
            <a:r>
              <a:rPr sz="3600" b="1" i="0">
                <a:solidFill>
                  <a:srgbClr val="1B4F8C"/>
                </a:solidFill>
                <a:latin typeface="Cambria"/>
              </a:rPr>
              <a:t>95%</a:t>
            </a:r>
          </a:p>
          <a:p>
            <a:pPr algn="l">
              <a:lnSpc>
                <a:spcPct val="95000"/>
              </a:lnSpc>
              <a:spcAft>
                <a:spcPts val="100"/>
              </a:spcAft>
            </a:pPr>
            <a:r>
              <a:rPr sz="1600" b="0" i="0">
                <a:solidFill>
                  <a:srgbClr val="111111"/>
                </a:solidFill>
                <a:latin typeface="Cambria"/>
              </a:rPr>
              <a:t>from nine bodies</a:t>
            </a:r>
          </a:p>
        </p:txBody>
      </p:sp>
      <p:sp>
        <p:nvSpPr>
          <p:cNvPr id="7" name="Text: ceiling"/>
          <p:cNvSpPr txBox="1"/>
          <p:nvPr/>
        </p:nvSpPr>
        <p:spPr>
          <a:xfrm>
            <a:off x="1750161" y="5166360"/>
            <a:ext cx="4727666" cy="1005840"/>
          </a:xfrm>
          <a:prstGeom prst="rect">
            <a:avLst/>
          </a:prstGeom>
          <a:noFill/>
        </p:spPr>
        <p:txBody>
          <a:bodyPr wrap="square" anchor="t" lIns="18288" rIns="18288" tIns="18288" bIns="18288">
            <a:spAutoFit/>
          </a:bodyPr>
          <a:lstStyle/>
          <a:p>
            <a:pPr algn="l">
              <a:spcAft>
                <a:spcPts val="600"/>
              </a:spcAft>
            </a:pPr>
            <a:r>
              <a:rPr sz="1600" b="0" i="0">
                <a:solidFill>
                  <a:srgbClr val="111111"/>
                </a:solidFill>
                <a:latin typeface="Cambria"/>
              </a:rPr>
              <a:t>No formula or network on these measures names more fields correctly on average.</a:t>
            </a:r>
          </a:p>
        </p:txBody>
      </p:sp>
      <p:pic>
        <p:nvPicPr>
          <p:cNvPr id="8" name="Figure: exact_slide_posterior" descr="Probability of each level for the middle body, every level equally likely before looking, then from one, three and nine bodies centred on T12, for the synthetic column nearest the median of 2,000 at all three widths."/>
          <p:cNvPicPr>
            <a:picLocks noChangeAspect="1"/>
          </p:cNvPicPr>
          <p:nvPr/>
        </p:nvPicPr>
        <p:blipFill>
          <a:blip r:embed="rId2"/>
          <a:stretch>
            <a:fillRect/>
          </a:stretch>
        </p:blipFill>
        <p:spPr>
          <a:xfrm>
            <a:off x="6645179" y="1371600"/>
            <a:ext cx="5276088" cy="4389120"/>
          </a:xfrm>
          <a:prstGeom prst="rect">
            <a:avLst/>
          </a:prstGeom>
        </p:spPr>
      </p:pic>
      <p:sp>
        <p:nvSpPr>
          <p:cNvPr id="9" name="Text: footer"/>
          <p:cNvSpPr txBox="1"/>
          <p:nvPr/>
        </p:nvSpPr>
        <p:spPr>
          <a:xfrm>
            <a:off x="1750161" y="6272784"/>
            <a:ext cx="9120631" cy="411480"/>
          </a:xfrm>
          <a:prstGeom prst="rect">
            <a:avLst/>
          </a:prstGeom>
          <a:noFill/>
        </p:spPr>
        <p:txBody>
          <a:bodyPr wrap="square" anchor="t" lIns="18288" rIns="18288" tIns="18288" bIns="18288">
            <a:spAutoFit/>
          </a:bodyPr>
          <a:lstStyle/>
          <a:p>
            <a:pPr algn="l">
              <a:spcAft>
                <a:spcPts val="0"/>
              </a:spcAft>
            </a:pPr>
            <a:r>
              <a:rPr sz="1100" b="0" i="0">
                <a:solidFill>
                  <a:srgbClr val="595959"/>
                </a:solidFill>
                <a:latin typeface="Cambria"/>
              </a:rPr>
              <a:t>Synthetic columns from Panjabi's published tables (Spine 1991;16:861, 888; 1992;17:299); no patient data.</a:t>
            </a:r>
          </a:p>
          <a:p>
            <a:pPr algn="l">
              <a:spcAft>
                <a:spcPts val="0"/>
              </a:spcAft>
            </a:pPr>
            <a:r>
              <a:rPr sz="1100" b="1" i="0">
                <a:solidFill>
                  <a:srgbClr val="111111"/>
                </a:solidFill>
                <a:latin typeface="Cambria"/>
              </a:rPr>
              <a:t>Confidential: pre-filing draft, not for distribution</a:t>
            </a:r>
          </a:p>
        </p:txBody>
      </p:sp>
      <p:sp>
        <p:nvSpPr>
          <p:cNvPr id="10" name="Text: slide number"/>
          <p:cNvSpPr txBox="1"/>
          <p:nvPr/>
        </p:nvSpPr>
        <p:spPr>
          <a:xfrm>
            <a:off x="11063246" y="6272784"/>
            <a:ext cx="836755" cy="274320"/>
          </a:xfrm>
          <a:prstGeom prst="rect">
            <a:avLst/>
          </a:prstGeom>
          <a:noFill/>
        </p:spPr>
        <p:txBody>
          <a:bodyPr wrap="square" anchor="t" lIns="18288" rIns="18288" tIns="18288" bIns="18288">
            <a:spAutoFit/>
          </a:bodyPr>
          <a:lstStyle/>
          <a:p>
            <a:pPr algn="r">
              <a:spcAft>
                <a:spcPts val="0"/>
              </a:spcAft>
            </a:pPr>
            <a:r>
              <a:rPr sz="1100" b="0" i="0">
                <a:solidFill>
                  <a:srgbClr val="595959"/>
                </a:solidFill>
                <a:latin typeface="Cambria"/>
              </a:rPr>
              <a:t>2 / 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161" y="274320"/>
            <a:ext cx="10149840" cy="960120"/>
          </a:xfrm>
        </p:spPr>
        <p:txBody>
          <a:bodyPr wrap="square" anchor="b"/>
          <a:lstStyle/>
          <a:p>
            <a:pPr algn="l"/>
            <a:r>
              <a:rPr sz="2800" b="1">
                <a:solidFill>
                  <a:srgbClr val="191D63"/>
                </a:solidFill>
                <a:latin typeface="Cambria"/>
              </a:rPr>
              <a:t>Three bodies name 73%; when sure, 99.8% are right</a:t>
            </a:r>
          </a:p>
        </p:txBody>
      </p:sp>
      <p:pic>
        <p:nvPicPr>
          <p:cNvPr id="3" name="Figure: exact_slide_ceiling" descr="Share of fields named exactly (solid) and named at 99% confidence (dashed), both planes, by consecutive bodies in view; crosses, a linear classifier fitted on other synthetic columns, scored on the first 1,000. 2,000 synthetic columns."/>
          <p:cNvPicPr>
            <a:picLocks noChangeAspect="1"/>
          </p:cNvPicPr>
          <p:nvPr/>
        </p:nvPicPr>
        <p:blipFill>
          <a:blip r:embed="rId2"/>
          <a:stretch>
            <a:fillRect/>
          </a:stretch>
        </p:blipFill>
        <p:spPr>
          <a:xfrm>
            <a:off x="1750161" y="1325880"/>
            <a:ext cx="6309360" cy="4297680"/>
          </a:xfrm>
          <a:prstGeom prst="rect">
            <a:avLst/>
          </a:prstGeom>
        </p:spPr>
      </p:pic>
      <p:sp>
        <p:nvSpPr>
          <p:cNvPr id="4" name="Text: stat three bodies"/>
          <p:cNvSpPr txBox="1"/>
          <p:nvPr/>
        </p:nvSpPr>
        <p:spPr>
          <a:xfrm>
            <a:off x="8276851" y="1371600"/>
            <a:ext cx="3598047" cy="1234440"/>
          </a:xfrm>
          <a:prstGeom prst="rect">
            <a:avLst/>
          </a:prstGeom>
          <a:noFill/>
        </p:spPr>
        <p:txBody>
          <a:bodyPr wrap="square" anchor="t" lIns="18288" rIns="18288" tIns="18288" bIns="18288">
            <a:spAutoFit/>
          </a:bodyPr>
          <a:lstStyle/>
          <a:p>
            <a:pPr algn="l">
              <a:lnSpc>
                <a:spcPct val="95000"/>
              </a:lnSpc>
              <a:spcAft>
                <a:spcPts val="100"/>
              </a:spcAft>
            </a:pPr>
            <a:r>
              <a:rPr sz="3600" b="1" i="0">
                <a:solidFill>
                  <a:srgbClr val="1B4F8C"/>
                </a:solidFill>
                <a:latin typeface="Cambria"/>
              </a:rPr>
              <a:t>73%</a:t>
            </a:r>
          </a:p>
          <a:p>
            <a:pPr algn="l">
              <a:lnSpc>
                <a:spcPct val="95000"/>
              </a:lnSpc>
              <a:spcAft>
                <a:spcPts val="100"/>
              </a:spcAft>
            </a:pPr>
            <a:r>
              <a:rPr sz="1400" b="0" i="0">
                <a:solidFill>
                  <a:srgbClr val="111111"/>
                </a:solidFill>
                <a:latin typeface="Cambria"/>
              </a:rPr>
              <a:t>of three-body fields named exactly (a linear classifier: 58.2%; a fitted network: 71.6%)</a:t>
            </a:r>
          </a:p>
        </p:txBody>
      </p:sp>
      <p:sp>
        <p:nvSpPr>
          <p:cNvPr id="5" name="Text: stat precision"/>
          <p:cNvSpPr txBox="1"/>
          <p:nvPr/>
        </p:nvSpPr>
        <p:spPr>
          <a:xfrm>
            <a:off x="8276851" y="2651760"/>
            <a:ext cx="3598047" cy="1234440"/>
          </a:xfrm>
          <a:prstGeom prst="rect">
            <a:avLst/>
          </a:prstGeom>
          <a:noFill/>
        </p:spPr>
        <p:txBody>
          <a:bodyPr wrap="square" anchor="t" lIns="18288" rIns="18288" tIns="18288" bIns="18288">
            <a:spAutoFit/>
          </a:bodyPr>
          <a:lstStyle/>
          <a:p>
            <a:pPr algn="l">
              <a:lnSpc>
                <a:spcPct val="95000"/>
              </a:lnSpc>
              <a:spcAft>
                <a:spcPts val="100"/>
              </a:spcAft>
            </a:pPr>
            <a:r>
              <a:rPr sz="3600" b="1" i="0">
                <a:solidFill>
                  <a:srgbClr val="1B4F8C"/>
                </a:solidFill>
                <a:latin typeface="Cambria"/>
              </a:rPr>
              <a:t>99.8%</a:t>
            </a:r>
          </a:p>
          <a:p>
            <a:pPr algn="l">
              <a:lnSpc>
                <a:spcPct val="95000"/>
              </a:lnSpc>
              <a:spcAft>
                <a:spcPts val="100"/>
              </a:spcAft>
            </a:pPr>
            <a:r>
              <a:rPr sz="1400" b="0" i="0">
                <a:solidFill>
                  <a:srgbClr val="111111"/>
                </a:solidFill>
                <a:latin typeface="Cambria"/>
              </a:rPr>
              <a:t>of three-body names given at 99% confidence right (15 wrong of 6,848; named for 17% of fields)</a:t>
            </a:r>
          </a:p>
        </p:txBody>
      </p:sp>
      <p:sp>
        <p:nvSpPr>
          <p:cNvPr id="6" name="Text: stat nine bodies"/>
          <p:cNvSpPr txBox="1"/>
          <p:nvPr/>
        </p:nvSpPr>
        <p:spPr>
          <a:xfrm>
            <a:off x="8276851" y="3931920"/>
            <a:ext cx="3598047" cy="822960"/>
          </a:xfrm>
          <a:prstGeom prst="rect">
            <a:avLst/>
          </a:prstGeom>
          <a:noFill/>
        </p:spPr>
        <p:txBody>
          <a:bodyPr wrap="square" anchor="t" lIns="18288" rIns="18288" tIns="18288" bIns="18288">
            <a:spAutoFit/>
          </a:bodyPr>
          <a:lstStyle/>
          <a:p>
            <a:pPr algn="l">
              <a:lnSpc>
                <a:spcPct val="95000"/>
              </a:lnSpc>
              <a:spcAft>
                <a:spcPts val="100"/>
              </a:spcAft>
            </a:pPr>
            <a:r>
              <a:rPr sz="3600" b="1" i="0">
                <a:solidFill>
                  <a:srgbClr val="1B4F8C"/>
                </a:solidFill>
                <a:latin typeface="Cambria"/>
              </a:rPr>
              <a:t>96%</a:t>
            </a:r>
          </a:p>
          <a:p>
            <a:pPr algn="l">
              <a:lnSpc>
                <a:spcPct val="95000"/>
              </a:lnSpc>
              <a:spcAft>
                <a:spcPts val="100"/>
              </a:spcAft>
            </a:pPr>
            <a:r>
              <a:rPr sz="1400" b="0" i="0">
                <a:solidFill>
                  <a:srgbClr val="111111"/>
                </a:solidFill>
                <a:latin typeface="Cambria"/>
              </a:rPr>
              <a:t>named exactly from nine bodies</a:t>
            </a:r>
          </a:p>
        </p:txBody>
      </p:sp>
      <p:sp>
        <p:nvSpPr>
          <p:cNvPr id="7" name="Text: result"/>
          <p:cNvSpPr txBox="1"/>
          <p:nvPr/>
        </p:nvSpPr>
        <p:spPr>
          <a:xfrm>
            <a:off x="8276851" y="4846320"/>
            <a:ext cx="3598047" cy="1280160"/>
          </a:xfrm>
          <a:prstGeom prst="rect">
            <a:avLst/>
          </a:prstGeom>
          <a:noFill/>
        </p:spPr>
        <p:txBody>
          <a:bodyPr wrap="square" anchor="t" lIns="18288" rIns="18288" tIns="18288" bIns="18288">
            <a:spAutoFit/>
          </a:bodyPr>
          <a:lstStyle/>
          <a:p>
            <a:pPr algn="l">
              <a:spcAft>
                <a:spcPts val="600"/>
              </a:spcAft>
            </a:pPr>
            <a:r>
              <a:rPr sz="1400" b="0" i="0">
                <a:solidFill>
                  <a:srgbClr val="111111"/>
                </a:solidFill>
                <a:latin typeface="Cambria"/>
              </a:rPr>
              <a:t>Named only at 99% confidence, it was right 99.7% or more of the time at every number of bodies in view, from 1 to 22, on synthetic columns.</a:t>
            </a:r>
          </a:p>
        </p:txBody>
      </p:sp>
      <p:sp>
        <p:nvSpPr>
          <p:cNvPr id="8" name="Text: footer"/>
          <p:cNvSpPr txBox="1"/>
          <p:nvPr/>
        </p:nvSpPr>
        <p:spPr>
          <a:xfrm>
            <a:off x="1750161" y="6272784"/>
            <a:ext cx="9120631" cy="411480"/>
          </a:xfrm>
          <a:prstGeom prst="rect">
            <a:avLst/>
          </a:prstGeom>
          <a:noFill/>
        </p:spPr>
        <p:txBody>
          <a:bodyPr wrap="square" anchor="t" lIns="18288" rIns="18288" tIns="18288" bIns="18288">
            <a:spAutoFit/>
          </a:bodyPr>
          <a:lstStyle/>
          <a:p>
            <a:pPr algn="l">
              <a:spcAft>
                <a:spcPts val="0"/>
              </a:spcAft>
            </a:pPr>
            <a:r>
              <a:rPr sz="1100" b="0" i="0">
                <a:solidFill>
                  <a:srgbClr val="595959"/>
                </a:solidFill>
                <a:latin typeface="Cambria"/>
              </a:rPr>
              <a:t>Synthetic columns from Panjabi's published tables (Spine 1991;16:861, 888; 1992;17:299); no patient data.</a:t>
            </a:r>
          </a:p>
          <a:p>
            <a:pPr algn="l">
              <a:spcAft>
                <a:spcPts val="0"/>
              </a:spcAft>
            </a:pPr>
            <a:r>
              <a:rPr sz="1100" b="1" i="0">
                <a:solidFill>
                  <a:srgbClr val="111111"/>
                </a:solidFill>
                <a:latin typeface="Cambria"/>
              </a:rPr>
              <a:t>Confidential: pre-filing draft, not for distribution</a:t>
            </a:r>
          </a:p>
        </p:txBody>
      </p:sp>
      <p:sp>
        <p:nvSpPr>
          <p:cNvPr id="9" name="Text: slide number"/>
          <p:cNvSpPr txBox="1"/>
          <p:nvPr/>
        </p:nvSpPr>
        <p:spPr>
          <a:xfrm>
            <a:off x="11063246" y="6272784"/>
            <a:ext cx="836755" cy="274320"/>
          </a:xfrm>
          <a:prstGeom prst="rect">
            <a:avLst/>
          </a:prstGeom>
          <a:noFill/>
        </p:spPr>
        <p:txBody>
          <a:bodyPr wrap="square" anchor="t" lIns="18288" rIns="18288" tIns="18288" bIns="18288">
            <a:spAutoFit/>
          </a:bodyPr>
          <a:lstStyle/>
          <a:p>
            <a:pPr algn="r">
              <a:spcAft>
                <a:spcPts val="0"/>
              </a:spcAft>
            </a:pPr>
            <a:r>
              <a:rPr sz="1100" b="0" i="0">
                <a:solidFill>
                  <a:srgbClr val="595959"/>
                </a:solidFill>
                <a:latin typeface="Cambria"/>
              </a:rPr>
              <a:t>3 /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161" y="274320"/>
            <a:ext cx="10149840" cy="960120"/>
          </a:xfrm>
        </p:spPr>
        <p:txBody>
          <a:bodyPr wrap="square" anchor="b"/>
          <a:lstStyle/>
          <a:p>
            <a:pPr algn="l"/>
            <a:r>
              <a:rPr sz="2800" b="1">
                <a:solidFill>
                  <a:srgbClr val="191D63"/>
                </a:solidFill>
                <a:latin typeface="Cambria"/>
              </a:rPr>
              <a:t>One body tells its region and its side of C7/T1, rarely of T12/L1</a:t>
            </a:r>
          </a:p>
        </p:txBody>
      </p:sp>
      <p:pic>
        <p:nvPicPr>
          <p:cNvPr id="3" name="Figure: exact_slide_claims" descr="What a field says for certain about its middle body: at each border, the share of fields whose middle body lies within two levels of it that say which side at 99% confidence, by bodies in view, both planes. 2,000 synthetic columns."/>
          <p:cNvPicPr>
            <a:picLocks noChangeAspect="1"/>
          </p:cNvPicPr>
          <p:nvPr/>
        </p:nvPicPr>
        <p:blipFill>
          <a:blip r:embed="rId2"/>
          <a:stretch>
            <a:fillRect/>
          </a:stretch>
        </p:blipFill>
        <p:spPr>
          <a:xfrm>
            <a:off x="1750161" y="1325880"/>
            <a:ext cx="4562856" cy="4434840"/>
          </a:xfrm>
          <a:prstGeom prst="rect">
            <a:avLst/>
          </a:prstGeom>
        </p:spPr>
      </p:pic>
      <p:sp>
        <p:nvSpPr>
          <p:cNvPr id="4" name="Text: claim rule"/>
          <p:cNvSpPr txBox="1"/>
          <p:nvPr/>
        </p:nvSpPr>
        <p:spPr>
          <a:xfrm>
            <a:off x="6477828" y="1417320"/>
            <a:ext cx="5422173" cy="1280160"/>
          </a:xfrm>
          <a:prstGeom prst="rect">
            <a:avLst/>
          </a:prstGeom>
          <a:noFill/>
        </p:spPr>
        <p:txBody>
          <a:bodyPr wrap="square" anchor="t" lIns="18288" rIns="18288" tIns="18288" bIns="18288">
            <a:spAutoFit/>
          </a:bodyPr>
          <a:lstStyle/>
          <a:p>
            <a:pPr algn="l">
              <a:spcAft>
                <a:spcPts val="600"/>
              </a:spcAft>
            </a:pPr>
            <a:r>
              <a:rPr sz="1500" b="0" i="0">
                <a:solidFill>
                  <a:srgbClr val="111111"/>
                </a:solidFill>
                <a:latin typeface="Cambria"/>
              </a:rPr>
              <a:t>Claims made at 99% confidence are right at least 99% of the time over all fields (T12/L1 from one body: 99.96%, 13 wrong of 30,943). The rates below are for bodies within two levels of a border, chosen by their true level, where a claim can fall short.</a:t>
            </a:r>
          </a:p>
        </p:txBody>
      </p:sp>
      <p:sp>
        <p:nvSpPr>
          <p:cNvPr id="5" name="Text: stat C7/T1"/>
          <p:cNvSpPr txBox="1"/>
          <p:nvPr/>
        </p:nvSpPr>
        <p:spPr>
          <a:xfrm>
            <a:off x="6477828" y="2788920"/>
            <a:ext cx="2593940" cy="1325880"/>
          </a:xfrm>
          <a:prstGeom prst="rect">
            <a:avLst/>
          </a:prstGeom>
          <a:noFill/>
        </p:spPr>
        <p:txBody>
          <a:bodyPr wrap="square" anchor="t" lIns="18288" rIns="18288" tIns="18288" bIns="18288">
            <a:spAutoFit/>
          </a:bodyPr>
          <a:lstStyle/>
          <a:p>
            <a:pPr algn="l">
              <a:lnSpc>
                <a:spcPct val="95000"/>
              </a:lnSpc>
              <a:spcAft>
                <a:spcPts val="100"/>
              </a:spcAft>
            </a:pPr>
            <a:r>
              <a:rPr sz="3600" b="1" i="0">
                <a:solidFill>
                  <a:srgbClr val="1B4F8C"/>
                </a:solidFill>
                <a:latin typeface="Cambria"/>
              </a:rPr>
              <a:t>56%</a:t>
            </a:r>
          </a:p>
          <a:p>
            <a:pPr algn="l">
              <a:lnSpc>
                <a:spcPct val="95000"/>
              </a:lnSpc>
              <a:spcAft>
                <a:spcPts val="100"/>
              </a:spcAft>
            </a:pPr>
            <a:r>
              <a:rPr sz="1400" b="0" i="0">
                <a:solidFill>
                  <a:srgbClr val="111111"/>
                </a:solidFill>
                <a:latin typeface="Cambria"/>
              </a:rPr>
              <a:t>of single bodies within two levels of C7/T1 say which side; right 99.8% (7 wrong of 4,514)</a:t>
            </a:r>
          </a:p>
        </p:txBody>
      </p:sp>
      <p:sp>
        <p:nvSpPr>
          <p:cNvPr id="6" name="Text: stat T12/L1"/>
          <p:cNvSpPr txBox="1"/>
          <p:nvPr/>
        </p:nvSpPr>
        <p:spPr>
          <a:xfrm>
            <a:off x="9306060" y="2788920"/>
            <a:ext cx="2593940" cy="1325880"/>
          </a:xfrm>
          <a:prstGeom prst="rect">
            <a:avLst/>
          </a:prstGeom>
          <a:noFill/>
        </p:spPr>
        <p:txBody>
          <a:bodyPr wrap="square" anchor="t" lIns="18288" rIns="18288" tIns="18288" bIns="18288">
            <a:spAutoFit/>
          </a:bodyPr>
          <a:lstStyle/>
          <a:p>
            <a:pPr algn="l">
              <a:lnSpc>
                <a:spcPct val="95000"/>
              </a:lnSpc>
              <a:spcAft>
                <a:spcPts val="100"/>
              </a:spcAft>
            </a:pPr>
            <a:r>
              <a:rPr sz="3600" b="1" i="0">
                <a:solidFill>
                  <a:srgbClr val="1B4F8C"/>
                </a:solidFill>
                <a:latin typeface="Cambria"/>
              </a:rPr>
              <a:t>7%</a:t>
            </a:r>
          </a:p>
          <a:p>
            <a:pPr algn="l">
              <a:lnSpc>
                <a:spcPct val="95000"/>
              </a:lnSpc>
              <a:spcAft>
                <a:spcPts val="100"/>
              </a:spcAft>
            </a:pPr>
            <a:r>
              <a:rPr sz="1400" b="0" i="0">
                <a:solidFill>
                  <a:srgbClr val="111111"/>
                </a:solidFill>
                <a:latin typeface="Cambria"/>
              </a:rPr>
              <a:t>of single bodies within two levels of T12/L1 say which side; right </a:t>
            </a:r>
            <a:r>
              <a:rPr sz="1400" b="1" i="0">
                <a:solidFill>
                  <a:srgbClr val="A4262C"/>
                </a:solidFill>
                <a:latin typeface="Cambria"/>
              </a:rPr>
              <a:t>97.9% (12 wrong of 568), short of 99%</a:t>
            </a:r>
          </a:p>
        </p:txBody>
      </p:sp>
      <p:sp>
        <p:nvSpPr>
          <p:cNvPr id="7" name="Text: stat region"/>
          <p:cNvSpPr txBox="1"/>
          <p:nvPr/>
        </p:nvSpPr>
        <p:spPr>
          <a:xfrm>
            <a:off x="6477828" y="4206240"/>
            <a:ext cx="2593940" cy="1325880"/>
          </a:xfrm>
          <a:prstGeom prst="rect">
            <a:avLst/>
          </a:prstGeom>
          <a:noFill/>
        </p:spPr>
        <p:txBody>
          <a:bodyPr wrap="square" anchor="t" lIns="18288" rIns="18288" tIns="18288" bIns="18288">
            <a:spAutoFit/>
          </a:bodyPr>
          <a:lstStyle/>
          <a:p>
            <a:pPr algn="l">
              <a:lnSpc>
                <a:spcPct val="95000"/>
              </a:lnSpc>
              <a:spcAft>
                <a:spcPts val="100"/>
              </a:spcAft>
            </a:pPr>
            <a:r>
              <a:rPr sz="3600" b="1" i="0">
                <a:solidFill>
                  <a:srgbClr val="1B4F8C"/>
                </a:solidFill>
                <a:latin typeface="Cambria"/>
              </a:rPr>
              <a:t>61%</a:t>
            </a:r>
          </a:p>
          <a:p>
            <a:pPr algn="l">
              <a:lnSpc>
                <a:spcPct val="95000"/>
              </a:lnSpc>
              <a:spcAft>
                <a:spcPts val="100"/>
              </a:spcAft>
            </a:pPr>
            <a:r>
              <a:rPr sz="1400" b="0" i="0">
                <a:solidFill>
                  <a:srgbClr val="111111"/>
                </a:solidFill>
                <a:latin typeface="Cambria"/>
              </a:rPr>
              <a:t>of single bodies say their region; right 99.9% (21 wrong of 26,786), only 2 of them far from both junctions</a:t>
            </a:r>
          </a:p>
        </p:txBody>
      </p:sp>
      <p:sp>
        <p:nvSpPr>
          <p:cNvPr id="8" name="Text: stat nine bodies"/>
          <p:cNvSpPr txBox="1"/>
          <p:nvPr/>
        </p:nvSpPr>
        <p:spPr>
          <a:xfrm>
            <a:off x="9306060" y="4206240"/>
            <a:ext cx="2593940" cy="1325880"/>
          </a:xfrm>
          <a:prstGeom prst="rect">
            <a:avLst/>
          </a:prstGeom>
          <a:noFill/>
        </p:spPr>
        <p:txBody>
          <a:bodyPr wrap="square" anchor="t" lIns="18288" rIns="18288" tIns="18288" bIns="18288">
            <a:spAutoFit/>
          </a:bodyPr>
          <a:lstStyle/>
          <a:p>
            <a:pPr algn="l">
              <a:lnSpc>
                <a:spcPct val="95000"/>
              </a:lnSpc>
              <a:spcAft>
                <a:spcPts val="100"/>
              </a:spcAft>
            </a:pPr>
            <a:r>
              <a:rPr sz="3600" b="1" i="0">
                <a:solidFill>
                  <a:srgbClr val="1B4F8C"/>
                </a:solidFill>
                <a:latin typeface="Cambria"/>
              </a:rPr>
              <a:t>88%</a:t>
            </a:r>
          </a:p>
          <a:p>
            <a:pPr algn="l">
              <a:lnSpc>
                <a:spcPct val="95000"/>
              </a:lnSpc>
              <a:spcAft>
                <a:spcPts val="100"/>
              </a:spcAft>
            </a:pPr>
            <a:r>
              <a:rPr sz="1400" b="0" i="0">
                <a:solidFill>
                  <a:srgbClr val="111111"/>
                </a:solidFill>
                <a:latin typeface="Cambria"/>
              </a:rPr>
              <a:t>of fields with middle body T11 to L1 say which side of T12/L1 from nine bodies (1 wrong of 5,279)</a:t>
            </a:r>
          </a:p>
        </p:txBody>
      </p:sp>
      <p:sp>
        <p:nvSpPr>
          <p:cNvPr id="9" name="Text: footer"/>
          <p:cNvSpPr txBox="1"/>
          <p:nvPr/>
        </p:nvSpPr>
        <p:spPr>
          <a:xfrm>
            <a:off x="1750161" y="6272784"/>
            <a:ext cx="9120631" cy="411480"/>
          </a:xfrm>
          <a:prstGeom prst="rect">
            <a:avLst/>
          </a:prstGeom>
          <a:noFill/>
        </p:spPr>
        <p:txBody>
          <a:bodyPr wrap="square" anchor="t" lIns="18288" rIns="18288" tIns="18288" bIns="18288">
            <a:spAutoFit/>
          </a:bodyPr>
          <a:lstStyle/>
          <a:p>
            <a:pPr algn="l">
              <a:spcAft>
                <a:spcPts val="0"/>
              </a:spcAft>
            </a:pPr>
            <a:r>
              <a:rPr sz="1100" b="0" i="0">
                <a:solidFill>
                  <a:srgbClr val="595959"/>
                </a:solidFill>
                <a:latin typeface="Cambria"/>
              </a:rPr>
              <a:t>Synthetic columns from Panjabi's published tables (Spine 1991;16:861, 888; 1992;17:299); no patient data.</a:t>
            </a:r>
          </a:p>
          <a:p>
            <a:pPr algn="l">
              <a:spcAft>
                <a:spcPts val="0"/>
              </a:spcAft>
            </a:pPr>
            <a:r>
              <a:rPr sz="1100" b="1" i="0">
                <a:solidFill>
                  <a:srgbClr val="111111"/>
                </a:solidFill>
                <a:latin typeface="Cambria"/>
              </a:rPr>
              <a:t>Confidential: pre-filing draft, not for distribution</a:t>
            </a:r>
          </a:p>
        </p:txBody>
      </p:sp>
      <p:sp>
        <p:nvSpPr>
          <p:cNvPr id="10" name="Text: slide number"/>
          <p:cNvSpPr txBox="1"/>
          <p:nvPr/>
        </p:nvSpPr>
        <p:spPr>
          <a:xfrm>
            <a:off x="11063246" y="6272784"/>
            <a:ext cx="836755" cy="274320"/>
          </a:xfrm>
          <a:prstGeom prst="rect">
            <a:avLst/>
          </a:prstGeom>
          <a:noFill/>
        </p:spPr>
        <p:txBody>
          <a:bodyPr wrap="square" anchor="t" lIns="18288" rIns="18288" tIns="18288" bIns="18288">
            <a:spAutoFit/>
          </a:bodyPr>
          <a:lstStyle/>
          <a:p>
            <a:pPr algn="r">
              <a:spcAft>
                <a:spcPts val="0"/>
              </a:spcAft>
            </a:pPr>
            <a:r>
              <a:rPr sz="1100" b="0" i="0">
                <a:solidFill>
                  <a:srgbClr val="595959"/>
                </a:solidFill>
                <a:latin typeface="Cambria"/>
              </a:rPr>
              <a:t>4 / 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161" y="274320"/>
            <a:ext cx="10149840" cy="960120"/>
          </a:xfrm>
        </p:spPr>
        <p:txBody>
          <a:bodyPr wrap="square" anchor="b"/>
          <a:lstStyle/>
          <a:p>
            <a:pPr algn="l"/>
            <a:r>
              <a:rPr sz="2800" b="1">
                <a:solidFill>
                  <a:srgbClr val="191D63"/>
                </a:solidFill>
                <a:latin typeface="Cambria"/>
              </a:rPr>
              <a:t>The weak point is the table, not the mathematics</a:t>
            </a:r>
          </a:p>
        </p:txBody>
      </p:sp>
      <p:pic>
        <p:nvPicPr>
          <p:cNvPr id="3" name="Figure: exact_slide_robust" descr="When the anatomy table or the measurement error is wrong, three bodies, both planes: how often a name given at 99% confidence is right (A) and the share named (B), printed table and a corrected rule, on separate synthetic columns. Bars, two standard errors; dotted, 99 per cent."/>
          <p:cNvPicPr>
            <a:picLocks noChangeAspect="1"/>
          </p:cNvPicPr>
          <p:nvPr/>
        </p:nvPicPr>
        <p:blipFill>
          <a:blip r:embed="rId2"/>
          <a:stretch>
            <a:fillRect/>
          </a:stretch>
        </p:blipFill>
        <p:spPr>
          <a:xfrm>
            <a:off x="1750161" y="1371600"/>
            <a:ext cx="6190488" cy="3346704"/>
          </a:xfrm>
          <a:prstGeom prst="rect">
            <a:avLst/>
          </a:prstGeom>
        </p:spPr>
      </p:pic>
      <p:sp>
        <p:nvSpPr>
          <p:cNvPr id="4" name="Text: stat twelve spines"/>
          <p:cNvSpPr txBox="1"/>
          <p:nvPr/>
        </p:nvSpPr>
        <p:spPr>
          <a:xfrm>
            <a:off x="8109500" y="1371600"/>
            <a:ext cx="3790500" cy="1188720"/>
          </a:xfrm>
          <a:prstGeom prst="rect">
            <a:avLst/>
          </a:prstGeom>
          <a:noFill/>
        </p:spPr>
        <p:txBody>
          <a:bodyPr wrap="square" anchor="t" lIns="18288" rIns="18288" tIns="18288" bIns="18288">
            <a:spAutoFit/>
          </a:bodyPr>
          <a:lstStyle/>
          <a:p>
            <a:pPr algn="l">
              <a:lnSpc>
                <a:spcPct val="95000"/>
              </a:lnSpc>
              <a:spcAft>
                <a:spcPts val="100"/>
              </a:spcAft>
            </a:pPr>
            <a:r>
              <a:rPr sz="3600" b="1" i="0">
                <a:solidFill>
                  <a:srgbClr val="A4262C"/>
                </a:solidFill>
                <a:latin typeface="Cambria"/>
              </a:rPr>
              <a:t>95.5%</a:t>
            </a:r>
          </a:p>
          <a:p>
            <a:pPr algn="l">
              <a:lnSpc>
                <a:spcPct val="95000"/>
              </a:lnSpc>
              <a:spcAft>
                <a:spcPts val="100"/>
              </a:spcAft>
            </a:pPr>
            <a:r>
              <a:rPr sz="1400" b="0" i="0">
                <a:solidFill>
                  <a:srgbClr val="111111"/>
                </a:solidFill>
                <a:latin typeface="Cambria"/>
              </a:rPr>
              <a:t>of three-body names at 99% confidence right when the rule's table is estimated from 12 spines, as Panjabi's tables are</a:t>
            </a:r>
          </a:p>
        </p:txBody>
      </p:sp>
      <p:sp>
        <p:nvSpPr>
          <p:cNvPr id="5" name="Text: stat widened"/>
          <p:cNvSpPr txBox="1"/>
          <p:nvPr/>
        </p:nvSpPr>
        <p:spPr>
          <a:xfrm>
            <a:off x="8109500" y="2651760"/>
            <a:ext cx="3790500" cy="1463040"/>
          </a:xfrm>
          <a:prstGeom prst="rect">
            <a:avLst/>
          </a:prstGeom>
          <a:noFill/>
        </p:spPr>
        <p:txBody>
          <a:bodyPr wrap="square" anchor="t" lIns="18288" rIns="18288" tIns="18288" bIns="18288">
            <a:spAutoFit/>
          </a:bodyPr>
          <a:lstStyle/>
          <a:p>
            <a:pPr algn="l">
              <a:lnSpc>
                <a:spcPct val="95000"/>
              </a:lnSpc>
              <a:spcAft>
                <a:spcPts val="100"/>
              </a:spcAft>
            </a:pPr>
            <a:r>
              <a:rPr sz="3600" b="1" i="0">
                <a:solidFill>
                  <a:srgbClr val="111111"/>
                </a:solidFill>
                <a:latin typeface="Cambria"/>
              </a:rPr>
              <a:t>99.3%</a:t>
            </a:r>
          </a:p>
          <a:p>
            <a:pPr algn="l">
              <a:lnSpc>
                <a:spcPct val="95000"/>
              </a:lnSpc>
              <a:spcAft>
                <a:spcPts val="100"/>
              </a:spcAft>
            </a:pPr>
            <a:r>
              <a:rPr sz="1400" b="0" i="0">
                <a:solidFill>
                  <a:srgbClr val="111111"/>
                </a:solidFill>
                <a:latin typeface="Cambria"/>
              </a:rPr>
              <a:t>with a corrected rule, its one setting chosen on a separate pilot, but 5.5% of fields named, not 19.5%, and lumbar names right 96.7% (8 wrong of 246)</a:t>
            </a:r>
          </a:p>
        </p:txBody>
      </p:sp>
      <p:sp>
        <p:nvSpPr>
          <p:cNvPr id="6" name="Text: next"/>
          <p:cNvSpPr txBox="1"/>
          <p:nvPr/>
        </p:nvSpPr>
        <p:spPr>
          <a:xfrm>
            <a:off x="1750161" y="5257800"/>
            <a:ext cx="10149840" cy="822960"/>
          </a:xfrm>
          <a:prstGeom prst="rect">
            <a:avLst/>
          </a:prstGeom>
          <a:noFill/>
        </p:spPr>
        <p:txBody>
          <a:bodyPr wrap="square" anchor="t" lIns="18288" rIns="18288" tIns="18288" bIns="18288">
            <a:spAutoFit/>
          </a:bodyPr>
          <a:lstStyle/>
          <a:p>
            <a:pPr algn="l">
              <a:spcAft>
                <a:spcPts val="600"/>
              </a:spcAft>
            </a:pPr>
            <a:r>
              <a:rPr sz="1600" b="1" i="0">
                <a:solidFill>
                  <a:srgbClr val="111111"/>
                </a:solidFill>
                <a:latin typeface="Cambria"/>
              </a:rPr>
              <a:t>Next: </a:t>
            </a:r>
            <a:r>
              <a:rPr sz="1600" b="0" i="0">
                <a:solidFill>
                  <a:srgbClr val="111111"/>
                </a:solidFill>
                <a:latin typeface="Cambria"/>
              </a:rPr>
              <a:t>test the rule on real full-spine CT.</a:t>
            </a:r>
          </a:p>
        </p:txBody>
      </p:sp>
      <p:sp>
        <p:nvSpPr>
          <p:cNvPr id="7" name="Text: footer"/>
          <p:cNvSpPr txBox="1"/>
          <p:nvPr/>
        </p:nvSpPr>
        <p:spPr>
          <a:xfrm>
            <a:off x="1750161" y="6272784"/>
            <a:ext cx="9120631" cy="411480"/>
          </a:xfrm>
          <a:prstGeom prst="rect">
            <a:avLst/>
          </a:prstGeom>
          <a:noFill/>
        </p:spPr>
        <p:txBody>
          <a:bodyPr wrap="square" anchor="t" lIns="18288" rIns="18288" tIns="18288" bIns="18288">
            <a:spAutoFit/>
          </a:bodyPr>
          <a:lstStyle/>
          <a:p>
            <a:pPr algn="l">
              <a:spcAft>
                <a:spcPts val="0"/>
              </a:spcAft>
            </a:pPr>
            <a:r>
              <a:rPr sz="1100" b="0" i="0">
                <a:solidFill>
                  <a:srgbClr val="595959"/>
                </a:solidFill>
                <a:latin typeface="Cambria"/>
              </a:rPr>
              <a:t>Synthetic columns from Panjabi's published tables (Spine 1991;16:861, 888; 1992;17:299); no patient data.</a:t>
            </a:r>
          </a:p>
          <a:p>
            <a:pPr algn="l">
              <a:spcAft>
                <a:spcPts val="0"/>
              </a:spcAft>
            </a:pPr>
            <a:r>
              <a:rPr sz="1100" b="1" i="0">
                <a:solidFill>
                  <a:srgbClr val="111111"/>
                </a:solidFill>
                <a:latin typeface="Cambria"/>
              </a:rPr>
              <a:t>Confidential: pre-filing draft, not for distribution</a:t>
            </a:r>
          </a:p>
        </p:txBody>
      </p:sp>
      <p:sp>
        <p:nvSpPr>
          <p:cNvPr id="8" name="Text: slide number"/>
          <p:cNvSpPr txBox="1"/>
          <p:nvPr/>
        </p:nvSpPr>
        <p:spPr>
          <a:xfrm>
            <a:off x="11063246" y="6272784"/>
            <a:ext cx="836755" cy="274320"/>
          </a:xfrm>
          <a:prstGeom prst="rect">
            <a:avLst/>
          </a:prstGeom>
          <a:noFill/>
        </p:spPr>
        <p:txBody>
          <a:bodyPr wrap="square" anchor="t" lIns="18288" rIns="18288" tIns="18288" bIns="18288">
            <a:spAutoFit/>
          </a:bodyPr>
          <a:lstStyle/>
          <a:p>
            <a:pPr algn="r">
              <a:spcAft>
                <a:spcPts val="0"/>
              </a:spcAft>
            </a:pPr>
            <a:r>
              <a:rPr sz="1100" b="0" i="0">
                <a:solidFill>
                  <a:srgbClr val="595959"/>
                </a:solidFill>
                <a:latin typeface="Cambria"/>
              </a:rPr>
              <a:t>5 / 5</a:t>
            </a:r>
          </a:p>
        </p:txBody>
      </p:sp>
    </p:spTree>
  </p:cSld>
  <p:clrMapOvr>
    <a:masterClrMapping/>
  </p:clrMapOvr>
</p:sld>
</file>

<file path=ppt/theme/theme1.xml><?xml version="1.0" encoding="utf-8"?>
<a:theme xmlns:a="http://schemas.openxmlformats.org/drawingml/2006/main" name="Office Theme">
  <a:themeElements>
    <a:clrScheme name="CNS AM 2026">
      <a:dk1>
        <a:srgbClr val="191D63"/>
      </a:dk1>
      <a:lt1>
        <a:sysClr val="window" lastClr="FFFFFF"/>
      </a:lt1>
      <a:dk2>
        <a:srgbClr val="191D63"/>
      </a:dk2>
      <a:lt2>
        <a:srgbClr val="E6E6E5"/>
      </a:lt2>
      <a:accent1>
        <a:srgbClr val="FFC42F"/>
      </a:accent1>
      <a:accent2>
        <a:srgbClr val="EF4627"/>
      </a:accent2>
      <a:accent3>
        <a:srgbClr val="61BB46"/>
      </a:accent3>
      <a:accent4>
        <a:srgbClr val="4C70B7"/>
      </a:accent4>
      <a:accent5>
        <a:srgbClr val="D7A2CA"/>
      </a:accent5>
      <a:accent6>
        <a:srgbClr val="F16881"/>
      </a:accent6>
      <a:hlink>
        <a:srgbClr val="4C70B7"/>
      </a:hlink>
      <a:folHlink>
        <a:srgbClr val="EE9BC2"/>
      </a:folHlink>
    </a:clrScheme>
    <a:fontScheme name="CNS Fonts">
      <a:majorFont>
        <a:latin typeface="New Hero Medium"/>
        <a:ea typeface=""/>
        <a:cs typeface=""/>
      </a:majorFont>
      <a:minorFont>
        <a:latin typeface="New He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Slides>5</Slides>
  <Notes>5</Notes>
  <PresentationFormat>Widescreen</PresentationFormat>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the bodies in view name a vertebra?</dc:title>
  <dc:creator>Gregory Schwing</dc:creator>
  <cp:lastModifiedBy>Gregory Schwing</cp:lastModifiedBy>
  <cp:revision>1</cp:revision>
  <dcterms:created xsi:type="dcterms:W3CDTF">2026-10-26T00:00:00Z</dcterms:created>
  <dcterms:modified xsi:type="dcterms:W3CDTF">2026-10-26T00:00:00Z</dcterms:modified>
  <dc:subject/>
  <cp:keywords/>
  <cp:category/>
  <dc:description/>
</cp:coreProperties>
</file>